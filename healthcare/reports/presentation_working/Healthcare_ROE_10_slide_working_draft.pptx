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3" r:id="rId14"/>
    <p:sldId id="265" r:id="rId16"/>
    <p:sldId id="266" r:id="rId17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ROE — quantitative working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Question: Are high returns driven by margins, asset efficiency, or the equity base?</a:t>
            </a:r>
          </a:p>
          <a:p>
            <a:pPr>
              <a:spcAft>
                <a:spcPts val="1600"/>
              </a:spcAft>
              <a:defRPr sz="2300"/>
            </a:pPr>
            <a:r>
              <a:t>Fiscal years 2020–2025; SEC Company Facts and filing evidence.</a:t>
            </a:r>
          </a:p>
          <a:p>
            <a:pPr>
              <a:spcAft>
                <a:spcPts val="1600"/>
              </a:spcAft>
              <a:defRPr sz="2300"/>
            </a:pPr>
            <a:r>
              <a:t>Descriptive study of selected S&amp;P 500 companies; no causal or stock-return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Define the sample before interpreting 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59 companies requested; 49 have at least five matched financial years.</a:t>
            </a:r>
          </a:p>
          <a:p>
            <a:pPr>
              <a:spcAft>
                <a:spcPts val="1600"/>
              </a:spcAft>
              <a:defRPr sz="2300"/>
            </a:pPr>
            <a:r>
              <a:t>43 meet the five-year and equity-screen rules; 40 have all six years.</a:t>
            </a:r>
          </a:p>
          <a:p>
            <a:pPr>
              <a:spcAft>
                <a:spcPts val="1600"/>
              </a:spcAft>
              <a:defRPr sz="2300"/>
            </a:pPr>
            <a:r>
              <a:t>2025 ranking uses 41 companies: two cohort members lack a usable 2025 observation.</a:t>
            </a:r>
          </a:p>
          <a:p>
            <a:pPr>
              <a:spcAft>
                <a:spcPts val="1600"/>
              </a:spcAft>
              <a:defRPr sz="2300"/>
            </a:pPr>
            <a:r>
              <a:t>Year-end assets/equity; latest matched comparative data by September 23, 2026.</a:t>
            </a:r>
          </a:p>
          <a:p>
            <a:pPr>
              <a:spcAft>
                <a:spcPts val="1600"/>
              </a:spcAft>
              <a:defRPr sz="2300"/>
            </a:pPr>
            <a:r>
              <a:t>This differs from the earlier average-balance research panel.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The math: Amgen fiscal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ROE = net income / year-end equity = $7.711bn / $8.658bn = 89.06%.</a:t>
            </a:r>
          </a:p>
          <a:p>
            <a:pPr>
              <a:spcAft>
                <a:spcPts val="1600"/>
              </a:spcAft>
              <a:defRPr sz="2300"/>
            </a:pPr>
            <a:r>
              <a:t>DuPont: profit margin × asset turnover × equity multiplier.</a:t>
            </a:r>
          </a:p>
          <a:p>
            <a:pPr>
              <a:spcAft>
                <a:spcPts val="1600"/>
              </a:spcAft>
              <a:defRPr sz="2300"/>
            </a:pPr>
            <a:r>
              <a:t>Amgen: 20.98% × 0.4057 × 10.4627 ≈ 89.06%.</a:t>
            </a:r>
          </a:p>
          <a:p>
            <a:pPr>
              <a:spcAft>
                <a:spcPts val="1600"/>
              </a:spcAft>
              <a:defRPr sz="2300"/>
            </a:pPr>
            <a:r>
              <a:t>Equity is only 9.56% of assets. A high ROE is not automatically superior operations.</a:t>
            </a:r>
          </a:p>
          <a:p>
            <a:pPr>
              <a:spcAft>
                <a:spcPts val="1600"/>
              </a:spcAft>
              <a:defRPr sz="2300"/>
            </a:pPr>
            <a:r>
              <a:t>The identity allocates accounting quantities; it does not identify causal effects.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Who has the highest and lowest ROE?</a:t>
            </a:r>
          </a:p>
        </p:txBody>
      </p:sp>
      <p:pic>
        <p:nvPicPr>
          <p:cNvPr id="3" name="Picture 2" descr="01_roe_ran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616" y="1143000"/>
            <a:ext cx="7274461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/>
            </a:pPr>
            <a:r>
              <a:t>Eligible 2025 sample only; values use year-end equity.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What changes when company membership is fixed?</a:t>
            </a:r>
          </a:p>
        </p:txBody>
      </p:sp>
      <p:pic>
        <p:nvPicPr>
          <p:cNvPr id="3" name="Picture 2" descr="04_roe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9" y="1143000"/>
            <a:ext cx="10259536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/>
            </a:pPr>
            <a:r>
              <a:t>Compare the same 40 companies over time; this reduces changing-membership effects, not selection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Distribution: do not assume a bell curve</a:t>
            </a:r>
          </a:p>
        </p:txBody>
      </p:sp>
      <p:pic>
        <p:nvPicPr>
          <p:cNvPr id="3" name="Picture 2" descr="03_ro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143000"/>
            <a:ext cx="11155679" cy="4588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/>
            </a:pPr>
            <a:r>
              <a:t>Company means are right-skewed (skewness 2.37). Report medians/IQR as well as means/sample SD.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Negative equity: a positive profit can produce negative ROE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HCA fiscal 2025: net income +$6.784bn; equity −$6.027bn.</a:t>
            </a:r>
          </a:p>
          <a:p>
            <a:pPr>
              <a:spcAft>
                <a:spcPts val="1600"/>
              </a:spcAft>
              <a:defRPr sz="2300"/>
            </a:pPr>
            <a:r>
              <a:t>ROE = −112.56%, despite positive earnings.</a:t>
            </a:r>
          </a:p>
          <a:p>
            <a:pPr>
              <a:spcAft>
                <a:spcPts val="1600"/>
              </a:spcAft>
              <a:defRPr sz="2300"/>
            </a:pPr>
            <a:r>
              <a:t>Mettler-Toledo: positive earnings divided by very small negative equity produces an extreme ratio.</a:t>
            </a:r>
          </a:p>
          <a:p>
            <a:pPr>
              <a:spcAft>
                <a:spcPts val="1600"/>
              </a:spcAft>
              <a:defRPr sz="2300"/>
            </a:pPr>
            <a:r>
              <a:t>Keep these companies in an equity case study; do not rank these ratios as ordinary profitability.</a:t>
            </a:r>
          </a:p>
          <a:p>
            <a:pPr>
              <a:spcAft>
                <a:spcPts val="1600"/>
              </a:spcAft>
              <a:defRPr sz="2300"/>
            </a:pPr>
            <a:r>
              <a:t>Buybacks, distributions, accumulated losses and acquisitions require statement-level investigation.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Dispersion and historical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2025: mean ROE 17.73%; median 12.81%; sample SD 24.86 percentage points.</a:t>
            </a:r>
          </a:p>
          <a:p>
            <a:pPr>
              <a:spcAft>
                <a:spcPts val="1600"/>
              </a:spcAft>
              <a:defRPr sz="2300"/>
            </a:pPr>
            <a:r>
              <a:t>Middle half: approximately 6.88% to 21.18%.</a:t>
            </a:r>
          </a:p>
          <a:p>
            <a:pPr>
              <a:spcAft>
                <a:spcPts val="1600"/>
              </a:spcAft>
              <a:defRPr sz="2300"/>
            </a:pPr>
            <a:r>
              <a:t>4 of 41 eligible companies had a net loss: observed frequency 9.76%.</a:t>
            </a:r>
          </a:p>
          <a:p>
            <a:pPr>
              <a:spcAft>
                <a:spcPts val="1600"/>
              </a:spcAft>
              <a:defRPr sz="2300"/>
            </a:pPr>
            <a:r>
              <a:t>That is not an estimated probability of next-year loss for an investor.</a:t>
            </a:r>
          </a:p>
          <a:p>
            <a:pPr>
              <a:spcAft>
                <a:spcPts val="1600"/>
              </a:spcAft>
              <a:defRPr sz="2300"/>
            </a:pPr>
            <a:r>
              <a:t>Repeated years from one company are not independent observations.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Events: connect numbers to documented disclosures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Pfizer 2023: reduced COVID-product demand and inventory write-offs are disclosed mechanisms.</a:t>
            </a:r>
          </a:p>
          <a:p>
            <a:pPr>
              <a:spcAft>
                <a:spcPts val="1600"/>
              </a:spcAft>
              <a:defRPr sz="2300"/>
            </a:pPr>
            <a:r>
              <a:t>Bristol Myers Squibb 2024: $13.4bn acquired IPRD expense, including $12.1bn for Karuna.</a:t>
            </a:r>
          </a:p>
          <a:p>
            <a:pPr>
              <a:spcAft>
                <a:spcPts val="1600"/>
              </a:spcAft>
              <a:defRPr sz="2300"/>
            </a:pPr>
            <a:r>
              <a:t>Reconcile charges, taxes, acquisitions and denominators before assigning causation.</a:t>
            </a:r>
          </a:p>
          <a:p>
            <a:pPr>
              <a:spcAft>
                <a:spcPts val="1600"/>
              </a:spcAft>
              <a:defRPr sz="2300"/>
            </a:pPr>
            <a:r>
              <a:t>Item 1A describes risks; MD&amp;A and financial notes explain realized events.</a:t>
            </a:r>
          </a:p>
          <a:p>
            <a:pPr>
              <a:spcAft>
                <a:spcPts val="1600"/>
              </a:spcAft>
              <a:defRPr sz="2300"/>
            </a:pPr>
            <a:r>
              <a:t>Fiscal 2025 filings may be published in 2026. There is no full fiscal-2026 panel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700"/>
            </a:pPr>
            <a:r>
              <a:t>Conclusions we can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/>
            </a:pPr>
            <a:r>
              <a:t>ROE contains several different economic and accounting mechanisms.</a:t>
            </a:r>
          </a:p>
          <a:p>
            <a:pPr>
              <a:spcAft>
                <a:spcPts val="1600"/>
              </a:spcAft>
              <a:defRPr sz="2300"/>
            </a:pPr>
            <a:r>
              <a:t>Low or negative book equity can dominate ratio interpretation.</a:t>
            </a:r>
          </a:p>
          <a:p>
            <a:pPr>
              <a:spcAft>
                <a:spcPts val="1600"/>
              </a:spcAft>
              <a:defRPr sz="2300"/>
            </a:pPr>
            <a:r>
              <a:t>Distributions and company-specific events deserve more attention than a single sector average.</a:t>
            </a:r>
          </a:p>
          <a:p>
            <a:pPr>
              <a:spcAft>
                <a:spcPts val="1600"/>
              </a:spcAft>
              <a:defRPr sz="2300"/>
            </a:pPr>
            <a:r>
              <a:t>Draft subsectors and clusters generate questions; they do not establish causal groups.</a:t>
            </a:r>
          </a:p>
          <a:p>
            <a:pPr>
              <a:spcAft>
                <a:spcPts val="1600"/>
              </a:spcAft>
              <a:defRPr sz="2300"/>
            </a:pPr>
            <a:r>
              <a:t>Next evidence needed: verified classifications and consistently screened industrial financials.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