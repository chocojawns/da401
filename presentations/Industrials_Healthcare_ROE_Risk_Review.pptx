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3.xml" ContentType="application/vnd.openxmlformats-officedocument.drawingml.chart+xml"/>
  <Override PartName="/ppt/notesSlides/notesSlide10.xml" ContentType="application/vnd.openxmlformats-officedocument.presentationml.notesSlide+xml"/>
  <Override PartName="/ppt/charts/chart4.xml" ContentType="application/vnd.openxmlformats-officedocument.drawingml.chart+xml"/>
  <Override PartName="/ppt/notesSlides/notesSlide11.xml" ContentType="application/vnd.openxmlformats-officedocument.presentationml.notesSlide+xml"/>
  <Override PartName="/ppt/charts/chart5.xml" ContentType="application/vnd.openxmlformats-officedocument.drawingml.chart+xml"/>
  <Override PartName="/ppt/notesSlides/notesSlide12.xml" ContentType="application/vnd.openxmlformats-officedocument.presentationml.notesSlide+xml"/>
  <Override PartName="/ppt/charts/chart6.xml" ContentType="application/vnd.openxmlformats-officedocument.drawingml.chart+xml"/>
  <Override PartName="/ppt/notesSlides/notesSlide13.xml" ContentType="application/vnd.openxmlformats-officedocument.presentationml.notesSlide+xml"/>
  <Override PartName="/ppt/charts/chart7.xml" ContentType="application/vnd.openxmlformats-officedocument.drawingml.chart+xml"/>
  <Override PartName="/ppt/notesSlides/notesSlide14.xml" ContentType="application/vnd.openxmlformats-officedocument.presentationml.notesSlide+xml"/>
  <Override PartName="/ppt/charts/chart8.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9.xml" ContentType="application/vnd.openxmlformats-officedocument.drawingml.chart+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rts/chart10.xml" ContentType="application/vnd.openxmlformats-officedocument.drawingml.chart+xml"/>
  <Override PartName="/ppt/notesSlides/notesSlide24.xml" ContentType="application/vnd.openxmlformats-officedocument.presentationml.notesSlide+xml"/>
  <Override PartName="/ppt/charts/chart11.xml" ContentType="application/vnd.openxmlformats-officedocument.drawingml.chart+xml"/>
  <Override PartName="/ppt/notesSlides/notesSlide25.xml" ContentType="application/vnd.openxmlformats-officedocument.presentationml.notesSlide+xml"/>
  <Override PartName="/ppt/charts/chart12.xml" ContentType="application/vnd.openxmlformats-officedocument.drawingml.chart+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rts/chart13.xml" ContentType="application/vnd.openxmlformats-officedocument.drawingml.chart+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rts/chart14.xml" ContentType="application/vnd.openxmlformats-officedocument.drawingml.chart+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1" r:id="rId3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6B1924D7-0490-2C84-82E1-079A185013C7}">
          <p14:sldIdLst>
            <p14:sldId id="256"/>
            <p14:sldId id="257"/>
            <p14:sldId id="258"/>
            <p14:sldId id="259"/>
          </p14:sldIdLst>
        </p14:section>
        <p14:section name="Industrials" id="{D3DA825A-6FFA-D7B4-4284-3F3708E4A07A}">
          <p14:sldIdLst>
            <p14:sldId id="260"/>
            <p14:sldId id="261"/>
            <p14:sldId id="262"/>
            <p14:sldId id="263"/>
            <p14:sldId id="264"/>
            <p14:sldId id="265"/>
            <p14:sldId id="266"/>
            <p14:sldId id="267"/>
            <p14:sldId id="268"/>
            <p14:sldId id="269"/>
            <p14:sldId id="270"/>
            <p14:sldId id="271"/>
            <p14:sldId id="272"/>
            <p14:sldId id="273"/>
          </p14:sldIdLst>
        </p14:section>
        <p14:section name="Healthcare" id="{1577CD69-7E20-4C73-4F6D-9AE1F36C500E}">
          <p14:sldIdLst>
            <p14:sldId id="274"/>
            <p14:sldId id="275"/>
            <p14:sldId id="276"/>
            <p14:sldId id="277"/>
            <p14:sldId id="278"/>
            <p14:sldId id="279"/>
            <p14:sldId id="280"/>
          </p14:sldIdLst>
        </p14:section>
        <p14:section name="Intra-sector analysis" id="{05BAB8BF-2D62-2463-C514-F0E1DC2CA30B}">
          <p14:sldIdLst>
            <p14:sldId id="281"/>
            <p14:sldId id="282"/>
            <p14:sldId id="283"/>
            <p14:sldId id="284"/>
            <p14:sldId id="285"/>
            <p14:sldId id="286"/>
            <p14:sldId id="287"/>
            <p14:sldId id="288"/>
            <p14:sldId id="289"/>
          </p14:sldIdLst>
        </p14:section>
        <p14:section name="Conclusion" id="{8476879B-57B2-FFB4-B3CA-F79DAA04E286}">
          <p14:sldIdLst>
            <p14:sldId id="29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1" d="100"/>
          <a:sy n="91" d="100"/>
        </p:scale>
        <p:origin x="78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Median ROE</c:v>
                </c:pt>
              </c:strCache>
            </c:strRef>
          </c:tx>
          <c:spPr>
            <a:solidFill>
              <a:srgbClr val="D9480F"/>
            </a:solidFill>
            <a:effectLst/>
          </c:spPr>
          <c:invertIfNegative val="0"/>
          <c:dLbls>
            <c:numFmt formatCode="0.0&quot;%&quot;" sourceLinked="0"/>
            <c:spPr>
              <a:noFill/>
              <a:ln>
                <a:noFill/>
              </a:ln>
              <a:effectLst/>
            </c:spPr>
            <c:txPr>
              <a:bodyPr/>
              <a:lstStyle/>
              <a:p>
                <a:pPr>
                  <a:defRPr sz="1200" b="0" i="0" u="none" strike="noStrike">
                    <a:solidFill>
                      <a:srgbClr val="1F29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FY2020</c:v>
                </c:pt>
                <c:pt idx="1">
                  <c:v>FY2021</c:v>
                </c:pt>
                <c:pt idx="2">
                  <c:v>FY2022</c:v>
                </c:pt>
                <c:pt idx="3">
                  <c:v>FY2023</c:v>
                </c:pt>
                <c:pt idx="4">
                  <c:v>FY2024</c:v>
                </c:pt>
                <c:pt idx="5">
                  <c:v>FY2025</c:v>
                </c:pt>
              </c:strCache>
            </c:strRef>
          </c:cat>
          <c:val>
            <c:numRef>
              <c:f>Sheet1!$B$2:$B$7</c:f>
              <c:numCache>
                <c:formatCode>General</c:formatCode>
                <c:ptCount val="6"/>
                <c:pt idx="0">
                  <c:v>19.399999999999999</c:v>
                </c:pt>
                <c:pt idx="1">
                  <c:v>20.8</c:v>
                </c:pt>
                <c:pt idx="2">
                  <c:v>20</c:v>
                </c:pt>
                <c:pt idx="3">
                  <c:v>21.8</c:v>
                </c:pt>
                <c:pt idx="4">
                  <c:v>25</c:v>
                </c:pt>
                <c:pt idx="5">
                  <c:v>25.5</c:v>
                </c:pt>
              </c:numCache>
            </c:numRef>
          </c:val>
          <c:extLst>
            <c:ext xmlns:c16="http://schemas.microsoft.com/office/drawing/2014/chart" uri="{C3380CC4-5D6E-409C-BE32-E72D297353CC}">
              <c16:uniqueId val="{00000000-35D6-42F7-A675-4FCC4731C4F6}"/>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E4C59"/>
                </a:solidFill>
                <a:latin typeface="+mn-lt"/>
              </a:defRPr>
            </a:pPr>
            <a:endParaRPr lang="en-US"/>
          </a:p>
        </c:txPr>
        <c:crossAx val="2094734552"/>
        <c:crosses val="autoZero"/>
        <c:auto val="1"/>
        <c:lblAlgn val="ctr"/>
        <c:lblOffset val="100"/>
        <c:noMultiLvlLbl val="1"/>
      </c:catAx>
      <c:valAx>
        <c:axId val="2094734552"/>
        <c:scaling>
          <c:orientation val="minMax"/>
          <c:max val="3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Average ROE</c:v>
                </c:pt>
              </c:strCache>
            </c:strRef>
          </c:tx>
          <c:spPr>
            <a:solidFill>
              <a:srgbClr val="3E7CB1"/>
            </a:solidFill>
            <a:effectLst/>
          </c:spPr>
          <c:invertIfNegative val="0"/>
          <c:dLbls>
            <c:numFmt formatCode="0&quot;%&quot;" sourceLinked="0"/>
            <c:spPr>
              <a:noFill/>
              <a:ln>
                <a:noFill/>
              </a:ln>
              <a:effectLst/>
            </c:spPr>
            <c:txPr>
              <a:bodyPr/>
              <a:lstStyle/>
              <a:p>
                <a:pPr>
                  <a:defRPr sz="1200" b="0" i="0" u="none" strike="noStrike">
                    <a:solidFill>
                      <a:srgbClr val="1F29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LMT</c:v>
                </c:pt>
                <c:pt idx="1">
                  <c:v>VRSK</c:v>
                </c:pt>
                <c:pt idx="2">
                  <c:v>ADP</c:v>
                </c:pt>
                <c:pt idx="3">
                  <c:v>GWW</c:v>
                </c:pt>
                <c:pt idx="4">
                  <c:v>UPS</c:v>
                </c:pt>
                <c:pt idx="5">
                  <c:v>ALLE</c:v>
                </c:pt>
                <c:pt idx="6">
                  <c:v>ROK</c:v>
                </c:pt>
                <c:pt idx="7">
                  <c:v>UNP</c:v>
                </c:pt>
              </c:strCache>
            </c:strRef>
          </c:cat>
          <c:val>
            <c:numRef>
              <c:f>Sheet1!$B$2:$B$9</c:f>
              <c:numCache>
                <c:formatCode>General</c:formatCode>
                <c:ptCount val="8"/>
                <c:pt idx="0">
                  <c:v>82</c:v>
                </c:pt>
                <c:pt idx="1">
                  <c:v>76</c:v>
                </c:pt>
                <c:pt idx="2">
                  <c:v>71</c:v>
                </c:pt>
                <c:pt idx="3">
                  <c:v>53</c:v>
                </c:pt>
                <c:pt idx="4">
                  <c:v>51</c:v>
                </c:pt>
                <c:pt idx="5">
                  <c:v>48</c:v>
                </c:pt>
                <c:pt idx="6">
                  <c:v>47</c:v>
                </c:pt>
                <c:pt idx="7">
                  <c:v>43</c:v>
                </c:pt>
              </c:numCache>
            </c:numRef>
          </c:val>
          <c:extLst>
            <c:ext xmlns:c16="http://schemas.microsoft.com/office/drawing/2014/chart" uri="{C3380CC4-5D6E-409C-BE32-E72D297353CC}">
              <c16:uniqueId val="{00000000-3F16-49A8-B00D-9AB20E1F1EC0}"/>
            </c:ext>
          </c:extLst>
        </c:ser>
        <c:dLbls>
          <c:showLegendKey val="0"/>
          <c:showVal val="1"/>
          <c:showCatName val="0"/>
          <c:showSerName val="0"/>
          <c:showPercent val="0"/>
          <c:showBubbleSize val="0"/>
        </c:dLbls>
        <c:gapWidth val="4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E4C59"/>
                </a:solidFill>
                <a:latin typeface="+mn-lt"/>
              </a:defRPr>
            </a:pPr>
            <a:endParaRPr lang="en-US"/>
          </a:p>
        </c:txPr>
        <c:crossAx val="2094734552"/>
        <c:crosses val="autoZero"/>
        <c:auto val="1"/>
        <c:lblAlgn val="ctr"/>
        <c:lblOffset val="100"/>
        <c:noMultiLvlLbl val="1"/>
      </c:catAx>
      <c:valAx>
        <c:axId val="2094734552"/>
        <c:scaling>
          <c:orientation val="minMax"/>
          <c:max val="95"/>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COVID / pandemic</c:v>
                </c:pt>
              </c:strCache>
            </c:strRef>
          </c:tx>
          <c:spPr>
            <a:ln w="31750" cap="flat">
              <a:solidFill>
                <a:srgbClr val="7B8794"/>
              </a:solidFill>
              <a:prstDash val="solid"/>
              <a:round/>
            </a:ln>
            <a:effectLst/>
          </c:spPr>
          <c:marker>
            <c:symbol val="circle"/>
            <c:size val="6"/>
            <c:spPr>
              <a:solidFill>
                <a:srgbClr val="7B8794"/>
              </a:solidFill>
              <a:ln w="9525" cap="flat">
                <a:solidFill>
                  <a:srgbClr val="7B8794"/>
                </a:solidFill>
                <a:prstDash val="solid"/>
                <a:round/>
              </a:ln>
              <a:effectLst/>
            </c:spPr>
          </c:marker>
          <c:cat>
            <c:strRef>
              <c:f>Sheet1!$A$2:$A$7</c:f>
              <c:strCache>
                <c:ptCount val="6"/>
                <c:pt idx="0">
                  <c:v>FY20</c:v>
                </c:pt>
                <c:pt idx="1">
                  <c:v>FY21</c:v>
                </c:pt>
                <c:pt idx="2">
                  <c:v>FY22</c:v>
                </c:pt>
                <c:pt idx="3">
                  <c:v>FY23</c:v>
                </c:pt>
                <c:pt idx="4">
                  <c:v>FY24</c:v>
                </c:pt>
                <c:pt idx="5">
                  <c:v>FY25</c:v>
                </c:pt>
              </c:strCache>
            </c:strRef>
          </c:cat>
          <c:val>
            <c:numRef>
              <c:f>Sheet1!$B$2:$B$7</c:f>
              <c:numCache>
                <c:formatCode>General</c:formatCode>
                <c:ptCount val="6"/>
                <c:pt idx="0">
                  <c:v>74</c:v>
                </c:pt>
                <c:pt idx="1">
                  <c:v>66</c:v>
                </c:pt>
                <c:pt idx="2">
                  <c:v>32</c:v>
                </c:pt>
                <c:pt idx="3">
                  <c:v>7</c:v>
                </c:pt>
                <c:pt idx="4">
                  <c:v>7</c:v>
                </c:pt>
                <c:pt idx="5">
                  <c:v>4</c:v>
                </c:pt>
              </c:numCache>
            </c:numRef>
          </c:val>
          <c:smooth val="0"/>
          <c:extLst>
            <c:ext xmlns:c16="http://schemas.microsoft.com/office/drawing/2014/chart" uri="{C3380CC4-5D6E-409C-BE32-E72D297353CC}">
              <c16:uniqueId val="{00000000-6EE1-4EA1-AA3B-ADCE8C4D2FC6}"/>
            </c:ext>
          </c:extLst>
        </c:ser>
        <c:ser>
          <c:idx val="1"/>
          <c:order val="1"/>
          <c:tx>
            <c:strRef>
              <c:f>Sheet1!$C$1</c:f>
              <c:strCache>
                <c:ptCount val="1"/>
                <c:pt idx="0">
                  <c:v>Raw materials / inflation</c:v>
                </c:pt>
              </c:strCache>
            </c:strRef>
          </c:tx>
          <c:spPr>
            <a:ln w="31750" cap="flat">
              <a:solidFill>
                <a:srgbClr val="D9480F"/>
              </a:solidFill>
              <a:prstDash val="solid"/>
              <a:round/>
            </a:ln>
            <a:effectLst/>
          </c:spPr>
          <c:marker>
            <c:symbol val="circle"/>
            <c:size val="6"/>
            <c:spPr>
              <a:solidFill>
                <a:srgbClr val="D9480F"/>
              </a:solidFill>
              <a:ln w="9525" cap="flat">
                <a:solidFill>
                  <a:srgbClr val="D9480F"/>
                </a:solidFill>
                <a:prstDash val="solid"/>
                <a:round/>
              </a:ln>
              <a:effectLst/>
            </c:spPr>
          </c:marker>
          <c:cat>
            <c:strRef>
              <c:f>Sheet1!$A$2:$A$7</c:f>
              <c:strCache>
                <c:ptCount val="6"/>
                <c:pt idx="0">
                  <c:v>FY20</c:v>
                </c:pt>
                <c:pt idx="1">
                  <c:v>FY21</c:v>
                </c:pt>
                <c:pt idx="2">
                  <c:v>FY22</c:v>
                </c:pt>
                <c:pt idx="3">
                  <c:v>FY23</c:v>
                </c:pt>
                <c:pt idx="4">
                  <c:v>FY24</c:v>
                </c:pt>
                <c:pt idx="5">
                  <c:v>FY25</c:v>
                </c:pt>
              </c:strCache>
            </c:strRef>
          </c:cat>
          <c:val>
            <c:numRef>
              <c:f>Sheet1!$C$2:$C$7</c:f>
              <c:numCache>
                <c:formatCode>General</c:formatCode>
                <c:ptCount val="6"/>
                <c:pt idx="0">
                  <c:v>19</c:v>
                </c:pt>
                <c:pt idx="1">
                  <c:v>34</c:v>
                </c:pt>
                <c:pt idx="2">
                  <c:v>50</c:v>
                </c:pt>
                <c:pt idx="3">
                  <c:v>49</c:v>
                </c:pt>
                <c:pt idx="4">
                  <c:v>49</c:v>
                </c:pt>
                <c:pt idx="5">
                  <c:v>45</c:v>
                </c:pt>
              </c:numCache>
            </c:numRef>
          </c:val>
          <c:smooth val="0"/>
          <c:extLst>
            <c:ext xmlns:c16="http://schemas.microsoft.com/office/drawing/2014/chart" uri="{C3380CC4-5D6E-409C-BE32-E72D297353CC}">
              <c16:uniqueId val="{00000001-6EE1-4EA1-AA3B-ADCE8C4D2FC6}"/>
            </c:ext>
          </c:extLst>
        </c:ser>
        <c:ser>
          <c:idx val="2"/>
          <c:order val="2"/>
          <c:tx>
            <c:strRef>
              <c:f>Sheet1!$D$1</c:f>
              <c:strCache>
                <c:ptCount val="1"/>
                <c:pt idx="0">
                  <c:v>Geopolitical / trade</c:v>
                </c:pt>
              </c:strCache>
            </c:strRef>
          </c:tx>
          <c:spPr>
            <a:ln w="31750" cap="flat">
              <a:solidFill>
                <a:srgbClr val="3E7CB1"/>
              </a:solidFill>
              <a:prstDash val="solid"/>
              <a:round/>
            </a:ln>
            <a:effectLst/>
          </c:spPr>
          <c:marker>
            <c:symbol val="circle"/>
            <c:size val="6"/>
            <c:spPr>
              <a:solidFill>
                <a:srgbClr val="3E7CB1"/>
              </a:solidFill>
              <a:ln w="9525" cap="flat">
                <a:solidFill>
                  <a:srgbClr val="3E7CB1"/>
                </a:solidFill>
                <a:prstDash val="solid"/>
                <a:round/>
              </a:ln>
              <a:effectLst/>
            </c:spPr>
          </c:marker>
          <c:cat>
            <c:strRef>
              <c:f>Sheet1!$A$2:$A$7</c:f>
              <c:strCache>
                <c:ptCount val="6"/>
                <c:pt idx="0">
                  <c:v>FY20</c:v>
                </c:pt>
                <c:pt idx="1">
                  <c:v>FY21</c:v>
                </c:pt>
                <c:pt idx="2">
                  <c:v>FY22</c:v>
                </c:pt>
                <c:pt idx="3">
                  <c:v>FY23</c:v>
                </c:pt>
                <c:pt idx="4">
                  <c:v>FY24</c:v>
                </c:pt>
                <c:pt idx="5">
                  <c:v>FY25</c:v>
                </c:pt>
              </c:strCache>
            </c:strRef>
          </c:cat>
          <c:val>
            <c:numRef>
              <c:f>Sheet1!$D$2:$D$7</c:f>
              <c:numCache>
                <c:formatCode>General</c:formatCode>
                <c:ptCount val="6"/>
                <c:pt idx="0">
                  <c:v>13</c:v>
                </c:pt>
                <c:pt idx="1">
                  <c:v>16</c:v>
                </c:pt>
                <c:pt idx="2">
                  <c:v>21</c:v>
                </c:pt>
                <c:pt idx="3">
                  <c:v>26</c:v>
                </c:pt>
                <c:pt idx="4">
                  <c:v>33</c:v>
                </c:pt>
                <c:pt idx="5">
                  <c:v>41</c:v>
                </c:pt>
              </c:numCache>
            </c:numRef>
          </c:val>
          <c:smooth val="0"/>
          <c:extLst>
            <c:ext xmlns:c16="http://schemas.microsoft.com/office/drawing/2014/chart" uri="{C3380CC4-5D6E-409C-BE32-E72D297353CC}">
              <c16:uniqueId val="{00000002-6EE1-4EA1-AA3B-ADCE8C4D2FC6}"/>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E4C59"/>
                </a:solidFill>
                <a:latin typeface="+mn-lt"/>
              </a:defRPr>
            </a:pPr>
            <a:endParaRPr lang="en-US"/>
          </a:p>
        </c:txPr>
        <c:crossAx val="2094734552"/>
        <c:crosses val="autoZero"/>
        <c:auto val="1"/>
        <c:lblAlgn val="ctr"/>
        <c:lblOffset val="100"/>
        <c:noMultiLvlLbl val="1"/>
      </c:catAx>
      <c:valAx>
        <c:axId val="2094734552"/>
        <c:scaling>
          <c:orientation val="minMax"/>
          <c:max val="80"/>
          <c:min val="0"/>
        </c:scaling>
        <c:delete val="0"/>
        <c:axPos val="l"/>
        <c:majorGridlines>
          <c:spPr>
            <a:ln w="9525" cap="flat">
              <a:solidFill>
                <a:srgbClr val="F0F2F5"/>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3E4C59"/>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3E4C59"/>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FY2025</c:v>
                </c:pt>
              </c:strCache>
            </c:strRef>
          </c:tx>
          <c:spPr>
            <a:solidFill>
              <a:srgbClr val="D9480F"/>
            </a:solidFill>
            <a:effectLst/>
          </c:spPr>
          <c:invertIfNegative val="0"/>
          <c:dLbls>
            <c:numFmt formatCode="0&quot;%&quot;" sourceLinked="0"/>
            <c:spPr>
              <a:noFill/>
              <a:ln>
                <a:noFill/>
              </a:ln>
              <a:effectLst/>
            </c:spPr>
            <c:txPr>
              <a:bodyPr/>
              <a:lstStyle/>
              <a:p>
                <a:pPr>
                  <a:defRPr sz="1200" b="0" i="0" u="none" strike="noStrike">
                    <a:solidFill>
                      <a:srgbClr val="1F29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Raw materials / inflation</c:v>
                </c:pt>
                <c:pt idx="1">
                  <c:v>Geopolitical / trade</c:v>
                </c:pt>
                <c:pt idx="2">
                  <c:v>Supplier dependence</c:v>
                </c:pt>
                <c:pt idx="3">
                  <c:v>Labor / workforce</c:v>
                </c:pt>
                <c:pt idx="4">
                  <c:v>Regulatory / climate</c:v>
                </c:pt>
                <c:pt idx="5">
                  <c:v>Cyber / IT</c:v>
                </c:pt>
                <c:pt idx="6">
                  <c:v>Logistics</c:v>
                </c:pt>
                <c:pt idx="7">
                  <c:v>COVID</c:v>
                </c:pt>
              </c:strCache>
            </c:strRef>
          </c:cat>
          <c:val>
            <c:numRef>
              <c:f>Sheet1!$B$2:$B$9</c:f>
              <c:numCache>
                <c:formatCode>General</c:formatCode>
                <c:ptCount val="8"/>
                <c:pt idx="0">
                  <c:v>45</c:v>
                </c:pt>
                <c:pt idx="1">
                  <c:v>41</c:v>
                </c:pt>
                <c:pt idx="2">
                  <c:v>37</c:v>
                </c:pt>
                <c:pt idx="3">
                  <c:v>26</c:v>
                </c:pt>
                <c:pt idx="4">
                  <c:v>14</c:v>
                </c:pt>
                <c:pt idx="5">
                  <c:v>10</c:v>
                </c:pt>
                <c:pt idx="6">
                  <c:v>10</c:v>
                </c:pt>
                <c:pt idx="7">
                  <c:v>4</c:v>
                </c:pt>
              </c:numCache>
            </c:numRef>
          </c:val>
          <c:extLst>
            <c:ext xmlns:c16="http://schemas.microsoft.com/office/drawing/2014/chart" uri="{C3380CC4-5D6E-409C-BE32-E72D297353CC}">
              <c16:uniqueId val="{00000000-B5D3-4A17-9F21-9A39B2D77358}"/>
            </c:ext>
          </c:extLst>
        </c:ser>
        <c:dLbls>
          <c:showLegendKey val="0"/>
          <c:showVal val="1"/>
          <c:showCatName val="0"/>
          <c:showSerName val="0"/>
          <c:showPercent val="0"/>
          <c:showBubbleSize val="0"/>
        </c:dLbls>
        <c:gapWidth val="4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E4C59"/>
                </a:solidFill>
                <a:latin typeface="+mn-lt"/>
              </a:defRPr>
            </a:pPr>
            <a:endParaRPr lang="en-US"/>
          </a:p>
        </c:txPr>
        <c:crossAx val="2094734552"/>
        <c:crosses val="autoZero"/>
        <c:auto val="1"/>
        <c:lblAlgn val="ctr"/>
        <c:lblOffset val="100"/>
        <c:noMultiLvlLbl val="1"/>
      </c:catAx>
      <c:valAx>
        <c:axId val="2094734552"/>
        <c:scaling>
          <c:orientation val="minMax"/>
          <c:max val="55"/>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Share of filings</c:v>
                </c:pt>
              </c:strCache>
            </c:strRef>
          </c:tx>
          <c:spPr>
            <a:solidFill>
              <a:srgbClr val="3E7CB1"/>
            </a:solidFill>
            <a:effectLst/>
          </c:spPr>
          <c:invertIfNegative val="0"/>
          <c:dLbls>
            <c:numFmt formatCode="0&quot;%&quot;" sourceLinked="0"/>
            <c:spPr>
              <a:noFill/>
              <a:ln>
                <a:noFill/>
              </a:ln>
              <a:effectLst/>
            </c:spPr>
            <c:txPr>
              <a:bodyPr/>
              <a:lstStyle/>
              <a:p>
                <a:pPr>
                  <a:defRPr sz="1200" b="0" i="0" u="none" strike="noStrike">
                    <a:solidFill>
                      <a:srgbClr val="1F29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Raw materials / inflation</c:v>
                </c:pt>
                <c:pt idx="1">
                  <c:v>Supplier dependence</c:v>
                </c:pt>
                <c:pt idx="2">
                  <c:v>Geopolitical / trade</c:v>
                </c:pt>
                <c:pt idx="3">
                  <c:v>Labor / workforce</c:v>
                </c:pt>
                <c:pt idx="4">
                  <c:v>Disasters / weather</c:v>
                </c:pt>
                <c:pt idx="5">
                  <c:v>Logistics</c:v>
                </c:pt>
                <c:pt idx="6">
                  <c:v>Cyber / IT</c:v>
                </c:pt>
              </c:strCache>
            </c:strRef>
          </c:cat>
          <c:val>
            <c:numRef>
              <c:f>Sheet1!$B$2:$B$8</c:f>
              <c:numCache>
                <c:formatCode>General</c:formatCode>
                <c:ptCount val="7"/>
                <c:pt idx="0">
                  <c:v>41</c:v>
                </c:pt>
                <c:pt idx="1">
                  <c:v>33</c:v>
                </c:pt>
                <c:pt idx="2">
                  <c:v>25</c:v>
                </c:pt>
                <c:pt idx="3">
                  <c:v>23</c:v>
                </c:pt>
                <c:pt idx="4">
                  <c:v>14</c:v>
                </c:pt>
                <c:pt idx="5">
                  <c:v>12</c:v>
                </c:pt>
                <c:pt idx="6">
                  <c:v>10</c:v>
                </c:pt>
              </c:numCache>
            </c:numRef>
          </c:val>
          <c:extLst>
            <c:ext xmlns:c16="http://schemas.microsoft.com/office/drawing/2014/chart" uri="{C3380CC4-5D6E-409C-BE32-E72D297353CC}">
              <c16:uniqueId val="{00000000-C483-49CF-B28D-3475929C9171}"/>
            </c:ext>
          </c:extLst>
        </c:ser>
        <c:dLbls>
          <c:showLegendKey val="0"/>
          <c:showVal val="1"/>
          <c:showCatName val="0"/>
          <c:showSerName val="0"/>
          <c:showPercent val="0"/>
          <c:showBubbleSize val="0"/>
        </c:dLbls>
        <c:gapWidth val="4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E4C59"/>
                </a:solidFill>
                <a:latin typeface="+mn-lt"/>
              </a:defRPr>
            </a:pPr>
            <a:endParaRPr lang="en-US"/>
          </a:p>
        </c:txPr>
        <c:crossAx val="2094734552"/>
        <c:crosses val="autoZero"/>
        <c:auto val="1"/>
        <c:lblAlgn val="ctr"/>
        <c:lblOffset val="100"/>
        <c:noMultiLvlLbl val="1"/>
      </c:catAx>
      <c:valAx>
        <c:axId val="2094734552"/>
        <c:scaling>
          <c:orientation val="minMax"/>
          <c:max val="50"/>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Share of filings</c:v>
                </c:pt>
              </c:strCache>
            </c:strRef>
          </c:tx>
          <c:spPr>
            <a:solidFill>
              <a:srgbClr val="D9480F"/>
            </a:solidFill>
            <a:effectLst/>
          </c:spPr>
          <c:invertIfNegative val="0"/>
          <c:dLbls>
            <c:numFmt formatCode="0&quot;%&quot;" sourceLinked="0"/>
            <c:spPr>
              <a:noFill/>
              <a:ln>
                <a:noFill/>
              </a:ln>
              <a:effectLst/>
            </c:spPr>
            <c:txPr>
              <a:bodyPr/>
              <a:lstStyle/>
              <a:p>
                <a:pPr>
                  <a:defRPr sz="1200" b="0" i="0" u="none" strike="noStrike">
                    <a:solidFill>
                      <a:srgbClr val="1F29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Strengthen risk management</c:v>
                </c:pt>
                <c:pt idx="1">
                  <c:v>Investors: monitor</c:v>
                </c:pt>
                <c:pt idx="2">
                  <c:v>Diversify suppliers</c:v>
                </c:pt>
                <c:pt idx="3">
                  <c:v>Hold buffer inventory</c:v>
                </c:pt>
                <c:pt idx="4">
                  <c:v>Invest in tech / automation</c:v>
                </c:pt>
                <c:pt idx="5">
                  <c:v>Shore up balance sheet</c:v>
                </c:pt>
              </c:strCache>
            </c:strRef>
          </c:cat>
          <c:val>
            <c:numRef>
              <c:f>Sheet1!$B$2:$B$7</c:f>
              <c:numCache>
                <c:formatCode>General</c:formatCode>
                <c:ptCount val="6"/>
                <c:pt idx="0">
                  <c:v>96</c:v>
                </c:pt>
                <c:pt idx="1">
                  <c:v>93</c:v>
                </c:pt>
                <c:pt idx="2">
                  <c:v>81</c:v>
                </c:pt>
                <c:pt idx="3">
                  <c:v>28</c:v>
                </c:pt>
                <c:pt idx="4">
                  <c:v>19</c:v>
                </c:pt>
                <c:pt idx="5">
                  <c:v>12</c:v>
                </c:pt>
              </c:numCache>
            </c:numRef>
          </c:val>
          <c:extLst>
            <c:ext xmlns:c16="http://schemas.microsoft.com/office/drawing/2014/chart" uri="{C3380CC4-5D6E-409C-BE32-E72D297353CC}">
              <c16:uniqueId val="{00000000-85AB-4BC0-86CF-DFBF95A99F57}"/>
            </c:ext>
          </c:extLst>
        </c:ser>
        <c:dLbls>
          <c:showLegendKey val="0"/>
          <c:showVal val="1"/>
          <c:showCatName val="0"/>
          <c:showSerName val="0"/>
          <c:showPercent val="0"/>
          <c:showBubbleSize val="0"/>
        </c:dLbls>
        <c:gapWidth val="4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E4C59"/>
                </a:solidFill>
                <a:latin typeface="+mn-lt"/>
              </a:defRPr>
            </a:pPr>
            <a:endParaRPr lang="en-US"/>
          </a:p>
        </c:txPr>
        <c:crossAx val="2094734552"/>
        <c:crosses val="autoZero"/>
        <c:auto val="1"/>
        <c:lblAlgn val="ctr"/>
        <c:lblOffset val="100"/>
        <c:noMultiLvlLbl val="1"/>
      </c:catAx>
      <c:valAx>
        <c:axId val="2094734552"/>
        <c:scaling>
          <c:orientation val="minMax"/>
          <c:max val="120"/>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Outlier filings</c:v>
                </c:pt>
              </c:strCache>
            </c:strRef>
          </c:tx>
          <c:spPr>
            <a:solidFill>
              <a:srgbClr val="D9480F"/>
            </a:solidFill>
            <a:effectLst/>
          </c:spPr>
          <c:invertIfNegative val="0"/>
          <c:dPt>
            <c:idx val="0"/>
            <c:invertIfNegative val="0"/>
            <c:bubble3D val="0"/>
            <c:extLst>
              <c:ext xmlns:c16="http://schemas.microsoft.com/office/drawing/2014/chart" uri="{C3380CC4-5D6E-409C-BE32-E72D297353CC}">
                <c16:uniqueId val="{00000001-059C-4526-AFFC-CB2AB09CF4EA}"/>
              </c:ext>
            </c:extLst>
          </c:dPt>
          <c:dPt>
            <c:idx val="1"/>
            <c:invertIfNegative val="0"/>
            <c:bubble3D val="0"/>
            <c:extLst>
              <c:ext xmlns:c16="http://schemas.microsoft.com/office/drawing/2014/chart" uri="{C3380CC4-5D6E-409C-BE32-E72D297353CC}">
                <c16:uniqueId val="{00000003-059C-4526-AFFC-CB2AB09CF4EA}"/>
              </c:ext>
            </c:extLst>
          </c:dPt>
          <c:dPt>
            <c:idx val="2"/>
            <c:invertIfNegative val="0"/>
            <c:bubble3D val="0"/>
            <c:extLst>
              <c:ext xmlns:c16="http://schemas.microsoft.com/office/drawing/2014/chart" uri="{C3380CC4-5D6E-409C-BE32-E72D297353CC}">
                <c16:uniqueId val="{00000005-059C-4526-AFFC-CB2AB09CF4EA}"/>
              </c:ext>
            </c:extLst>
          </c:dPt>
          <c:dPt>
            <c:idx val="3"/>
            <c:invertIfNegative val="0"/>
            <c:bubble3D val="0"/>
            <c:extLst>
              <c:ext xmlns:c16="http://schemas.microsoft.com/office/drawing/2014/chart" uri="{C3380CC4-5D6E-409C-BE32-E72D297353CC}">
                <c16:uniqueId val="{00000007-059C-4526-AFFC-CB2AB09CF4EA}"/>
              </c:ext>
            </c:extLst>
          </c:dPt>
          <c:dPt>
            <c:idx val="4"/>
            <c:invertIfNegative val="0"/>
            <c:bubble3D val="0"/>
            <c:spPr>
              <a:solidFill>
                <a:srgbClr val="7B8794"/>
              </a:solidFill>
              <a:effectLst/>
            </c:spPr>
            <c:extLst>
              <c:ext xmlns:c16="http://schemas.microsoft.com/office/drawing/2014/chart" uri="{C3380CC4-5D6E-409C-BE32-E72D297353CC}">
                <c16:uniqueId val="{00000009-059C-4526-AFFC-CB2AB09CF4EA}"/>
              </c:ext>
            </c:extLst>
          </c:dPt>
          <c:dLbls>
            <c:numFmt formatCode="0" sourceLinked="0"/>
            <c:spPr>
              <a:noFill/>
              <a:ln>
                <a:noFill/>
              </a:ln>
              <a:effectLst/>
            </c:spPr>
            <c:txPr>
              <a:bodyPr/>
              <a:lstStyle/>
              <a:p>
                <a:pPr>
                  <a:defRPr sz="1200" b="0" i="0" u="none" strike="noStrike">
                    <a:solidFill>
                      <a:srgbClr val="1F29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Structural leverage (repeat firms)</c:v>
                </c:pt>
                <c:pt idx="1">
                  <c:v>One-year leverage spikes</c:v>
                </c:pt>
                <c:pt idx="2">
                  <c:v>COVID-hit losses</c:v>
                </c:pt>
                <c:pt idx="3">
                  <c:v>One-off charges</c:v>
                </c:pt>
                <c:pt idx="4">
                  <c:v>Unexplained</c:v>
                </c:pt>
              </c:strCache>
            </c:strRef>
          </c:cat>
          <c:val>
            <c:numRef>
              <c:f>Sheet1!$B$2:$B$6</c:f>
              <c:numCache>
                <c:formatCode>General</c:formatCode>
                <c:ptCount val="5"/>
                <c:pt idx="0">
                  <c:v>17</c:v>
                </c:pt>
                <c:pt idx="1">
                  <c:v>3</c:v>
                </c:pt>
                <c:pt idx="2">
                  <c:v>5</c:v>
                </c:pt>
                <c:pt idx="3">
                  <c:v>2</c:v>
                </c:pt>
                <c:pt idx="4">
                  <c:v>1</c:v>
                </c:pt>
              </c:numCache>
            </c:numRef>
          </c:val>
          <c:extLst>
            <c:ext xmlns:c16="http://schemas.microsoft.com/office/drawing/2014/chart" uri="{C3380CC4-5D6E-409C-BE32-E72D297353CC}">
              <c16:uniqueId val="{0000000A-059C-4526-AFFC-CB2AB09CF4EA}"/>
            </c:ext>
          </c:extLst>
        </c:ser>
        <c:dLbls>
          <c:showLegendKey val="0"/>
          <c:showVal val="1"/>
          <c:showCatName val="0"/>
          <c:showSerName val="0"/>
          <c:showPercent val="0"/>
          <c:showBubbleSize val="0"/>
        </c:dLbls>
        <c:gapWidth val="4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E4C59"/>
                </a:solidFill>
                <a:latin typeface="+mn-lt"/>
              </a:defRPr>
            </a:pPr>
            <a:endParaRPr lang="en-US"/>
          </a:p>
        </c:txPr>
        <c:crossAx val="2094734552"/>
        <c:crosses val="autoZero"/>
        <c:auto val="1"/>
        <c:lblAlgn val="ctr"/>
        <c:lblOffset val="100"/>
        <c:noMultiLvlLbl val="1"/>
      </c:catAx>
      <c:valAx>
        <c:axId val="2094734552"/>
        <c:scaling>
          <c:orientation val="minMax"/>
          <c:max val="20"/>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Equity multiplier</c:v>
                </c:pt>
              </c:strCache>
            </c:strRef>
          </c:tx>
          <c:spPr>
            <a:solidFill>
              <a:srgbClr val="7B8794"/>
            </a:solidFill>
            <a:effectLst/>
          </c:spPr>
          <c:invertIfNegative val="0"/>
          <c:dPt>
            <c:idx val="0"/>
            <c:invertIfNegative val="0"/>
            <c:bubble3D val="0"/>
            <c:extLst>
              <c:ext xmlns:c16="http://schemas.microsoft.com/office/drawing/2014/chart" uri="{C3380CC4-5D6E-409C-BE32-E72D297353CC}">
                <c16:uniqueId val="{00000001-8F22-4C4F-8C8B-F491373263A3}"/>
              </c:ext>
            </c:extLst>
          </c:dPt>
          <c:dPt>
            <c:idx val="1"/>
            <c:invertIfNegative val="0"/>
            <c:bubble3D val="0"/>
            <c:spPr>
              <a:solidFill>
                <a:srgbClr val="D9480F"/>
              </a:solidFill>
              <a:effectLst/>
            </c:spPr>
            <c:extLst>
              <c:ext xmlns:c16="http://schemas.microsoft.com/office/drawing/2014/chart" uri="{C3380CC4-5D6E-409C-BE32-E72D297353CC}">
                <c16:uniqueId val="{00000003-8F22-4C4F-8C8B-F491373263A3}"/>
              </c:ext>
            </c:extLst>
          </c:dPt>
          <c:dLbls>
            <c:numFmt formatCode="0.0&quot;×&quot;" sourceLinked="0"/>
            <c:spPr>
              <a:noFill/>
              <a:ln>
                <a:noFill/>
              </a:ln>
              <a:effectLst/>
            </c:spPr>
            <c:txPr>
              <a:bodyPr/>
              <a:lstStyle/>
              <a:p>
                <a:pPr>
                  <a:defRPr sz="1200" b="0" i="0" u="none" strike="noStrike">
                    <a:solidFill>
                      <a:srgbClr val="1F29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Typical filing</c:v>
                </c:pt>
                <c:pt idx="1">
                  <c:v>High outliers</c:v>
                </c:pt>
              </c:strCache>
            </c:strRef>
          </c:cat>
          <c:val>
            <c:numRef>
              <c:f>Sheet1!$B$2:$B$3</c:f>
              <c:numCache>
                <c:formatCode>General</c:formatCode>
                <c:ptCount val="2"/>
                <c:pt idx="0">
                  <c:v>2.6</c:v>
                </c:pt>
                <c:pt idx="1">
                  <c:v>8.9</c:v>
                </c:pt>
              </c:numCache>
            </c:numRef>
          </c:val>
          <c:extLst>
            <c:ext xmlns:c16="http://schemas.microsoft.com/office/drawing/2014/chart" uri="{C3380CC4-5D6E-409C-BE32-E72D297353CC}">
              <c16:uniqueId val="{00000004-8F22-4C4F-8C8B-F491373263A3}"/>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E4C59"/>
                </a:solidFill>
                <a:latin typeface="+mn-lt"/>
              </a:defRPr>
            </a:pPr>
            <a:endParaRPr lang="en-US"/>
          </a:p>
        </c:txPr>
        <c:crossAx val="2094734552"/>
        <c:crosses val="autoZero"/>
        <c:auto val="1"/>
        <c:lblAlgn val="ctr"/>
        <c:lblOffset val="100"/>
        <c:noMultiLvlLbl val="1"/>
      </c:catAx>
      <c:valAx>
        <c:axId val="2094734552"/>
        <c:scaling>
          <c:orientation val="minMax"/>
          <c:max val="11"/>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Median ROE</c:v>
                </c:pt>
              </c:strCache>
            </c:strRef>
          </c:tx>
          <c:spPr>
            <a:solidFill>
              <a:srgbClr val="3E7CB1"/>
            </a:solidFill>
            <a:effectLst/>
          </c:spPr>
          <c:invertIfNegative val="0"/>
          <c:dLbls>
            <c:numFmt formatCode="0.00&quot;%&quot;" sourceLinked="0"/>
            <c:spPr>
              <a:noFill/>
              <a:ln>
                <a:noFill/>
              </a:ln>
              <a:effectLst/>
            </c:spPr>
            <c:txPr>
              <a:bodyPr/>
              <a:lstStyle/>
              <a:p>
                <a:pPr>
                  <a:defRPr sz="1200" b="0" i="0" u="none" strike="noStrike">
                    <a:solidFill>
                      <a:srgbClr val="1F29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2020</c:v>
                </c:pt>
                <c:pt idx="1">
                  <c:v>2021</c:v>
                </c:pt>
                <c:pt idx="2">
                  <c:v>2022</c:v>
                </c:pt>
                <c:pt idx="3">
                  <c:v>2023</c:v>
                </c:pt>
                <c:pt idx="4">
                  <c:v>2024</c:v>
                </c:pt>
                <c:pt idx="5">
                  <c:v>2025</c:v>
                </c:pt>
              </c:strCache>
            </c:strRef>
          </c:cat>
          <c:val>
            <c:numRef>
              <c:f>Sheet1!$B$2:$B$7</c:f>
              <c:numCache>
                <c:formatCode>General</c:formatCode>
                <c:ptCount val="6"/>
                <c:pt idx="0">
                  <c:v>15.72</c:v>
                </c:pt>
                <c:pt idx="1">
                  <c:v>18.68</c:v>
                </c:pt>
                <c:pt idx="2">
                  <c:v>15.9</c:v>
                </c:pt>
                <c:pt idx="3">
                  <c:v>13.16</c:v>
                </c:pt>
                <c:pt idx="4">
                  <c:v>11.13</c:v>
                </c:pt>
                <c:pt idx="5">
                  <c:v>12.68</c:v>
                </c:pt>
              </c:numCache>
            </c:numRef>
          </c:val>
          <c:extLst>
            <c:ext xmlns:c16="http://schemas.microsoft.com/office/drawing/2014/chart" uri="{C3380CC4-5D6E-409C-BE32-E72D297353CC}">
              <c16:uniqueId val="{00000000-FFFC-4FD2-B8F1-DF4FA9E40081}"/>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E4C59"/>
                </a:solidFill>
                <a:latin typeface="+mn-lt"/>
              </a:defRPr>
            </a:pPr>
            <a:endParaRPr lang="en-US"/>
          </a:p>
        </c:txPr>
        <c:crossAx val="2094734552"/>
        <c:crosses val="autoZero"/>
        <c:auto val="1"/>
        <c:lblAlgn val="ctr"/>
        <c:lblOffset val="100"/>
        <c:noMultiLvlLbl val="1"/>
      </c:catAx>
      <c:valAx>
        <c:axId val="2094734552"/>
        <c:scaling>
          <c:orientation val="minMax"/>
          <c:max val="22"/>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pp</c:v>
                </c:pt>
              </c:strCache>
            </c:strRef>
          </c:tx>
          <c:spPr>
            <a:solidFill>
              <a:srgbClr val="3E7CB1"/>
            </a:solidFill>
            <a:effectLst/>
          </c:spPr>
          <c:invertIfNegative val="0"/>
          <c:dPt>
            <c:idx val="0"/>
            <c:invertIfNegative val="0"/>
            <c:bubble3D val="0"/>
            <c:extLst>
              <c:ext xmlns:c16="http://schemas.microsoft.com/office/drawing/2014/chart" uri="{C3380CC4-5D6E-409C-BE32-E72D297353CC}">
                <c16:uniqueId val="{00000001-E031-4B36-B221-6EB341BFC4D0}"/>
              </c:ext>
            </c:extLst>
          </c:dPt>
          <c:dPt>
            <c:idx val="1"/>
            <c:invertIfNegative val="0"/>
            <c:bubble3D val="0"/>
            <c:extLst>
              <c:ext xmlns:c16="http://schemas.microsoft.com/office/drawing/2014/chart" uri="{C3380CC4-5D6E-409C-BE32-E72D297353CC}">
                <c16:uniqueId val="{00000003-E031-4B36-B221-6EB341BFC4D0}"/>
              </c:ext>
            </c:extLst>
          </c:dPt>
          <c:dPt>
            <c:idx val="2"/>
            <c:invertIfNegative val="0"/>
            <c:bubble3D val="0"/>
            <c:spPr>
              <a:solidFill>
                <a:srgbClr val="C53030"/>
              </a:solidFill>
              <a:effectLst/>
            </c:spPr>
            <c:extLst>
              <c:ext xmlns:c16="http://schemas.microsoft.com/office/drawing/2014/chart" uri="{C3380CC4-5D6E-409C-BE32-E72D297353CC}">
                <c16:uniqueId val="{00000005-E031-4B36-B221-6EB341BFC4D0}"/>
              </c:ext>
            </c:extLst>
          </c:dPt>
          <c:dPt>
            <c:idx val="3"/>
            <c:invertIfNegative val="0"/>
            <c:bubble3D val="0"/>
            <c:spPr>
              <a:solidFill>
                <a:srgbClr val="1F2933"/>
              </a:solidFill>
              <a:effectLst/>
            </c:spPr>
            <c:extLst>
              <c:ext xmlns:c16="http://schemas.microsoft.com/office/drawing/2014/chart" uri="{C3380CC4-5D6E-409C-BE32-E72D297353CC}">
                <c16:uniqueId val="{00000007-E031-4B36-B221-6EB341BFC4D0}"/>
              </c:ext>
            </c:extLst>
          </c:dPt>
          <c:dLbls>
            <c:numFmt formatCode="\+0.00;\-0.00" sourceLinked="0"/>
            <c:spPr>
              <a:noFill/>
              <a:ln>
                <a:noFill/>
              </a:ln>
              <a:effectLst/>
            </c:spPr>
            <c:txPr>
              <a:bodyPr/>
              <a:lstStyle/>
              <a:p>
                <a:pPr>
                  <a:defRPr sz="1200" b="0" i="0" u="none" strike="noStrike">
                    <a:solidFill>
                      <a:srgbClr val="1F29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Profit margin</c:v>
                </c:pt>
                <c:pt idx="1">
                  <c:v>Asset turnover</c:v>
                </c:pt>
                <c:pt idx="2">
                  <c:v>Equity multiplier</c:v>
                </c:pt>
                <c:pt idx="3">
                  <c:v>Total change</c:v>
                </c:pt>
              </c:strCache>
            </c:strRef>
          </c:cat>
          <c:val>
            <c:numRef>
              <c:f>Sheet1!$B$2:$B$5</c:f>
              <c:numCache>
                <c:formatCode>General</c:formatCode>
                <c:ptCount val="4"/>
                <c:pt idx="0">
                  <c:v>4.34</c:v>
                </c:pt>
                <c:pt idx="1">
                  <c:v>0.65</c:v>
                </c:pt>
                <c:pt idx="2">
                  <c:v>-1.1399999999999999</c:v>
                </c:pt>
                <c:pt idx="3">
                  <c:v>3.85</c:v>
                </c:pt>
              </c:numCache>
            </c:numRef>
          </c:val>
          <c:extLst>
            <c:ext xmlns:c16="http://schemas.microsoft.com/office/drawing/2014/chart" uri="{C3380CC4-5D6E-409C-BE32-E72D297353CC}">
              <c16:uniqueId val="{00000008-E031-4B36-B221-6EB341BFC4D0}"/>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E4C59"/>
                </a:solidFill>
                <a:latin typeface="+mn-lt"/>
              </a:defRPr>
            </a:pPr>
            <a:endParaRPr lang="en-US"/>
          </a:p>
        </c:txPr>
        <c:crossAx val="2094734552"/>
        <c:crosses val="autoZero"/>
        <c:auto val="1"/>
        <c:lblAlgn val="ctr"/>
        <c:lblOffset val="100"/>
        <c:noMultiLvlLbl val="1"/>
      </c:catAx>
      <c:valAx>
        <c:axId val="2094734552"/>
        <c:scaling>
          <c:orientation val="minMax"/>
          <c:max val="6"/>
          <c:min val="-2"/>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Mean company-average ROE</c:v>
                </c:pt>
              </c:strCache>
            </c:strRef>
          </c:tx>
          <c:spPr>
            <a:solidFill>
              <a:srgbClr val="3E7CB1"/>
            </a:solidFill>
            <a:effectLst/>
          </c:spPr>
          <c:invertIfNegative val="0"/>
          <c:dPt>
            <c:idx val="0"/>
            <c:invertIfNegative val="0"/>
            <c:bubble3D val="0"/>
            <c:extLst>
              <c:ext xmlns:c16="http://schemas.microsoft.com/office/drawing/2014/chart" uri="{C3380CC4-5D6E-409C-BE32-E72D297353CC}">
                <c16:uniqueId val="{00000001-68A1-4CA0-BA8C-EA0A9E0125DB}"/>
              </c:ext>
            </c:extLst>
          </c:dPt>
          <c:dPt>
            <c:idx val="1"/>
            <c:invertIfNegative val="0"/>
            <c:bubble3D val="0"/>
            <c:spPr>
              <a:solidFill>
                <a:srgbClr val="7B8794"/>
              </a:solidFill>
              <a:effectLst/>
            </c:spPr>
            <c:extLst>
              <c:ext xmlns:c16="http://schemas.microsoft.com/office/drawing/2014/chart" uri="{C3380CC4-5D6E-409C-BE32-E72D297353CC}">
                <c16:uniqueId val="{00000003-68A1-4CA0-BA8C-EA0A9E0125DB}"/>
              </c:ext>
            </c:extLst>
          </c:dPt>
          <c:dPt>
            <c:idx val="2"/>
            <c:invertIfNegative val="0"/>
            <c:bubble3D val="0"/>
            <c:spPr>
              <a:solidFill>
                <a:srgbClr val="7B8794"/>
              </a:solidFill>
              <a:effectLst/>
            </c:spPr>
            <c:extLst>
              <c:ext xmlns:c16="http://schemas.microsoft.com/office/drawing/2014/chart" uri="{C3380CC4-5D6E-409C-BE32-E72D297353CC}">
                <c16:uniqueId val="{00000005-68A1-4CA0-BA8C-EA0A9E0125DB}"/>
              </c:ext>
            </c:extLst>
          </c:dPt>
          <c:dLbls>
            <c:numFmt formatCode="0.00&quot;%&quot;" sourceLinked="0"/>
            <c:spPr>
              <a:noFill/>
              <a:ln>
                <a:noFill/>
              </a:ln>
              <a:effectLst/>
            </c:spPr>
            <c:txPr>
              <a:bodyPr/>
              <a:lstStyle/>
              <a:p>
                <a:pPr>
                  <a:defRPr sz="1200" b="0" i="0" u="none" strike="noStrike">
                    <a:solidFill>
                      <a:srgbClr val="1F29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All 43 companies</c:v>
                </c:pt>
                <c:pt idx="1">
                  <c:v>Exclude 5 IQR flags</c:v>
                </c:pt>
                <c:pt idx="2">
                  <c:v>Exclude 4 ±2 SD flags</c:v>
                </c:pt>
              </c:strCache>
            </c:strRef>
          </c:cat>
          <c:val>
            <c:numRef>
              <c:f>Sheet1!$B$2:$B$4</c:f>
              <c:numCache>
                <c:formatCode>General</c:formatCode>
                <c:ptCount val="3"/>
                <c:pt idx="0">
                  <c:v>20.74</c:v>
                </c:pt>
                <c:pt idx="1">
                  <c:v>13.5</c:v>
                </c:pt>
                <c:pt idx="2">
                  <c:v>14.5</c:v>
                </c:pt>
              </c:numCache>
            </c:numRef>
          </c:val>
          <c:extLst>
            <c:ext xmlns:c16="http://schemas.microsoft.com/office/drawing/2014/chart" uri="{C3380CC4-5D6E-409C-BE32-E72D297353CC}">
              <c16:uniqueId val="{00000006-68A1-4CA0-BA8C-EA0A9E0125DB}"/>
            </c:ext>
          </c:extLst>
        </c:ser>
        <c:dLbls>
          <c:showLegendKey val="0"/>
          <c:showVal val="1"/>
          <c:showCatName val="0"/>
          <c:showSerName val="0"/>
          <c:showPercent val="0"/>
          <c:showBubbleSize val="0"/>
        </c:dLbls>
        <c:gapWidth val="4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E4C59"/>
                </a:solidFill>
                <a:latin typeface="+mn-lt"/>
              </a:defRPr>
            </a:pPr>
            <a:endParaRPr lang="en-US"/>
          </a:p>
        </c:txPr>
        <c:crossAx val="2094734552"/>
        <c:crosses val="autoZero"/>
        <c:auto val="1"/>
        <c:lblAlgn val="ctr"/>
        <c:lblOffset val="100"/>
        <c:noMultiLvlLbl val="1"/>
      </c:catAx>
      <c:valAx>
        <c:axId val="2094734552"/>
        <c:scaling>
          <c:orientation val="minMax"/>
          <c:max val="26"/>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ROE and contributions</c:v>
                </c:pt>
              </c:strCache>
            </c:strRef>
          </c:tx>
          <c:spPr>
            <a:solidFill>
              <a:srgbClr val="3E7CB1"/>
            </a:solidFill>
            <a:effectLst/>
          </c:spPr>
          <c:invertIfNegative val="0"/>
          <c:dPt>
            <c:idx val="0"/>
            <c:invertIfNegative val="0"/>
            <c:bubble3D val="0"/>
            <c:extLst>
              <c:ext xmlns:c16="http://schemas.microsoft.com/office/drawing/2014/chart" uri="{C3380CC4-5D6E-409C-BE32-E72D297353CC}">
                <c16:uniqueId val="{00000001-509E-4180-B04E-7B880B94B960}"/>
              </c:ext>
            </c:extLst>
          </c:dPt>
          <c:dPt>
            <c:idx val="1"/>
            <c:invertIfNegative val="0"/>
            <c:bubble3D val="0"/>
            <c:spPr>
              <a:solidFill>
                <a:srgbClr val="C53030"/>
              </a:solidFill>
              <a:effectLst/>
            </c:spPr>
            <c:extLst>
              <c:ext xmlns:c16="http://schemas.microsoft.com/office/drawing/2014/chart" uri="{C3380CC4-5D6E-409C-BE32-E72D297353CC}">
                <c16:uniqueId val="{00000003-509E-4180-B04E-7B880B94B960}"/>
              </c:ext>
            </c:extLst>
          </c:dPt>
          <c:dPt>
            <c:idx val="2"/>
            <c:invertIfNegative val="0"/>
            <c:bubble3D val="0"/>
            <c:spPr>
              <a:solidFill>
                <a:srgbClr val="C53030"/>
              </a:solidFill>
              <a:effectLst/>
            </c:spPr>
            <c:extLst>
              <c:ext xmlns:c16="http://schemas.microsoft.com/office/drawing/2014/chart" uri="{C3380CC4-5D6E-409C-BE32-E72D297353CC}">
                <c16:uniqueId val="{00000005-509E-4180-B04E-7B880B94B960}"/>
              </c:ext>
            </c:extLst>
          </c:dPt>
          <c:dPt>
            <c:idx val="3"/>
            <c:invertIfNegative val="0"/>
            <c:bubble3D val="0"/>
            <c:spPr>
              <a:solidFill>
                <a:srgbClr val="2F855A"/>
              </a:solidFill>
              <a:effectLst/>
            </c:spPr>
            <c:extLst>
              <c:ext xmlns:c16="http://schemas.microsoft.com/office/drawing/2014/chart" uri="{C3380CC4-5D6E-409C-BE32-E72D297353CC}">
                <c16:uniqueId val="{00000007-509E-4180-B04E-7B880B94B960}"/>
              </c:ext>
            </c:extLst>
          </c:dPt>
          <c:dPt>
            <c:idx val="4"/>
            <c:invertIfNegative val="0"/>
            <c:bubble3D val="0"/>
            <c:extLst>
              <c:ext xmlns:c16="http://schemas.microsoft.com/office/drawing/2014/chart" uri="{C3380CC4-5D6E-409C-BE32-E72D297353CC}">
                <c16:uniqueId val="{00000009-509E-4180-B04E-7B880B94B960}"/>
              </c:ext>
            </c:extLst>
          </c:dPt>
          <c:dLbls>
            <c:numFmt formatCode="0.0" sourceLinked="0"/>
            <c:spPr>
              <a:noFill/>
              <a:ln>
                <a:noFill/>
              </a:ln>
              <a:effectLst/>
            </c:spPr>
            <c:txPr>
              <a:bodyPr/>
              <a:lstStyle/>
              <a:p>
                <a:pPr>
                  <a:defRPr sz="1200" b="0" i="0" u="none" strike="noStrike">
                    <a:solidFill>
                      <a:srgbClr val="1F29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2022 ROE (%)</c:v>
                </c:pt>
                <c:pt idx="1">
                  <c:v>Margin (pp)</c:v>
                </c:pt>
                <c:pt idx="2">
                  <c:v>Turnover (pp)</c:v>
                </c:pt>
                <c:pt idx="3">
                  <c:v>Multiplier (pp)</c:v>
                </c:pt>
                <c:pt idx="4">
                  <c:v>2023 ROE (%)</c:v>
                </c:pt>
              </c:strCache>
            </c:strRef>
          </c:cat>
          <c:val>
            <c:numRef>
              <c:f>Sheet1!$B$2:$B$6</c:f>
              <c:numCache>
                <c:formatCode>General</c:formatCode>
                <c:ptCount val="5"/>
                <c:pt idx="0">
                  <c:v>32.799999999999997</c:v>
                </c:pt>
                <c:pt idx="1">
                  <c:v>-24.35</c:v>
                </c:pt>
                <c:pt idx="2">
                  <c:v>-9.59</c:v>
                </c:pt>
                <c:pt idx="3">
                  <c:v>3.52</c:v>
                </c:pt>
                <c:pt idx="4">
                  <c:v>2.38</c:v>
                </c:pt>
              </c:numCache>
            </c:numRef>
          </c:val>
          <c:extLst>
            <c:ext xmlns:c16="http://schemas.microsoft.com/office/drawing/2014/chart" uri="{C3380CC4-5D6E-409C-BE32-E72D297353CC}">
              <c16:uniqueId val="{0000000A-509E-4180-B04E-7B880B94B960}"/>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E4C59"/>
                </a:solidFill>
                <a:latin typeface="+mn-lt"/>
              </a:defRPr>
            </a:pPr>
            <a:endParaRPr lang="en-US"/>
          </a:p>
        </c:txPr>
        <c:crossAx val="2094734552"/>
        <c:crosses val="autoZero"/>
        <c:auto val="1"/>
        <c:lblAlgn val="ctr"/>
        <c:lblOffset val="100"/>
        <c:noMultiLvlLbl val="1"/>
      </c:catAx>
      <c:valAx>
        <c:axId val="2094734552"/>
        <c:scaling>
          <c:orientation val="minMax"/>
          <c:max val="40"/>
          <c:min val="-3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Industrials</c:v>
                </c:pt>
              </c:strCache>
            </c:strRef>
          </c:tx>
          <c:spPr>
            <a:ln w="38100" cap="flat">
              <a:solidFill>
                <a:srgbClr val="D9480F"/>
              </a:solidFill>
              <a:prstDash val="solid"/>
              <a:round/>
            </a:ln>
            <a:effectLst/>
          </c:spPr>
          <c:marker>
            <c:symbol val="circle"/>
            <c:size val="7"/>
            <c:spPr>
              <a:solidFill>
                <a:srgbClr val="D9480F"/>
              </a:solidFill>
              <a:ln w="9525" cap="flat">
                <a:solidFill>
                  <a:srgbClr val="D9480F"/>
                </a:solidFill>
                <a:prstDash val="solid"/>
                <a:round/>
              </a:ln>
              <a:effectLst/>
            </c:spPr>
          </c:marker>
          <c:cat>
            <c:strRef>
              <c:f>Sheet1!$A$2:$A$7</c:f>
              <c:strCache>
                <c:ptCount val="6"/>
                <c:pt idx="0">
                  <c:v>2020</c:v>
                </c:pt>
                <c:pt idx="1">
                  <c:v>2021</c:v>
                </c:pt>
                <c:pt idx="2">
                  <c:v>2022</c:v>
                </c:pt>
                <c:pt idx="3">
                  <c:v>2023</c:v>
                </c:pt>
                <c:pt idx="4">
                  <c:v>2024</c:v>
                </c:pt>
                <c:pt idx="5">
                  <c:v>2025</c:v>
                </c:pt>
              </c:strCache>
            </c:strRef>
          </c:cat>
          <c:val>
            <c:numRef>
              <c:f>Sheet1!$B$2:$B$7</c:f>
              <c:numCache>
                <c:formatCode>General</c:formatCode>
                <c:ptCount val="6"/>
                <c:pt idx="0">
                  <c:v>19.399999999999999</c:v>
                </c:pt>
                <c:pt idx="1">
                  <c:v>20.8</c:v>
                </c:pt>
                <c:pt idx="2">
                  <c:v>20</c:v>
                </c:pt>
                <c:pt idx="3">
                  <c:v>21.8</c:v>
                </c:pt>
                <c:pt idx="4">
                  <c:v>25</c:v>
                </c:pt>
                <c:pt idx="5">
                  <c:v>25.5</c:v>
                </c:pt>
              </c:numCache>
            </c:numRef>
          </c:val>
          <c:smooth val="0"/>
          <c:extLst>
            <c:ext xmlns:c16="http://schemas.microsoft.com/office/drawing/2014/chart" uri="{C3380CC4-5D6E-409C-BE32-E72D297353CC}">
              <c16:uniqueId val="{00000000-0AD3-4761-A18B-A23DFC36A957}"/>
            </c:ext>
          </c:extLst>
        </c:ser>
        <c:ser>
          <c:idx val="1"/>
          <c:order val="1"/>
          <c:tx>
            <c:strRef>
              <c:f>Sheet1!$C$1</c:f>
              <c:strCache>
                <c:ptCount val="1"/>
                <c:pt idx="0">
                  <c:v>Healthcare</c:v>
                </c:pt>
              </c:strCache>
            </c:strRef>
          </c:tx>
          <c:spPr>
            <a:ln w="38100" cap="flat">
              <a:solidFill>
                <a:srgbClr val="3E7CB1"/>
              </a:solidFill>
              <a:prstDash val="solid"/>
              <a:round/>
            </a:ln>
            <a:effectLst/>
          </c:spPr>
          <c:marker>
            <c:symbol val="circle"/>
            <c:size val="7"/>
            <c:spPr>
              <a:solidFill>
                <a:srgbClr val="3E7CB1"/>
              </a:solidFill>
              <a:ln w="9525" cap="flat">
                <a:solidFill>
                  <a:srgbClr val="3E7CB1"/>
                </a:solidFill>
                <a:prstDash val="solid"/>
                <a:round/>
              </a:ln>
              <a:effectLst/>
            </c:spPr>
          </c:marker>
          <c:cat>
            <c:strRef>
              <c:f>Sheet1!$A$2:$A$7</c:f>
              <c:strCache>
                <c:ptCount val="6"/>
                <c:pt idx="0">
                  <c:v>2020</c:v>
                </c:pt>
                <c:pt idx="1">
                  <c:v>2021</c:v>
                </c:pt>
                <c:pt idx="2">
                  <c:v>2022</c:v>
                </c:pt>
                <c:pt idx="3">
                  <c:v>2023</c:v>
                </c:pt>
                <c:pt idx="4">
                  <c:v>2024</c:v>
                </c:pt>
                <c:pt idx="5">
                  <c:v>2025</c:v>
                </c:pt>
              </c:strCache>
            </c:strRef>
          </c:cat>
          <c:val>
            <c:numRef>
              <c:f>Sheet1!$C$2:$C$7</c:f>
              <c:numCache>
                <c:formatCode>General</c:formatCode>
                <c:ptCount val="6"/>
                <c:pt idx="0">
                  <c:v>15.72</c:v>
                </c:pt>
                <c:pt idx="1">
                  <c:v>18.68</c:v>
                </c:pt>
                <c:pt idx="2">
                  <c:v>15.9</c:v>
                </c:pt>
                <c:pt idx="3">
                  <c:v>13.16</c:v>
                </c:pt>
                <c:pt idx="4">
                  <c:v>11.13</c:v>
                </c:pt>
                <c:pt idx="5">
                  <c:v>12.68</c:v>
                </c:pt>
              </c:numCache>
            </c:numRef>
          </c:val>
          <c:smooth val="0"/>
          <c:extLst>
            <c:ext xmlns:c16="http://schemas.microsoft.com/office/drawing/2014/chart" uri="{C3380CC4-5D6E-409C-BE32-E72D297353CC}">
              <c16:uniqueId val="{00000001-0AD3-4761-A18B-A23DFC36A957}"/>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E4C59"/>
                </a:solidFill>
                <a:latin typeface="+mn-lt"/>
              </a:defRPr>
            </a:pPr>
            <a:endParaRPr lang="en-US"/>
          </a:p>
        </c:txPr>
        <c:crossAx val="2094734552"/>
        <c:crosses val="autoZero"/>
        <c:auto val="1"/>
        <c:lblAlgn val="ctr"/>
        <c:lblOffset val="100"/>
        <c:noMultiLvlLbl val="1"/>
      </c:catAx>
      <c:valAx>
        <c:axId val="2094734552"/>
        <c:scaling>
          <c:orientation val="minMax"/>
          <c:max val="30"/>
          <c:min val="0"/>
        </c:scaling>
        <c:delete val="0"/>
        <c:axPos val="l"/>
        <c:majorGridlines>
          <c:spPr>
            <a:ln w="9525" cap="flat">
              <a:solidFill>
                <a:srgbClr val="F0F2F5"/>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3E4C59"/>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3E4C59"/>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Equity multiplier</c:v>
                </c:pt>
              </c:strCache>
            </c:strRef>
          </c:tx>
          <c:spPr>
            <a:solidFill>
              <a:srgbClr val="7B8794"/>
            </a:solidFill>
            <a:effectLst/>
          </c:spPr>
          <c:invertIfNegative val="0"/>
          <c:dPt>
            <c:idx val="0"/>
            <c:invertIfNegative val="0"/>
            <c:bubble3D val="0"/>
            <c:extLst>
              <c:ext xmlns:c16="http://schemas.microsoft.com/office/drawing/2014/chart" uri="{C3380CC4-5D6E-409C-BE32-E72D297353CC}">
                <c16:uniqueId val="{00000001-7012-4E13-9B09-1BBAEDB57C73}"/>
              </c:ext>
            </c:extLst>
          </c:dPt>
          <c:dPt>
            <c:idx val="1"/>
            <c:invertIfNegative val="0"/>
            <c:bubble3D val="0"/>
            <c:spPr>
              <a:solidFill>
                <a:srgbClr val="D9480F"/>
              </a:solidFill>
              <a:effectLst/>
            </c:spPr>
            <c:extLst>
              <c:ext xmlns:c16="http://schemas.microsoft.com/office/drawing/2014/chart" uri="{C3380CC4-5D6E-409C-BE32-E72D297353CC}">
                <c16:uniqueId val="{00000003-7012-4E13-9B09-1BBAEDB57C73}"/>
              </c:ext>
            </c:extLst>
          </c:dPt>
          <c:dPt>
            <c:idx val="2"/>
            <c:invertIfNegative val="0"/>
            <c:bubble3D val="0"/>
            <c:extLst>
              <c:ext xmlns:c16="http://schemas.microsoft.com/office/drawing/2014/chart" uri="{C3380CC4-5D6E-409C-BE32-E72D297353CC}">
                <c16:uniqueId val="{00000005-7012-4E13-9B09-1BBAEDB57C73}"/>
              </c:ext>
            </c:extLst>
          </c:dPt>
          <c:dPt>
            <c:idx val="3"/>
            <c:invertIfNegative val="0"/>
            <c:bubble3D val="0"/>
            <c:spPr>
              <a:solidFill>
                <a:srgbClr val="3E7CB1"/>
              </a:solidFill>
              <a:effectLst/>
            </c:spPr>
            <c:extLst>
              <c:ext xmlns:c16="http://schemas.microsoft.com/office/drawing/2014/chart" uri="{C3380CC4-5D6E-409C-BE32-E72D297353CC}">
                <c16:uniqueId val="{00000007-7012-4E13-9B09-1BBAEDB57C73}"/>
              </c:ext>
            </c:extLst>
          </c:dPt>
          <c:dPt>
            <c:idx val="4"/>
            <c:invertIfNegative val="0"/>
            <c:bubble3D val="0"/>
            <c:spPr>
              <a:solidFill>
                <a:srgbClr val="3E7CB1"/>
              </a:solidFill>
              <a:effectLst/>
            </c:spPr>
            <c:extLst>
              <c:ext xmlns:c16="http://schemas.microsoft.com/office/drawing/2014/chart" uri="{C3380CC4-5D6E-409C-BE32-E72D297353CC}">
                <c16:uniqueId val="{00000009-7012-4E13-9B09-1BBAEDB57C73}"/>
              </c:ext>
            </c:extLst>
          </c:dPt>
          <c:dLbls>
            <c:numFmt formatCode="0.0&quot;×&quot;" sourceLinked="0"/>
            <c:spPr>
              <a:noFill/>
              <a:ln>
                <a:noFill/>
              </a:ln>
              <a:effectLst/>
            </c:spPr>
            <c:txPr>
              <a:bodyPr/>
              <a:lstStyle/>
              <a:p>
                <a:pPr>
                  <a:defRPr sz="1200" b="0" i="0" u="none" strike="noStrike">
                    <a:solidFill>
                      <a:srgbClr val="1F29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Industrials typical</c:v>
                </c:pt>
                <c:pt idx="1">
                  <c:v>Industrials high outliers</c:v>
                </c:pt>
                <c:pt idx="2">
                  <c:v>Healthcare median 2025</c:v>
                </c:pt>
                <c:pt idx="3">
                  <c:v>Amgen 2025</c:v>
                </c:pt>
                <c:pt idx="4">
                  <c:v>IDEXX 2025</c:v>
                </c:pt>
              </c:strCache>
            </c:strRef>
          </c:cat>
          <c:val>
            <c:numRef>
              <c:f>Sheet1!$B$2:$B$6</c:f>
              <c:numCache>
                <c:formatCode>General</c:formatCode>
                <c:ptCount val="5"/>
                <c:pt idx="0">
                  <c:v>2.6</c:v>
                </c:pt>
                <c:pt idx="1">
                  <c:v>8.9</c:v>
                </c:pt>
                <c:pt idx="2">
                  <c:v>2.13</c:v>
                </c:pt>
                <c:pt idx="3">
                  <c:v>10.46</c:v>
                </c:pt>
                <c:pt idx="4">
                  <c:v>2.09</c:v>
                </c:pt>
              </c:numCache>
            </c:numRef>
          </c:val>
          <c:extLst>
            <c:ext xmlns:c16="http://schemas.microsoft.com/office/drawing/2014/chart" uri="{C3380CC4-5D6E-409C-BE32-E72D297353CC}">
              <c16:uniqueId val="{0000000A-7012-4E13-9B09-1BBAEDB57C73}"/>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E4C59"/>
                </a:solidFill>
                <a:latin typeface="+mn-lt"/>
              </a:defRPr>
            </a:pPr>
            <a:endParaRPr lang="en-US"/>
          </a:p>
        </c:txPr>
        <c:crossAx val="2094734552"/>
        <c:crosses val="autoZero"/>
        <c:auto val="1"/>
        <c:lblAlgn val="ctr"/>
        <c:lblOffset val="100"/>
        <c:noMultiLvlLbl val="1"/>
      </c:catAx>
      <c:valAx>
        <c:axId val="2094734552"/>
        <c:scaling>
          <c:orientation val="minMax"/>
          <c:max val="12.5"/>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067617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Combined deck: the industrials ROE and risk review, the healthcare ROE study, and a new intra-sector comparison. 727 = 472 industrial company-year filings + 255 eligible healthcare company-years.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headline messages from the three parts of the deck. Each is developed in the sector sections and the comparison section.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Industrial sample: 81 companies, 472 company-year filings, 94% with usable risk-factor text. Healthcare sample: 43 eligible firms and 255 company-years; A, ABBV and TECH have five usable years and sit outside the fixed 40-firm panel.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Margin = net income / revenue; turnover = revenue / assets; multiplier = assets / equity. Dollars cancel, so each is a ratio. Example: 0.20 x 0.50 x 2.0 = 0.20 = 20%. Book equity is assets minus liabilities, not market capitalization.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reproduces the industrials ROE and risk review.</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question: why do healthcare companies differ in ROE, how did those differences change during 2020–2025, and what do disclosed risks suggest about sustainability? Audience: enterprise risk management. Quantitative findings concern the eligible healthcare sample. Sustainability is a question to investigate, not an estimated probability.</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Separately calculated annual medians for a balanced 40-company sample. Fixing membership removes changing-composition effects within the panel, not survivorship or selection bias. Companies have different fiscal year-end dates.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Component medians are calculated separately and are not additive. Data: balanced_component_medians.csv.</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Amgen 2025: margin .209817 x turnover .405703 x multiplier 10.462693 = ROE .890621. IDEXX: .246175 x 1.284396 x 2.087202 = .659945. Asset returns are about 8.51% and 31.62%. This demonstrates the accounting denominator effect, not the historical cause of equity levels; buybacks, losses, distributions and acquisitions need separate evidence.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of 40 firms, each adjacent-year ROE change is decomposed by averaging contributions over all six orders of replacing margin, turnover and multiplier, then averaged across firms. Contributions sum to the change in MEAN ROE, not median ROE. In 2021 the mean ROE change was +6.10 pp, of which margin contributed +6.24 pp. In 2023 all three average contributions were negative.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Company averages use each eligible firm's five or six usable years, with equal company weights. Sample SD is 21.90 pp. ROE-only IQR flags: ABBV, AMGN, IDXX, LLY, ZTS. Removing five leaves 38 firms with mean 13.50%. The alternative mean +/- 2 SD rule removes four, leaving 39 firms and mean 14.50%. Neither rule proves an accounting error.</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Pfizer year-end ROE fell from 32.795% in 2022 to 2.381% in 2023. Symmetric contributions: margin -24.350 pp, turnover -9.585 pp, multiplier +3.520 pp. The filing discusses reduced COVID-product demand, excess inventory and significant Paxlovid and Comirnaty write-offs. The Seagen acquisition is an additional asset-base issue. Management expected at least $4bn of cost realignment net savings primarily in 2023-2024; realized savings are not verified. Source: SEC EDGAR, Pfizer 10-K for fiscal 2023.</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is new. Every figure comes from the two sector analyses in this deck. The two samples were built differently, so the comparison is descriptive, not a statistical test.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Industrial change: 25.5 - 19.4 = +6.1 points. Healthcare change: 12.68 - 15.72 = -3.04 points. Industrial peak is FY2025 (25.5%) and trough FY2020 (19.4%). Healthcare peak is 2021 (18.68%) and trough 2024 (11.13%).</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Gaps (industrials minus healthcare): 2020 3.68, 2021 2.12, 2022 4.10, 2023 8.64, 2024 13.87, 2025 12.82 points. Industrial ROE dipped in FY2022 and then climbed; healthcare ROE fell every year from 2021 to 2024.</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Industrial phase descriptions come from the risk-theme review (COVID named in 74% then 66% of filings; raw materials about half; geopolitics rising). Healthcare descriptions come from the DuPont bridges: median margin peaked at 17.45% in 2021, all three mean contributions were negative in 2023, and margin added +4.34 pp in 2025. Pfizer's 2023 filing is a single verified case, not a sector explanation.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Industrial typical filing: median equity multiplier 2.6x; high outliers (ROE above 66%): 8.9x. Healthcare median 2025: 2.13x. Amgen 2025: 10.46x with ROE 89.06%. IDEXX 2025: 2.09x with ROE 65.99%, driven by margin 24.62% and turnover 1.28x. The comparison shows the denominator effect in both sectors but does not establish why equity is thin.</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Industrial lead-driver shares count which driver each AI write-up mentions first. Industrial high-outlier margin is 15.5% versus 10.4% typical. Healthcare 2025 contributions (percentage points of mean ROE): margin +4.34, turnover +0.65, multiplier -1.14, total +3.85.</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Industrial outlier rule: ROE below -20% or above 66% (IQR). 28 of 376 filings with ROE, across 14 companies; 20 high outliers, 17 of them from six companies. Healthcare: five of 43 companies flagged on ROE (ABBV, AMGN, IDXX, LLY, ZTS); mean company-average ROE falls from 20.74% to 13.50% without them, against an untrimmed median of 14.93%.</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3M's Item 1A says some suppliers are limited- or sole-source. The 2024 discussion says global supply chains stabilized, with disruptions driven by more isolated factors, while feedstock and labor inflation persisted. Market price risks were partially mitigated by negotiated supply contracts and purchasing scale. This shows how Item 1A exposure can differ from realized conditions; the filing does not support attributing all ROE changes to sourcing. Source: https://www.sec.gov/Archives/edgar/data/66740/000006674025000006/0000066740-25-000006.txt</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Industrial watch list comes from the review: tariffs and geopolitics (rising every year), labor pressure (elevated since FY2021) and leverage-led ROE. Healthcare monitoring owners: finance for recurring earnings, one-time charges and equity rollforwards; operations for demand, inventory aging, write-offs and supplier performance.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answering the research question directly: ROE alone does not establish strong or sustainable performance. Evidence supports accounting explanations and selected documented cases, not a causal model or a sustainability forecast.</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097280"/>
            <a:ext cx="5394960" cy="1828800"/>
          </a:xfrm>
          <a:prstGeom prst="rect">
            <a:avLst/>
          </a:prstGeom>
          <a:noFill/>
          <a:ln/>
        </p:spPr>
        <p:txBody>
          <a:bodyPr wrap="square" rtlCol="0"/>
          <a:lstStyle>
            <a:lvl1pPr marL="0" indent="0">
              <a:buNone/>
              <a:defRPr lang="en-US" sz="3600" b="1" dirty="0">
                <a:solidFill>
                  <a:schemeClr val="bg1"/>
                </a:solidFill>
              </a:defRPr>
            </a:lvl1pPr>
          </a:lstStyle>
          <a:p>
            <a:pPr marL="0" indent="0">
              <a:buNone/>
            </a:pPr>
            <a:endParaRPr lang="en-US" sz="3600" dirty="0"/>
          </a:p>
        </p:txBody>
      </p:sp>
      <p:sp>
        <p:nvSpPr>
          <p:cNvPr id="3" name="Text 0"/>
          <p:cNvSpPr>
            <a:spLocks noGrp="1"/>
          </p:cNvSpPr>
          <p:nvPr>
            <p:ph type="body" idx="101" hasCustomPrompt="1"/>
          </p:nvPr>
        </p:nvSpPr>
        <p:spPr>
          <a:xfrm>
            <a:off x="548640" y="3108960"/>
            <a:ext cx="5394960" cy="731520"/>
          </a:xfrm>
          <a:prstGeom prst="rect">
            <a:avLst/>
          </a:prstGeom>
          <a:noFill/>
          <a:ln/>
        </p:spPr>
        <p:txBody>
          <a:bodyPr wrap="square" rtlCol="0"/>
          <a:lstStyle>
            <a:lvl1pPr marL="0" indent="0">
              <a:buNone/>
              <a:defRPr lang="en-US" sz="1800" dirty="0">
                <a:solidFill>
                  <a:schemeClr val="bg2"/>
                </a:solidFill>
              </a:defRPr>
            </a:lvl1pPr>
          </a:lstStyle>
          <a:p>
            <a:pPr marL="0" indent="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65760"/>
            <a:ext cx="8229600" cy="640080"/>
          </a:xfrm>
          <a:prstGeom prst="rect">
            <a:avLst/>
          </a:prstGeom>
          <a:noFill/>
          <a:ln/>
        </p:spPr>
        <p:txBody>
          <a:bodyPr wrap="square" rtlCol="0"/>
          <a:lstStyle>
            <a:lvl1pPr marL="0" indent="0">
              <a:buNone/>
              <a:defRPr lang="en-US" sz="3400" b="1" dirty="0">
                <a:solidFill>
                  <a:schemeClr val="tx1"/>
                </a:solidFill>
              </a:defRPr>
            </a:lvl1pPr>
          </a:lstStyle>
          <a:p>
            <a:pPr marL="0" indent="0">
              <a:buNone/>
            </a:pPr>
            <a:endParaRPr lang="en-US" sz="3400" dirty="0"/>
          </a:p>
        </p:txBody>
      </p:sp>
      <p:sp>
        <p:nvSpPr>
          <p:cNvPr id="3" name="Text 0"/>
          <p:cNvSpPr>
            <a:spLocks noGrp="1"/>
          </p:cNvSpPr>
          <p:nvPr>
            <p:ph type="body" idx="101" hasCustomPrompt="1"/>
          </p:nvPr>
        </p:nvSpPr>
        <p:spPr>
          <a:xfrm>
            <a:off x="457200" y="1005840"/>
            <a:ext cx="8229600" cy="365760"/>
          </a:xfrm>
          <a:prstGeom prst="rect">
            <a:avLst/>
          </a:prstGeom>
          <a:noFill/>
          <a:ln/>
        </p:spPr>
        <p:txBody>
          <a:bodyPr wrap="square" rtlCol="0"/>
          <a:lstStyle>
            <a:lvl1pPr marL="0" indent="0">
              <a:buNone/>
              <a:defRPr lang="en-US" sz="1600" dirty="0">
                <a:solidFill>
                  <a:schemeClr val="tx2"/>
                </a:solidFill>
              </a:defRPr>
            </a:lvl1pPr>
          </a:lstStyle>
          <a:p>
            <a:pPr marL="0" indent="0">
              <a:buNone/>
            </a:pPr>
            <a:endParaRPr lang="en-US" sz="1600" dirty="0"/>
          </a:p>
        </p:txBody>
      </p:sp>
      <p:sp>
        <p:nvSpPr>
          <p:cNvPr id="4" name="Text 0"/>
          <p:cNvSpPr>
            <a:spLocks noGrp="1"/>
          </p:cNvSpPr>
          <p:nvPr>
            <p:ph type="body" idx="102" hasCustomPrompt="1"/>
          </p:nvPr>
        </p:nvSpPr>
        <p:spPr>
          <a:xfrm>
            <a:off x="457200" y="4663440"/>
            <a:ext cx="7589520" cy="274320"/>
          </a:xfrm>
          <a:prstGeom prst="rect">
            <a:avLst/>
          </a:prstGeom>
          <a:noFill/>
          <a:ln/>
        </p:spPr>
        <p:txBody>
          <a:bodyPr wrap="square" rtlCol="0"/>
          <a:lstStyle>
            <a:lvl1pPr marL="0" indent="0">
              <a:buNone/>
              <a:defRPr lang="en-US" sz="1000" dirty="0">
                <a:solidFill>
                  <a:schemeClr val="tx2"/>
                </a:solidFill>
              </a:defRPr>
            </a:lvl1pPr>
          </a:lstStyle>
          <a:p>
            <a:pPr marL="0" indent="0">
              <a:buNone/>
            </a:pPr>
            <a:endParaRPr lang="en-US" sz="10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65760"/>
            <a:ext cx="8229600" cy="640080"/>
          </a:xfrm>
          <a:prstGeom prst="rect">
            <a:avLst/>
          </a:prstGeom>
          <a:noFill/>
          <a:ln/>
        </p:spPr>
        <p:txBody>
          <a:bodyPr wrap="square" rtlCol="0"/>
          <a:lstStyle>
            <a:lvl1pPr marL="0" indent="0">
              <a:buNone/>
              <a:defRPr lang="en-US" sz="3400" b="1" dirty="0">
                <a:solidFill>
                  <a:schemeClr val="bg1"/>
                </a:solidFill>
              </a:defRPr>
            </a:lvl1pPr>
          </a:lstStyle>
          <a:p>
            <a:pPr marL="0" indent="0">
              <a:buNone/>
            </a:pPr>
            <a:endParaRPr lang="en-US" sz="3400" dirty="0"/>
          </a:p>
        </p:txBody>
      </p:sp>
      <p:sp>
        <p:nvSpPr>
          <p:cNvPr id="3" name="Text 0"/>
          <p:cNvSpPr>
            <a:spLocks noGrp="1"/>
          </p:cNvSpPr>
          <p:nvPr>
            <p:ph type="body" idx="101" hasCustomPrompt="1"/>
          </p:nvPr>
        </p:nvSpPr>
        <p:spPr>
          <a:xfrm>
            <a:off x="457200" y="1005840"/>
            <a:ext cx="8229600" cy="365760"/>
          </a:xfrm>
          <a:prstGeom prst="rect">
            <a:avLst/>
          </a:prstGeom>
          <a:noFill/>
          <a:ln/>
        </p:spPr>
        <p:txBody>
          <a:bodyPr wrap="square" rtlCol="0"/>
          <a:lstStyle>
            <a:lvl1pPr marL="0" indent="0">
              <a:buNone/>
              <a:defRPr lang="en-US" sz="1600" dirty="0">
                <a:solidFill>
                  <a:schemeClr val="bg2"/>
                </a:solidFill>
              </a:defRPr>
            </a:lvl1pPr>
          </a:lstStyle>
          <a:p>
            <a:pPr marL="0" indent="0">
              <a:buNone/>
            </a:pPr>
            <a:endParaRPr lang="en-US" sz="1600" dirty="0"/>
          </a:p>
        </p:txBody>
      </p:sp>
      <p:sp>
        <p:nvSpPr>
          <p:cNvPr id="4" name="Text 0"/>
          <p:cNvSpPr>
            <a:spLocks noGrp="1"/>
          </p:cNvSpPr>
          <p:nvPr>
            <p:ph type="body" idx="102" hasCustomPrompt="1"/>
          </p:nvPr>
        </p:nvSpPr>
        <p:spPr>
          <a:xfrm>
            <a:off x="457200" y="4663440"/>
            <a:ext cx="7589520" cy="274320"/>
          </a:xfrm>
          <a:prstGeom prst="rect">
            <a:avLst/>
          </a:prstGeom>
          <a:noFill/>
          <a:ln/>
        </p:spPr>
        <p:txBody>
          <a:bodyPr wrap="square" rtlCol="0"/>
          <a:lstStyle>
            <a:lvl1pPr marL="0" indent="0">
              <a:buNone/>
              <a:defRPr lang="en-US" sz="1000" dirty="0">
                <a:solidFill>
                  <a:schemeClr val="bg2"/>
                </a:solidFill>
              </a:defRPr>
            </a:lvl1pPr>
          </a:lstStyle>
          <a:p>
            <a:pPr marL="0" indent="0">
              <a:buNone/>
            </a:pPr>
            <a:endParaRPr lang="en-US" sz="10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097280"/>
            <a:ext cx="5394960" cy="1828800"/>
          </a:xfrm>
          <a:prstGeom prst="rect">
            <a:avLst/>
          </a:prstGeom>
          <a:noFill/>
          <a:ln/>
        </p:spPr>
        <p:txBody>
          <a:bodyPr wrap="square" lIns="0" tIns="0" rIns="0" bIns="0" rtlCol="0" anchor="t"/>
          <a:lstStyle/>
          <a:p>
            <a:pPr marL="0" indent="0">
              <a:buNone/>
            </a:pPr>
            <a:r>
              <a:rPr lang="en-US" sz="3600" b="1" dirty="0">
                <a:solidFill>
                  <a:schemeClr val="bg1"/>
                </a:solidFill>
              </a:rPr>
              <a:t>Industrials and Healthcare: ROE and Risk Review</a:t>
            </a:r>
            <a:endParaRPr lang="en-US" sz="3600" dirty="0"/>
          </a:p>
        </p:txBody>
      </p:sp>
      <p:sp>
        <p:nvSpPr>
          <p:cNvPr id="3" name="Text 0"/>
          <p:cNvSpPr>
            <a:spLocks noGrp="1"/>
          </p:cNvSpPr>
          <p:nvPr>
            <p:ph type="body" idx="101" hasCustomPrompt="1"/>
          </p:nvPr>
        </p:nvSpPr>
        <p:spPr>
          <a:xfrm>
            <a:off x="548640" y="3108960"/>
            <a:ext cx="5394960" cy="731520"/>
          </a:xfrm>
          <a:prstGeom prst="rect">
            <a:avLst/>
          </a:prstGeom>
          <a:noFill/>
          <a:ln/>
        </p:spPr>
        <p:txBody>
          <a:bodyPr wrap="square" lIns="0" tIns="0" rIns="0" bIns="0" rtlCol="0" anchor="t"/>
          <a:lstStyle/>
          <a:p>
            <a:pPr marL="0" indent="0">
              <a:buNone/>
            </a:pPr>
            <a:r>
              <a:rPr lang="en-US" sz="1800" dirty="0">
                <a:solidFill>
                  <a:schemeClr val="bg2"/>
                </a:solidFill>
              </a:rPr>
              <a:t>DuPont analysis and 10-K risk review, FY2020–2025</a:t>
            </a:r>
            <a:endParaRPr lang="en-US" sz="1800" dirty="0"/>
          </a:p>
        </p:txBody>
      </p:sp>
      <p:sp>
        <p:nvSpPr>
          <p:cNvPr id="4" name="Stat circle"/>
          <p:cNvSpPr/>
          <p:nvPr/>
        </p:nvSpPr>
        <p:spPr>
          <a:xfrm>
            <a:off x="6309360" y="1371600"/>
            <a:ext cx="2011680" cy="2011680"/>
          </a:xfrm>
          <a:prstGeom prst="ellipse">
            <a:avLst/>
          </a:prstGeom>
          <a:solidFill>
            <a:schemeClr val="accent1"/>
          </a:solidFill>
          <a:ln/>
        </p:spPr>
        <p:txBody>
          <a:bodyPr/>
          <a:lstStyle/>
          <a:p>
            <a:endParaRPr lang="en-US"/>
          </a:p>
        </p:txBody>
      </p:sp>
      <p:sp>
        <p:nvSpPr>
          <p:cNvPr id="5" name="Stat value"/>
          <p:cNvSpPr txBox="1"/>
          <p:nvPr/>
        </p:nvSpPr>
        <p:spPr>
          <a:xfrm>
            <a:off x="6309360" y="1828800"/>
            <a:ext cx="2011680" cy="731520"/>
          </a:xfrm>
          <a:prstGeom prst="rect">
            <a:avLst/>
          </a:prstGeom>
          <a:noFill/>
          <a:ln/>
        </p:spPr>
        <p:txBody>
          <a:bodyPr wrap="square" lIns="0" tIns="0" rIns="0" bIns="0" rtlCol="0" anchor="ctr"/>
          <a:lstStyle/>
          <a:p>
            <a:pPr marL="0" indent="0" algn="ctr">
              <a:buNone/>
            </a:pPr>
            <a:r>
              <a:rPr lang="en-US" sz="4400" b="1" dirty="0">
                <a:solidFill>
                  <a:schemeClr val="bg1"/>
                </a:solidFill>
              </a:rPr>
              <a:t>727</a:t>
            </a:r>
            <a:endParaRPr lang="en-US" sz="4400" dirty="0"/>
          </a:p>
        </p:txBody>
      </p:sp>
      <p:sp>
        <p:nvSpPr>
          <p:cNvPr id="6" name="Stat label"/>
          <p:cNvSpPr txBox="1"/>
          <p:nvPr/>
        </p:nvSpPr>
        <p:spPr>
          <a:xfrm>
            <a:off x="6309360" y="2560320"/>
            <a:ext cx="2011680" cy="365760"/>
          </a:xfrm>
          <a:prstGeom prst="rect">
            <a:avLst/>
          </a:prstGeom>
          <a:noFill/>
          <a:ln/>
        </p:spPr>
        <p:txBody>
          <a:bodyPr wrap="square" lIns="0" tIns="0" rIns="0" bIns="0" rtlCol="0" anchor="ctr"/>
          <a:lstStyle/>
          <a:p>
            <a:pPr marL="0" indent="0" algn="ctr">
              <a:buNone/>
            </a:pPr>
            <a:r>
              <a:rPr lang="en-US" sz="1400" dirty="0">
                <a:solidFill>
                  <a:schemeClr val="bg1"/>
                </a:solidFill>
              </a:rPr>
              <a:t>company-years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65760"/>
            <a:ext cx="8229600" cy="640080"/>
          </a:xfrm>
          <a:prstGeom prst="rect">
            <a:avLst/>
          </a:prstGeom>
          <a:noFill/>
          <a:ln/>
        </p:spPr>
        <p:txBody>
          <a:bodyPr wrap="square" lIns="0" tIns="0" rIns="0" bIns="0" rtlCol="0" anchor="t"/>
          <a:lstStyle/>
          <a:p>
            <a:pPr marL="0" indent="0">
              <a:buNone/>
            </a:pPr>
            <a:r>
              <a:rPr lang="en-US" sz="3400" b="1" dirty="0">
                <a:solidFill>
                  <a:schemeClr val="tx1"/>
                </a:solidFill>
              </a:rPr>
              <a:t>Key takeaways</a:t>
            </a:r>
            <a:endParaRPr lang="en-US" sz="3400" dirty="0"/>
          </a:p>
        </p:txBody>
      </p:sp>
      <p:sp>
        <p:nvSpPr>
          <p:cNvPr id="3" name="Text 0"/>
          <p:cNvSpPr>
            <a:spLocks noGrp="1"/>
          </p:cNvSpPr>
          <p:nvPr>
            <p:ph type="body" idx="101" hasCustomPrompt="1"/>
          </p:nvPr>
        </p:nvSpPr>
        <p:spPr>
          <a:xfrm>
            <a:off x="457200" y="1005840"/>
            <a:ext cx="8229600" cy="365760"/>
          </a:xfrm>
          <a:prstGeom prst="rect">
            <a:avLst/>
          </a:prstGeom>
          <a:noFill/>
          <a:ln/>
        </p:spPr>
        <p:txBody>
          <a:bodyPr wrap="square" lIns="0" tIns="0" rIns="0" bIns="0" rtlCol="0" anchor="ctr"/>
          <a:lstStyle/>
          <a:p>
            <a:pPr marL="0" indent="0">
              <a:buNone/>
            </a:pPr>
            <a:r>
              <a:rPr lang="en-US" sz="1600" dirty="0">
                <a:solidFill>
                  <a:schemeClr val="tx2"/>
                </a:solidFill>
              </a:rPr>
              <a:t>Industrial returns climbed while healthcare slipped; high ROE needs a closer look in both</a:t>
            </a:r>
            <a:endParaRPr lang="en-US" sz="1600" dirty="0"/>
          </a:p>
        </p:txBody>
      </p:sp>
      <p:sp>
        <p:nvSpPr>
          <p:cNvPr id="4" name="Text 0"/>
          <p:cNvSpPr>
            <a:spLocks noGrp="1"/>
          </p:cNvSpPr>
          <p:nvPr>
            <p:ph type="body" idx="102" hasCustomPrompt="1"/>
          </p:nvPr>
        </p:nvSpPr>
        <p:spPr>
          <a:xfrm>
            <a:off x="457200" y="4663440"/>
            <a:ext cx="7589520" cy="274320"/>
          </a:xfrm>
          <a:prstGeom prst="rect">
            <a:avLst/>
          </a:prstGeom>
          <a:noFill/>
          <a:ln/>
        </p:spPr>
        <p:txBody>
          <a:bodyPr wrap="square" lIns="0" tIns="0" rIns="0" bIns="0" rtlCol="0" anchor="ctr"/>
          <a:lstStyle/>
          <a:p>
            <a:pPr marL="0" indent="0">
              <a:buNone/>
            </a:pPr>
            <a:r>
              <a:rPr lang="en-US" sz="1000" dirty="0">
                <a:solidFill>
                  <a:schemeClr val="tx2"/>
                </a:solidFill>
              </a:rPr>
              <a:t>Industrials: median ROE, FY2020–25. Healthcare: fixed 40-firm panel, 2020–25. Methods differ; see the comparison caveats.</a:t>
            </a:r>
            <a:endParaRPr lang="en-US" sz="1000" dirty="0"/>
          </a:p>
        </p:txBody>
      </p:sp>
      <p:sp>
        <p:nvSpPr>
          <p:cNvPr id="6" name="Takeaway card 1"/>
          <p:cNvSpPr/>
          <p:nvPr/>
        </p:nvSpPr>
        <p:spPr>
          <a:xfrm>
            <a:off x="457200" y="1554480"/>
            <a:ext cx="4023360" cy="1371600"/>
          </a:xfrm>
          <a:prstGeom prst="roundRect">
            <a:avLst>
              <a:gd name="adj" fmla="val 6667"/>
            </a:avLst>
          </a:prstGeom>
          <a:solidFill>
            <a:schemeClr val="bg2"/>
          </a:solidFill>
          <a:ln/>
        </p:spPr>
        <p:txBody>
          <a:bodyPr/>
          <a:lstStyle/>
          <a:p>
            <a:endParaRPr lang="en-US"/>
          </a:p>
        </p:txBody>
      </p:sp>
      <p:sp>
        <p:nvSpPr>
          <p:cNvPr id="7" name="Takeaway 1 dot"/>
          <p:cNvSpPr/>
          <p:nvPr/>
        </p:nvSpPr>
        <p:spPr>
          <a:xfrm>
            <a:off x="640080" y="1737360"/>
            <a:ext cx="365760" cy="365760"/>
          </a:xfrm>
          <a:prstGeom prst="ellipse">
            <a:avLst/>
          </a:prstGeom>
          <a:solidFill>
            <a:schemeClr val="accent1"/>
          </a:solidFill>
          <a:ln/>
        </p:spPr>
        <p:txBody>
          <a:bodyPr/>
          <a:lstStyle/>
          <a:p>
            <a:endParaRPr lang="en-US"/>
          </a:p>
        </p:txBody>
      </p:sp>
      <p:sp>
        <p:nvSpPr>
          <p:cNvPr id="8" name="Takeaway 1 number"/>
          <p:cNvSpPr txBox="1"/>
          <p:nvPr/>
        </p:nvSpPr>
        <p:spPr>
          <a:xfrm>
            <a:off x="640080" y="1737360"/>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9" name="Takeaway text 1"/>
          <p:cNvSpPr txBox="1"/>
          <p:nvPr/>
        </p:nvSpPr>
        <p:spPr>
          <a:xfrm>
            <a:off x="1188720" y="1691640"/>
            <a:ext cx="3154680" cy="1143000"/>
          </a:xfrm>
          <a:prstGeom prst="rect">
            <a:avLst/>
          </a:prstGeom>
          <a:noFill/>
          <a:ln/>
        </p:spPr>
        <p:txBody>
          <a:bodyPr wrap="square" lIns="0" tIns="0" rIns="0" bIns="0" rtlCol="0" anchor="t"/>
          <a:lstStyle/>
          <a:p>
            <a:pPr marL="0" indent="0">
              <a:buNone/>
            </a:pPr>
            <a:r>
              <a:rPr lang="en-US" sz="1600" b="1" dirty="0">
                <a:solidFill>
                  <a:schemeClr val="tx1"/>
                </a:solidFill>
              </a:rPr>
              <a:t>Diverging paths</a:t>
            </a:r>
            <a:endParaRPr lang="en-US" sz="1400" dirty="0"/>
          </a:p>
          <a:p>
            <a:pPr marL="0" indent="0">
              <a:buNone/>
            </a:pPr>
            <a:r>
              <a:rPr lang="en-US" sz="1400" dirty="0">
                <a:solidFill>
                  <a:schemeClr val="tx1"/>
                </a:solidFill>
              </a:rPr>
              <a:t>Median ROE rose from 19.4% to 25.5% in industrials, but fell from 15.7% to 12.7% in healthcare.</a:t>
            </a:r>
            <a:endParaRPr lang="en-US" sz="1400" dirty="0"/>
          </a:p>
        </p:txBody>
      </p:sp>
      <p:sp>
        <p:nvSpPr>
          <p:cNvPr id="10" name="Takeaway card 2"/>
          <p:cNvSpPr/>
          <p:nvPr/>
        </p:nvSpPr>
        <p:spPr>
          <a:xfrm>
            <a:off x="4663440" y="1554480"/>
            <a:ext cx="4023360" cy="1371600"/>
          </a:xfrm>
          <a:prstGeom prst="roundRect">
            <a:avLst>
              <a:gd name="adj" fmla="val 6667"/>
            </a:avLst>
          </a:prstGeom>
          <a:solidFill>
            <a:schemeClr val="bg2"/>
          </a:solidFill>
          <a:ln/>
        </p:spPr>
        <p:txBody>
          <a:bodyPr/>
          <a:lstStyle/>
          <a:p>
            <a:endParaRPr lang="en-US"/>
          </a:p>
        </p:txBody>
      </p:sp>
      <p:sp>
        <p:nvSpPr>
          <p:cNvPr id="11" name="Takeaway 2 dot"/>
          <p:cNvSpPr/>
          <p:nvPr/>
        </p:nvSpPr>
        <p:spPr>
          <a:xfrm>
            <a:off x="4846320" y="1737360"/>
            <a:ext cx="365760" cy="365760"/>
          </a:xfrm>
          <a:prstGeom prst="ellipse">
            <a:avLst/>
          </a:prstGeom>
          <a:solidFill>
            <a:schemeClr val="accent1"/>
          </a:solidFill>
          <a:ln/>
        </p:spPr>
        <p:txBody>
          <a:bodyPr/>
          <a:lstStyle/>
          <a:p>
            <a:endParaRPr lang="en-US"/>
          </a:p>
        </p:txBody>
      </p:sp>
      <p:sp>
        <p:nvSpPr>
          <p:cNvPr id="12" name="Takeaway 2 number"/>
          <p:cNvSpPr txBox="1"/>
          <p:nvPr/>
        </p:nvSpPr>
        <p:spPr>
          <a:xfrm>
            <a:off x="4846320" y="1737360"/>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3" name="Takeaway text 2"/>
          <p:cNvSpPr txBox="1"/>
          <p:nvPr/>
        </p:nvSpPr>
        <p:spPr>
          <a:xfrm>
            <a:off x="5394960" y="1691640"/>
            <a:ext cx="3154680" cy="1143000"/>
          </a:xfrm>
          <a:prstGeom prst="rect">
            <a:avLst/>
          </a:prstGeom>
          <a:noFill/>
          <a:ln/>
        </p:spPr>
        <p:txBody>
          <a:bodyPr wrap="square" lIns="0" tIns="0" rIns="0" bIns="0" rtlCol="0" anchor="t"/>
          <a:lstStyle/>
          <a:p>
            <a:pPr marL="0" indent="0">
              <a:buNone/>
            </a:pPr>
            <a:r>
              <a:rPr lang="en-US" sz="1600" b="1" dirty="0">
                <a:solidFill>
                  <a:schemeClr val="tx1"/>
                </a:solidFill>
              </a:rPr>
              <a:t>Leverage flatters the top</a:t>
            </a:r>
            <a:endParaRPr lang="en-US" sz="1400" dirty="0"/>
          </a:p>
          <a:p>
            <a:pPr marL="0" indent="0">
              <a:buNone/>
            </a:pPr>
            <a:r>
              <a:rPr lang="en-US" sz="1400" dirty="0">
                <a:solidFill>
                  <a:schemeClr val="tx1"/>
                </a:solidFill>
              </a:rPr>
              <a:t>High-ROE industrial outliers carry 8.9× equity multipliers versus 2.6× typical. Amgen shows the same at 10.5×.</a:t>
            </a:r>
            <a:endParaRPr lang="en-US" sz="1400" dirty="0"/>
          </a:p>
        </p:txBody>
      </p:sp>
      <p:sp>
        <p:nvSpPr>
          <p:cNvPr id="14" name="Takeaway card 3"/>
          <p:cNvSpPr/>
          <p:nvPr/>
        </p:nvSpPr>
        <p:spPr>
          <a:xfrm>
            <a:off x="457200" y="3108960"/>
            <a:ext cx="4023360" cy="1371600"/>
          </a:xfrm>
          <a:prstGeom prst="roundRect">
            <a:avLst>
              <a:gd name="adj" fmla="val 6667"/>
            </a:avLst>
          </a:prstGeom>
          <a:solidFill>
            <a:schemeClr val="bg2"/>
          </a:solidFill>
          <a:ln/>
        </p:spPr>
        <p:txBody>
          <a:bodyPr/>
          <a:lstStyle/>
          <a:p>
            <a:endParaRPr lang="en-US"/>
          </a:p>
        </p:txBody>
      </p:sp>
      <p:sp>
        <p:nvSpPr>
          <p:cNvPr id="15" name="Takeaway 3 dot"/>
          <p:cNvSpPr/>
          <p:nvPr/>
        </p:nvSpPr>
        <p:spPr>
          <a:xfrm>
            <a:off x="640080" y="3291840"/>
            <a:ext cx="365760" cy="365760"/>
          </a:xfrm>
          <a:prstGeom prst="ellipse">
            <a:avLst/>
          </a:prstGeom>
          <a:solidFill>
            <a:schemeClr val="accent1"/>
          </a:solidFill>
          <a:ln/>
        </p:spPr>
        <p:txBody>
          <a:bodyPr/>
          <a:lstStyle/>
          <a:p>
            <a:endParaRPr lang="en-US"/>
          </a:p>
        </p:txBody>
      </p:sp>
      <p:sp>
        <p:nvSpPr>
          <p:cNvPr id="16" name="Takeaway 3 number"/>
          <p:cNvSpPr txBox="1"/>
          <p:nvPr/>
        </p:nvSpPr>
        <p:spPr>
          <a:xfrm>
            <a:off x="640080" y="3291840"/>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7" name="Takeaway text 3"/>
          <p:cNvSpPr txBox="1"/>
          <p:nvPr/>
        </p:nvSpPr>
        <p:spPr>
          <a:xfrm>
            <a:off x="1188720" y="3246120"/>
            <a:ext cx="3154680" cy="1143000"/>
          </a:xfrm>
          <a:prstGeom prst="rect">
            <a:avLst/>
          </a:prstGeom>
          <a:noFill/>
          <a:ln/>
        </p:spPr>
        <p:txBody>
          <a:bodyPr wrap="square" lIns="0" tIns="0" rIns="0" bIns="0" rtlCol="0" anchor="t"/>
          <a:lstStyle/>
          <a:p>
            <a:pPr marL="0" indent="0">
              <a:buNone/>
            </a:pPr>
            <a:r>
              <a:rPr lang="en-US" sz="1600" b="1" dirty="0">
                <a:solidFill>
                  <a:schemeClr val="tx1"/>
                </a:solidFill>
              </a:rPr>
              <a:t>Margin leads the moves</a:t>
            </a:r>
            <a:endParaRPr lang="en-US" sz="1400" dirty="0"/>
          </a:p>
          <a:p>
            <a:pPr marL="0" indent="0">
              <a:buNone/>
            </a:pPr>
            <a:r>
              <a:rPr lang="en-US" sz="1400" dirty="0">
                <a:solidFill>
                  <a:schemeClr val="tx1"/>
                </a:solidFill>
              </a:rPr>
              <a:t>Margin leads 59% of industrial filings and drove +4.34 of healthcare's +3.85 point rise in 2025.</a:t>
            </a:r>
            <a:endParaRPr lang="en-US" sz="1400" dirty="0"/>
          </a:p>
        </p:txBody>
      </p:sp>
      <p:sp>
        <p:nvSpPr>
          <p:cNvPr id="18" name="Takeaway card 4"/>
          <p:cNvSpPr/>
          <p:nvPr/>
        </p:nvSpPr>
        <p:spPr>
          <a:xfrm>
            <a:off x="4663440" y="3108960"/>
            <a:ext cx="4023360" cy="1371600"/>
          </a:xfrm>
          <a:prstGeom prst="roundRect">
            <a:avLst>
              <a:gd name="adj" fmla="val 6667"/>
            </a:avLst>
          </a:prstGeom>
          <a:solidFill>
            <a:schemeClr val="bg2"/>
          </a:solidFill>
          <a:ln/>
        </p:spPr>
        <p:txBody>
          <a:bodyPr/>
          <a:lstStyle/>
          <a:p>
            <a:endParaRPr lang="en-US"/>
          </a:p>
        </p:txBody>
      </p:sp>
      <p:sp>
        <p:nvSpPr>
          <p:cNvPr id="19" name="Takeaway 4 dot"/>
          <p:cNvSpPr/>
          <p:nvPr/>
        </p:nvSpPr>
        <p:spPr>
          <a:xfrm>
            <a:off x="4846320" y="3291840"/>
            <a:ext cx="365760" cy="365760"/>
          </a:xfrm>
          <a:prstGeom prst="ellipse">
            <a:avLst/>
          </a:prstGeom>
          <a:solidFill>
            <a:schemeClr val="accent1"/>
          </a:solidFill>
          <a:ln/>
        </p:spPr>
        <p:txBody>
          <a:bodyPr/>
          <a:lstStyle/>
          <a:p>
            <a:endParaRPr lang="en-US"/>
          </a:p>
        </p:txBody>
      </p:sp>
      <p:sp>
        <p:nvSpPr>
          <p:cNvPr id="20" name="Takeaway 4 number"/>
          <p:cNvSpPr txBox="1"/>
          <p:nvPr/>
        </p:nvSpPr>
        <p:spPr>
          <a:xfrm>
            <a:off x="4846320" y="3291840"/>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21" name="Takeaway text 4"/>
          <p:cNvSpPr txBox="1"/>
          <p:nvPr/>
        </p:nvSpPr>
        <p:spPr>
          <a:xfrm>
            <a:off x="5394960" y="3246120"/>
            <a:ext cx="3154680" cy="1143000"/>
          </a:xfrm>
          <a:prstGeom prst="rect">
            <a:avLst/>
          </a:prstGeom>
          <a:noFill/>
          <a:ln/>
        </p:spPr>
        <p:txBody>
          <a:bodyPr wrap="square" lIns="0" tIns="0" rIns="0" bIns="0" rtlCol="0" anchor="t"/>
          <a:lstStyle/>
          <a:p>
            <a:pPr marL="0" indent="0">
              <a:buNone/>
            </a:pPr>
            <a:r>
              <a:rPr lang="en-US" sz="1600" b="1" dirty="0">
                <a:solidFill>
                  <a:schemeClr val="tx1"/>
                </a:solidFill>
              </a:rPr>
              <a:t>Industrial risk has shifted</a:t>
            </a:r>
            <a:endParaRPr lang="en-US" sz="1400" dirty="0"/>
          </a:p>
          <a:p>
            <a:pPr marL="0" indent="0">
              <a:buNone/>
            </a:pPr>
            <a:r>
              <a:rPr lang="en-US" sz="1400" dirty="0">
                <a:solidFill>
                  <a:schemeClr val="tx1"/>
                </a:solidFill>
              </a:rPr>
              <a:t>COVID faded from 74% to 4% of filings as raw materials, trade and geopolitics took over.</a:t>
            </a:r>
            <a:endParaRPr lang="en-US" sz="14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65760"/>
            <a:ext cx="8229600" cy="640080"/>
          </a:xfrm>
          <a:prstGeom prst="rect">
            <a:avLst/>
          </a:prstGeom>
          <a:noFill/>
          <a:ln/>
        </p:spPr>
        <p:txBody>
          <a:bodyPr wrap="square" lIns="0" tIns="0" rIns="0" bIns="0" rtlCol="0" anchor="t"/>
          <a:lstStyle/>
          <a:p>
            <a:pPr marL="0" indent="0">
              <a:buNone/>
            </a:pPr>
            <a:r>
              <a:rPr lang="en-US" sz="3400" b="1" dirty="0">
                <a:solidFill>
                  <a:schemeClr val="tx1"/>
                </a:solidFill>
              </a:rPr>
              <a:t>What we analyzed</a:t>
            </a:r>
            <a:endParaRPr lang="en-US" sz="3400" dirty="0"/>
          </a:p>
        </p:txBody>
      </p:sp>
      <p:sp>
        <p:nvSpPr>
          <p:cNvPr id="3" name="Text 0"/>
          <p:cNvSpPr>
            <a:spLocks noGrp="1"/>
          </p:cNvSpPr>
          <p:nvPr>
            <p:ph type="body" idx="101" hasCustomPrompt="1"/>
          </p:nvPr>
        </p:nvSpPr>
        <p:spPr>
          <a:xfrm>
            <a:off x="457200" y="1005840"/>
            <a:ext cx="8229600" cy="365760"/>
          </a:xfrm>
          <a:prstGeom prst="rect">
            <a:avLst/>
          </a:prstGeom>
          <a:noFill/>
          <a:ln/>
        </p:spPr>
        <p:txBody>
          <a:bodyPr wrap="square" lIns="0" tIns="0" rIns="0" bIns="0" rtlCol="0" anchor="ctr"/>
          <a:lstStyle/>
          <a:p>
            <a:pPr marL="0" indent="0">
              <a:buNone/>
            </a:pPr>
            <a:r>
              <a:rPr lang="en-US" sz="1600" dirty="0">
                <a:solidFill>
                  <a:schemeClr val="tx2"/>
                </a:solidFill>
              </a:rPr>
              <a:t>Two sectors, one DuPont lens, different sample designs</a:t>
            </a:r>
            <a:endParaRPr lang="en-US" sz="1600" dirty="0"/>
          </a:p>
        </p:txBody>
      </p:sp>
      <p:sp>
        <p:nvSpPr>
          <p:cNvPr id="4" name="Text 0"/>
          <p:cNvSpPr>
            <a:spLocks noGrp="1"/>
          </p:cNvSpPr>
          <p:nvPr>
            <p:ph type="body" idx="102" hasCustomPrompt="1"/>
          </p:nvPr>
        </p:nvSpPr>
        <p:spPr>
          <a:xfrm>
            <a:off x="457200" y="4663440"/>
            <a:ext cx="7589520" cy="274320"/>
          </a:xfrm>
          <a:prstGeom prst="rect">
            <a:avLst/>
          </a:prstGeom>
          <a:noFill/>
          <a:ln/>
        </p:spPr>
        <p:txBody>
          <a:bodyPr wrap="square" lIns="0" tIns="0" rIns="0" bIns="0" rtlCol="0" anchor="ctr"/>
          <a:lstStyle/>
          <a:p>
            <a:pPr marL="0" indent="0">
              <a:buNone/>
            </a:pPr>
            <a:r>
              <a:rPr lang="en-US" sz="1000" dirty="0">
                <a:solidFill>
                  <a:schemeClr val="tx2"/>
                </a:solidFill>
              </a:rPr>
              <a:t>Industrials: FY2020–25 10-K filings. Healthcare: SEC-derived financial panel; 40 firms have all six usable years.</a:t>
            </a:r>
            <a:endParaRPr lang="en-US" sz="1000" dirty="0"/>
          </a:p>
        </p:txBody>
      </p:sp>
      <p:sp>
        <p:nvSpPr>
          <p:cNvPr id="6" name="Industrials heading"/>
          <p:cNvSpPr txBox="1"/>
          <p:nvPr/>
        </p:nvSpPr>
        <p:spPr>
          <a:xfrm>
            <a:off x="457200" y="1508760"/>
            <a:ext cx="4023360" cy="320040"/>
          </a:xfrm>
          <a:prstGeom prst="rect">
            <a:avLst/>
          </a:prstGeom>
          <a:noFill/>
          <a:ln/>
        </p:spPr>
        <p:txBody>
          <a:bodyPr wrap="square" lIns="0" tIns="0" rIns="0" bIns="0" rtlCol="0" anchor="t"/>
          <a:lstStyle/>
          <a:p>
            <a:pPr marL="0" indent="0">
              <a:buNone/>
            </a:pPr>
            <a:r>
              <a:rPr lang="en-US" sz="2000" b="1" dirty="0">
                <a:solidFill>
                  <a:schemeClr val="accent1"/>
                </a:solidFill>
              </a:rPr>
              <a:t>Industrials</a:t>
            </a:r>
            <a:endParaRPr lang="en-US" sz="2000" dirty="0"/>
          </a:p>
        </p:txBody>
      </p:sp>
      <p:sp>
        <p:nvSpPr>
          <p:cNvPr id="7" name="Industrials stat 1 card"/>
          <p:cNvSpPr/>
          <p:nvPr/>
        </p:nvSpPr>
        <p:spPr>
          <a:xfrm>
            <a:off x="457200" y="1920240"/>
            <a:ext cx="1920240" cy="1188720"/>
          </a:xfrm>
          <a:prstGeom prst="roundRect">
            <a:avLst>
              <a:gd name="adj" fmla="val 7692"/>
            </a:avLst>
          </a:prstGeom>
          <a:solidFill>
            <a:schemeClr val="bg2"/>
          </a:solidFill>
          <a:ln/>
        </p:spPr>
        <p:txBody>
          <a:bodyPr/>
          <a:lstStyle/>
          <a:p>
            <a:endParaRPr lang="en-US"/>
          </a:p>
        </p:txBody>
      </p:sp>
      <p:sp>
        <p:nvSpPr>
          <p:cNvPr id="8" name="Industrials stat 1 value"/>
          <p:cNvSpPr txBox="1"/>
          <p:nvPr/>
        </p:nvSpPr>
        <p:spPr>
          <a:xfrm>
            <a:off x="457200" y="2029968"/>
            <a:ext cx="1920240" cy="534924"/>
          </a:xfrm>
          <a:prstGeom prst="rect">
            <a:avLst/>
          </a:prstGeom>
          <a:noFill/>
          <a:ln/>
        </p:spPr>
        <p:txBody>
          <a:bodyPr wrap="square" lIns="0" tIns="0" rIns="0" bIns="0" rtlCol="0" anchor="ctr"/>
          <a:lstStyle/>
          <a:p>
            <a:pPr marL="0" indent="0" algn="ctr">
              <a:buNone/>
            </a:pPr>
            <a:r>
              <a:rPr lang="en-US" sz="3200" b="1" dirty="0">
                <a:solidFill>
                  <a:schemeClr val="accent1"/>
                </a:solidFill>
              </a:rPr>
              <a:t>81</a:t>
            </a:r>
            <a:endParaRPr lang="en-US" sz="3200" dirty="0"/>
          </a:p>
        </p:txBody>
      </p:sp>
      <p:sp>
        <p:nvSpPr>
          <p:cNvPr id="9" name="Industrials stat 1 label"/>
          <p:cNvSpPr txBox="1"/>
          <p:nvPr/>
        </p:nvSpPr>
        <p:spPr>
          <a:xfrm>
            <a:off x="594360" y="2574036"/>
            <a:ext cx="1645920" cy="475488"/>
          </a:xfrm>
          <a:prstGeom prst="rect">
            <a:avLst/>
          </a:prstGeom>
          <a:noFill/>
          <a:ln/>
        </p:spPr>
        <p:txBody>
          <a:bodyPr wrap="square" lIns="0" tIns="0" rIns="0" bIns="0" rtlCol="0" anchor="t"/>
          <a:lstStyle/>
          <a:p>
            <a:pPr marL="0" indent="0" algn="ctr">
              <a:buNone/>
            </a:pPr>
            <a:r>
              <a:rPr lang="en-US" sz="1400" dirty="0">
                <a:solidFill>
                  <a:schemeClr val="tx1"/>
                </a:solidFill>
              </a:rPr>
              <a:t>companies</a:t>
            </a:r>
            <a:endParaRPr lang="en-US" sz="1400" dirty="0"/>
          </a:p>
        </p:txBody>
      </p:sp>
      <p:sp>
        <p:nvSpPr>
          <p:cNvPr id="10" name="Industrials stat 2 card"/>
          <p:cNvSpPr/>
          <p:nvPr/>
        </p:nvSpPr>
        <p:spPr>
          <a:xfrm>
            <a:off x="2560320" y="1920240"/>
            <a:ext cx="1920240" cy="1188720"/>
          </a:xfrm>
          <a:prstGeom prst="roundRect">
            <a:avLst>
              <a:gd name="adj" fmla="val 7692"/>
            </a:avLst>
          </a:prstGeom>
          <a:solidFill>
            <a:schemeClr val="bg2"/>
          </a:solidFill>
          <a:ln/>
        </p:spPr>
        <p:txBody>
          <a:bodyPr/>
          <a:lstStyle/>
          <a:p>
            <a:endParaRPr lang="en-US"/>
          </a:p>
        </p:txBody>
      </p:sp>
      <p:sp>
        <p:nvSpPr>
          <p:cNvPr id="11" name="Industrials stat 2 value"/>
          <p:cNvSpPr txBox="1"/>
          <p:nvPr/>
        </p:nvSpPr>
        <p:spPr>
          <a:xfrm>
            <a:off x="2560320" y="2029968"/>
            <a:ext cx="1920240" cy="534924"/>
          </a:xfrm>
          <a:prstGeom prst="rect">
            <a:avLst/>
          </a:prstGeom>
          <a:noFill/>
          <a:ln/>
        </p:spPr>
        <p:txBody>
          <a:bodyPr wrap="square" lIns="0" tIns="0" rIns="0" bIns="0" rtlCol="0" anchor="ctr"/>
          <a:lstStyle/>
          <a:p>
            <a:pPr marL="0" indent="0" algn="ctr">
              <a:buNone/>
            </a:pPr>
            <a:r>
              <a:rPr lang="en-US" sz="3200" b="1" dirty="0">
                <a:solidFill>
                  <a:schemeClr val="accent1"/>
                </a:solidFill>
              </a:rPr>
              <a:t>472</a:t>
            </a:r>
            <a:endParaRPr lang="en-US" sz="3200" dirty="0"/>
          </a:p>
        </p:txBody>
      </p:sp>
      <p:sp>
        <p:nvSpPr>
          <p:cNvPr id="12" name="Industrials stat 2 label"/>
          <p:cNvSpPr txBox="1"/>
          <p:nvPr/>
        </p:nvSpPr>
        <p:spPr>
          <a:xfrm>
            <a:off x="2697480" y="2574036"/>
            <a:ext cx="1645920" cy="475488"/>
          </a:xfrm>
          <a:prstGeom prst="rect">
            <a:avLst/>
          </a:prstGeom>
          <a:noFill/>
          <a:ln/>
        </p:spPr>
        <p:txBody>
          <a:bodyPr wrap="square" lIns="0" tIns="0" rIns="0" bIns="0" rtlCol="0" anchor="t"/>
          <a:lstStyle/>
          <a:p>
            <a:pPr marL="0" indent="0" algn="ctr">
              <a:buNone/>
            </a:pPr>
            <a:r>
              <a:rPr lang="en-US" sz="1400" dirty="0">
                <a:solidFill>
                  <a:schemeClr val="tx1"/>
                </a:solidFill>
              </a:rPr>
              <a:t>company-year filings</a:t>
            </a:r>
            <a:endParaRPr lang="en-US" sz="1400" dirty="0"/>
          </a:p>
        </p:txBody>
      </p:sp>
      <p:sp>
        <p:nvSpPr>
          <p:cNvPr id="13" name="Industrials stat 3 card"/>
          <p:cNvSpPr/>
          <p:nvPr/>
        </p:nvSpPr>
        <p:spPr>
          <a:xfrm>
            <a:off x="457200" y="3291840"/>
            <a:ext cx="1920240" cy="1188720"/>
          </a:xfrm>
          <a:prstGeom prst="roundRect">
            <a:avLst>
              <a:gd name="adj" fmla="val 7692"/>
            </a:avLst>
          </a:prstGeom>
          <a:solidFill>
            <a:schemeClr val="bg2"/>
          </a:solidFill>
          <a:ln/>
        </p:spPr>
        <p:txBody>
          <a:bodyPr/>
          <a:lstStyle/>
          <a:p>
            <a:endParaRPr lang="en-US"/>
          </a:p>
        </p:txBody>
      </p:sp>
      <p:sp>
        <p:nvSpPr>
          <p:cNvPr id="14" name="Industrials stat 3 value"/>
          <p:cNvSpPr txBox="1"/>
          <p:nvPr/>
        </p:nvSpPr>
        <p:spPr>
          <a:xfrm>
            <a:off x="457200" y="3401568"/>
            <a:ext cx="1920240" cy="534924"/>
          </a:xfrm>
          <a:prstGeom prst="rect">
            <a:avLst/>
          </a:prstGeom>
          <a:noFill/>
          <a:ln/>
        </p:spPr>
        <p:txBody>
          <a:bodyPr wrap="square" lIns="0" tIns="0" rIns="0" bIns="0" rtlCol="0" anchor="ctr"/>
          <a:lstStyle/>
          <a:p>
            <a:pPr marL="0" indent="0" algn="ctr">
              <a:buNone/>
            </a:pPr>
            <a:r>
              <a:rPr lang="en-US" sz="3200" b="1" dirty="0">
                <a:solidFill>
                  <a:schemeClr val="accent1"/>
                </a:solidFill>
              </a:rPr>
              <a:t>6</a:t>
            </a:r>
            <a:endParaRPr lang="en-US" sz="3200" dirty="0"/>
          </a:p>
        </p:txBody>
      </p:sp>
      <p:sp>
        <p:nvSpPr>
          <p:cNvPr id="15" name="Industrials stat 3 label"/>
          <p:cNvSpPr txBox="1"/>
          <p:nvPr/>
        </p:nvSpPr>
        <p:spPr>
          <a:xfrm>
            <a:off x="594360" y="3945636"/>
            <a:ext cx="1645920" cy="475488"/>
          </a:xfrm>
          <a:prstGeom prst="rect">
            <a:avLst/>
          </a:prstGeom>
          <a:noFill/>
          <a:ln/>
        </p:spPr>
        <p:txBody>
          <a:bodyPr wrap="square" lIns="0" tIns="0" rIns="0" bIns="0" rtlCol="0" anchor="t"/>
          <a:lstStyle/>
          <a:p>
            <a:pPr marL="0" indent="0" algn="ctr">
              <a:buNone/>
            </a:pPr>
            <a:r>
              <a:rPr lang="en-US" sz="1400" dirty="0">
                <a:solidFill>
                  <a:schemeClr val="tx1"/>
                </a:solidFill>
              </a:rPr>
              <a:t>fiscal years, FY2020–25</a:t>
            </a:r>
            <a:endParaRPr lang="en-US" sz="1400" dirty="0"/>
          </a:p>
        </p:txBody>
      </p:sp>
      <p:sp>
        <p:nvSpPr>
          <p:cNvPr id="16" name="Industrials stat 4 card"/>
          <p:cNvSpPr/>
          <p:nvPr/>
        </p:nvSpPr>
        <p:spPr>
          <a:xfrm>
            <a:off x="2560320" y="3291840"/>
            <a:ext cx="1920240" cy="1188720"/>
          </a:xfrm>
          <a:prstGeom prst="roundRect">
            <a:avLst>
              <a:gd name="adj" fmla="val 7692"/>
            </a:avLst>
          </a:prstGeom>
          <a:solidFill>
            <a:schemeClr val="bg2"/>
          </a:solidFill>
          <a:ln/>
        </p:spPr>
        <p:txBody>
          <a:bodyPr/>
          <a:lstStyle/>
          <a:p>
            <a:endParaRPr lang="en-US"/>
          </a:p>
        </p:txBody>
      </p:sp>
      <p:sp>
        <p:nvSpPr>
          <p:cNvPr id="17" name="Industrials stat 4 value"/>
          <p:cNvSpPr txBox="1"/>
          <p:nvPr/>
        </p:nvSpPr>
        <p:spPr>
          <a:xfrm>
            <a:off x="2560320" y="3401568"/>
            <a:ext cx="1920240" cy="534924"/>
          </a:xfrm>
          <a:prstGeom prst="rect">
            <a:avLst/>
          </a:prstGeom>
          <a:noFill/>
          <a:ln/>
        </p:spPr>
        <p:txBody>
          <a:bodyPr wrap="square" lIns="0" tIns="0" rIns="0" bIns="0" rtlCol="0" anchor="ctr"/>
          <a:lstStyle/>
          <a:p>
            <a:pPr marL="0" indent="0" algn="ctr">
              <a:buNone/>
            </a:pPr>
            <a:r>
              <a:rPr lang="en-US" sz="3200" b="1" dirty="0">
                <a:solidFill>
                  <a:schemeClr val="accent1"/>
                </a:solidFill>
              </a:rPr>
              <a:t>94%</a:t>
            </a:r>
            <a:endParaRPr lang="en-US" sz="3200" dirty="0"/>
          </a:p>
        </p:txBody>
      </p:sp>
      <p:sp>
        <p:nvSpPr>
          <p:cNvPr id="18" name="Industrials stat 4 label"/>
          <p:cNvSpPr txBox="1"/>
          <p:nvPr/>
        </p:nvSpPr>
        <p:spPr>
          <a:xfrm>
            <a:off x="2697480" y="3945636"/>
            <a:ext cx="1645920" cy="475488"/>
          </a:xfrm>
          <a:prstGeom prst="rect">
            <a:avLst/>
          </a:prstGeom>
          <a:noFill/>
          <a:ln/>
        </p:spPr>
        <p:txBody>
          <a:bodyPr wrap="square" lIns="0" tIns="0" rIns="0" bIns="0" rtlCol="0" anchor="t"/>
          <a:lstStyle/>
          <a:p>
            <a:pPr marL="0" indent="0" algn="ctr">
              <a:buNone/>
            </a:pPr>
            <a:r>
              <a:rPr lang="en-US" sz="1400" dirty="0">
                <a:solidFill>
                  <a:schemeClr val="tx1"/>
                </a:solidFill>
              </a:rPr>
              <a:t>with usable risk text</a:t>
            </a:r>
            <a:endParaRPr lang="en-US" sz="1400" dirty="0"/>
          </a:p>
        </p:txBody>
      </p:sp>
      <p:sp>
        <p:nvSpPr>
          <p:cNvPr id="19" name="Healthcare heading"/>
          <p:cNvSpPr txBox="1"/>
          <p:nvPr/>
        </p:nvSpPr>
        <p:spPr>
          <a:xfrm>
            <a:off x="4663440" y="1508760"/>
            <a:ext cx="4023360" cy="320040"/>
          </a:xfrm>
          <a:prstGeom prst="rect">
            <a:avLst/>
          </a:prstGeom>
          <a:noFill/>
          <a:ln/>
        </p:spPr>
        <p:txBody>
          <a:bodyPr wrap="square" lIns="0" tIns="0" rIns="0" bIns="0" rtlCol="0" anchor="t"/>
          <a:lstStyle/>
          <a:p>
            <a:pPr marL="0" indent="0">
              <a:buNone/>
            </a:pPr>
            <a:r>
              <a:rPr lang="en-US" sz="2000" b="1" dirty="0">
                <a:solidFill>
                  <a:schemeClr val="accent2"/>
                </a:solidFill>
              </a:rPr>
              <a:t>Healthcare</a:t>
            </a:r>
            <a:endParaRPr lang="en-US" sz="2000" dirty="0"/>
          </a:p>
        </p:txBody>
      </p:sp>
      <p:sp>
        <p:nvSpPr>
          <p:cNvPr id="20" name="Healthcare stat 1 card"/>
          <p:cNvSpPr/>
          <p:nvPr/>
        </p:nvSpPr>
        <p:spPr>
          <a:xfrm>
            <a:off x="4663440" y="1920240"/>
            <a:ext cx="1920240" cy="1188720"/>
          </a:xfrm>
          <a:prstGeom prst="roundRect">
            <a:avLst>
              <a:gd name="adj" fmla="val 7692"/>
            </a:avLst>
          </a:prstGeom>
          <a:solidFill>
            <a:schemeClr val="bg2"/>
          </a:solidFill>
          <a:ln/>
        </p:spPr>
        <p:txBody>
          <a:bodyPr/>
          <a:lstStyle/>
          <a:p>
            <a:endParaRPr lang="en-US"/>
          </a:p>
        </p:txBody>
      </p:sp>
      <p:sp>
        <p:nvSpPr>
          <p:cNvPr id="21" name="Healthcare stat 1 value"/>
          <p:cNvSpPr txBox="1"/>
          <p:nvPr/>
        </p:nvSpPr>
        <p:spPr>
          <a:xfrm>
            <a:off x="4663440" y="2029968"/>
            <a:ext cx="1920240" cy="534924"/>
          </a:xfrm>
          <a:prstGeom prst="rect">
            <a:avLst/>
          </a:prstGeom>
          <a:noFill/>
          <a:ln/>
        </p:spPr>
        <p:txBody>
          <a:bodyPr wrap="square" lIns="0" tIns="0" rIns="0" bIns="0" rtlCol="0" anchor="ctr"/>
          <a:lstStyle/>
          <a:p>
            <a:pPr marL="0" indent="0" algn="ctr">
              <a:buNone/>
            </a:pPr>
            <a:r>
              <a:rPr lang="en-US" sz="3200" b="1" dirty="0">
                <a:solidFill>
                  <a:schemeClr val="accent2"/>
                </a:solidFill>
              </a:rPr>
              <a:t>43</a:t>
            </a:r>
            <a:endParaRPr lang="en-US" sz="3200" dirty="0"/>
          </a:p>
        </p:txBody>
      </p:sp>
      <p:sp>
        <p:nvSpPr>
          <p:cNvPr id="22" name="Healthcare stat 1 label"/>
          <p:cNvSpPr txBox="1"/>
          <p:nvPr/>
        </p:nvSpPr>
        <p:spPr>
          <a:xfrm>
            <a:off x="4800600" y="2574036"/>
            <a:ext cx="1645920" cy="475488"/>
          </a:xfrm>
          <a:prstGeom prst="rect">
            <a:avLst/>
          </a:prstGeom>
          <a:noFill/>
          <a:ln/>
        </p:spPr>
        <p:txBody>
          <a:bodyPr wrap="square" lIns="0" tIns="0" rIns="0" bIns="0" rtlCol="0" anchor="t"/>
          <a:lstStyle/>
          <a:p>
            <a:pPr marL="0" indent="0" algn="ctr">
              <a:buNone/>
            </a:pPr>
            <a:r>
              <a:rPr lang="en-US" sz="1400" dirty="0">
                <a:solidFill>
                  <a:schemeClr val="tx1"/>
                </a:solidFill>
              </a:rPr>
              <a:t>eligible firms</a:t>
            </a:r>
            <a:endParaRPr lang="en-US" sz="1400" dirty="0"/>
          </a:p>
        </p:txBody>
      </p:sp>
      <p:sp>
        <p:nvSpPr>
          <p:cNvPr id="23" name="Healthcare stat 2 card"/>
          <p:cNvSpPr/>
          <p:nvPr/>
        </p:nvSpPr>
        <p:spPr>
          <a:xfrm>
            <a:off x="6766560" y="1920240"/>
            <a:ext cx="1920240" cy="1188720"/>
          </a:xfrm>
          <a:prstGeom prst="roundRect">
            <a:avLst>
              <a:gd name="adj" fmla="val 7692"/>
            </a:avLst>
          </a:prstGeom>
          <a:solidFill>
            <a:schemeClr val="bg2"/>
          </a:solidFill>
          <a:ln/>
        </p:spPr>
        <p:txBody>
          <a:bodyPr/>
          <a:lstStyle/>
          <a:p>
            <a:endParaRPr lang="en-US"/>
          </a:p>
        </p:txBody>
      </p:sp>
      <p:sp>
        <p:nvSpPr>
          <p:cNvPr id="24" name="Healthcare stat 2 value"/>
          <p:cNvSpPr txBox="1"/>
          <p:nvPr/>
        </p:nvSpPr>
        <p:spPr>
          <a:xfrm>
            <a:off x="6766560" y="2029968"/>
            <a:ext cx="1920240" cy="534924"/>
          </a:xfrm>
          <a:prstGeom prst="rect">
            <a:avLst/>
          </a:prstGeom>
          <a:noFill/>
          <a:ln/>
        </p:spPr>
        <p:txBody>
          <a:bodyPr wrap="square" lIns="0" tIns="0" rIns="0" bIns="0" rtlCol="0" anchor="ctr"/>
          <a:lstStyle/>
          <a:p>
            <a:pPr marL="0" indent="0" algn="ctr">
              <a:buNone/>
            </a:pPr>
            <a:r>
              <a:rPr lang="en-US" sz="3200" b="1" dirty="0">
                <a:solidFill>
                  <a:schemeClr val="accent2"/>
                </a:solidFill>
              </a:rPr>
              <a:t>255</a:t>
            </a:r>
            <a:endParaRPr lang="en-US" sz="3200" dirty="0"/>
          </a:p>
        </p:txBody>
      </p:sp>
      <p:sp>
        <p:nvSpPr>
          <p:cNvPr id="25" name="Healthcare stat 2 label"/>
          <p:cNvSpPr txBox="1"/>
          <p:nvPr/>
        </p:nvSpPr>
        <p:spPr>
          <a:xfrm>
            <a:off x="6903720" y="2574036"/>
            <a:ext cx="1645920" cy="475488"/>
          </a:xfrm>
          <a:prstGeom prst="rect">
            <a:avLst/>
          </a:prstGeom>
          <a:noFill/>
          <a:ln/>
        </p:spPr>
        <p:txBody>
          <a:bodyPr wrap="square" lIns="0" tIns="0" rIns="0" bIns="0" rtlCol="0" anchor="t"/>
          <a:lstStyle/>
          <a:p>
            <a:pPr marL="0" indent="0" algn="ctr">
              <a:buNone/>
            </a:pPr>
            <a:r>
              <a:rPr lang="en-US" sz="1400" dirty="0">
                <a:solidFill>
                  <a:schemeClr val="tx1"/>
                </a:solidFill>
              </a:rPr>
              <a:t>company-years</a:t>
            </a:r>
            <a:endParaRPr lang="en-US" sz="1400" dirty="0"/>
          </a:p>
        </p:txBody>
      </p:sp>
      <p:sp>
        <p:nvSpPr>
          <p:cNvPr id="26" name="Healthcare stat 3 card"/>
          <p:cNvSpPr/>
          <p:nvPr/>
        </p:nvSpPr>
        <p:spPr>
          <a:xfrm>
            <a:off x="4663440" y="3291840"/>
            <a:ext cx="1920240" cy="1188720"/>
          </a:xfrm>
          <a:prstGeom prst="roundRect">
            <a:avLst>
              <a:gd name="adj" fmla="val 7692"/>
            </a:avLst>
          </a:prstGeom>
          <a:solidFill>
            <a:schemeClr val="bg2"/>
          </a:solidFill>
          <a:ln/>
        </p:spPr>
        <p:txBody>
          <a:bodyPr/>
          <a:lstStyle/>
          <a:p>
            <a:endParaRPr lang="en-US"/>
          </a:p>
        </p:txBody>
      </p:sp>
      <p:sp>
        <p:nvSpPr>
          <p:cNvPr id="27" name="Healthcare stat 3 value"/>
          <p:cNvSpPr txBox="1"/>
          <p:nvPr/>
        </p:nvSpPr>
        <p:spPr>
          <a:xfrm>
            <a:off x="4663440" y="3401568"/>
            <a:ext cx="1920240" cy="534924"/>
          </a:xfrm>
          <a:prstGeom prst="rect">
            <a:avLst/>
          </a:prstGeom>
          <a:noFill/>
          <a:ln/>
        </p:spPr>
        <p:txBody>
          <a:bodyPr wrap="square" lIns="0" tIns="0" rIns="0" bIns="0" rtlCol="0" anchor="ctr"/>
          <a:lstStyle/>
          <a:p>
            <a:pPr marL="0" indent="0" algn="ctr">
              <a:buNone/>
            </a:pPr>
            <a:r>
              <a:rPr lang="en-US" sz="3200" b="1" dirty="0">
                <a:solidFill>
                  <a:schemeClr val="accent2"/>
                </a:solidFill>
              </a:rPr>
              <a:t>40</a:t>
            </a:r>
            <a:endParaRPr lang="en-US" sz="3200" dirty="0"/>
          </a:p>
        </p:txBody>
      </p:sp>
      <p:sp>
        <p:nvSpPr>
          <p:cNvPr id="28" name="Healthcare stat 3 label"/>
          <p:cNvSpPr txBox="1"/>
          <p:nvPr/>
        </p:nvSpPr>
        <p:spPr>
          <a:xfrm>
            <a:off x="4800600" y="3945636"/>
            <a:ext cx="1645920" cy="475488"/>
          </a:xfrm>
          <a:prstGeom prst="rect">
            <a:avLst/>
          </a:prstGeom>
          <a:noFill/>
          <a:ln/>
        </p:spPr>
        <p:txBody>
          <a:bodyPr wrap="square" lIns="0" tIns="0" rIns="0" bIns="0" rtlCol="0" anchor="t"/>
          <a:lstStyle/>
          <a:p>
            <a:pPr marL="0" indent="0" algn="ctr">
              <a:buNone/>
            </a:pPr>
            <a:r>
              <a:rPr lang="en-US" sz="1400" dirty="0">
                <a:solidFill>
                  <a:schemeClr val="tx1"/>
                </a:solidFill>
              </a:rPr>
              <a:t>firms with all six years</a:t>
            </a:r>
            <a:endParaRPr lang="en-US" sz="1400" dirty="0"/>
          </a:p>
        </p:txBody>
      </p:sp>
      <p:sp>
        <p:nvSpPr>
          <p:cNvPr id="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65760"/>
            <a:ext cx="8229600" cy="640080"/>
          </a:xfrm>
          <a:prstGeom prst="rect">
            <a:avLst/>
          </a:prstGeom>
          <a:noFill/>
          <a:ln/>
        </p:spPr>
        <p:txBody>
          <a:bodyPr wrap="square" lIns="0" tIns="0" rIns="0" bIns="0" rtlCol="0" anchor="t"/>
          <a:lstStyle/>
          <a:p>
            <a:pPr marL="0" indent="0">
              <a:buNone/>
            </a:pPr>
            <a:r>
              <a:rPr lang="en-US" sz="3400" b="1" dirty="0">
                <a:solidFill>
                  <a:schemeClr val="tx1"/>
                </a:solidFill>
              </a:rPr>
              <a:t>How ROE is built</a:t>
            </a:r>
            <a:endParaRPr lang="en-US" sz="3400" dirty="0"/>
          </a:p>
        </p:txBody>
      </p:sp>
      <p:sp>
        <p:nvSpPr>
          <p:cNvPr id="3" name="Text 0"/>
          <p:cNvSpPr>
            <a:spLocks noGrp="1"/>
          </p:cNvSpPr>
          <p:nvPr>
            <p:ph type="body" idx="101" hasCustomPrompt="1"/>
          </p:nvPr>
        </p:nvSpPr>
        <p:spPr>
          <a:xfrm>
            <a:off x="457200" y="1005840"/>
            <a:ext cx="8229600" cy="365760"/>
          </a:xfrm>
          <a:prstGeom prst="rect">
            <a:avLst/>
          </a:prstGeom>
          <a:noFill/>
          <a:ln/>
        </p:spPr>
        <p:txBody>
          <a:bodyPr wrap="square" lIns="0" tIns="0" rIns="0" bIns="0" rtlCol="0" anchor="ctr"/>
          <a:lstStyle/>
          <a:p>
            <a:pPr marL="0" indent="0">
              <a:buNone/>
            </a:pPr>
            <a:r>
              <a:rPr lang="en-US" sz="1600" dirty="0">
                <a:solidFill>
                  <a:schemeClr val="tx2"/>
                </a:solidFill>
              </a:rPr>
              <a:t>ROE splits into margin, asset turnover and leverage</a:t>
            </a:r>
            <a:endParaRPr lang="en-US" sz="1600" dirty="0"/>
          </a:p>
        </p:txBody>
      </p:sp>
      <p:sp>
        <p:nvSpPr>
          <p:cNvPr id="4" name="Text 0"/>
          <p:cNvSpPr>
            <a:spLocks noGrp="1"/>
          </p:cNvSpPr>
          <p:nvPr>
            <p:ph type="body" idx="102" hasCustomPrompt="1"/>
          </p:nvPr>
        </p:nvSpPr>
        <p:spPr>
          <a:xfrm>
            <a:off x="457200" y="4663440"/>
            <a:ext cx="7589520" cy="274320"/>
          </a:xfrm>
          <a:prstGeom prst="rect">
            <a:avLst/>
          </a:prstGeom>
          <a:noFill/>
          <a:ln/>
        </p:spPr>
        <p:txBody>
          <a:bodyPr wrap="square" lIns="0" tIns="0" rIns="0" bIns="0" rtlCol="0" anchor="ctr"/>
          <a:lstStyle/>
          <a:p>
            <a:pPr marL="0" indent="0">
              <a:buNone/>
            </a:pPr>
            <a:r>
              <a:rPr lang="en-US" sz="1000" dirty="0">
                <a:solidFill>
                  <a:schemeClr val="tx2"/>
                </a:solidFill>
              </a:rPr>
              <a:t>ROE is an accounting return on year-end book equity. A small or negative equity base inflates it.</a:t>
            </a:r>
            <a:endParaRPr lang="en-US" sz="1000" dirty="0"/>
          </a:p>
        </p:txBody>
      </p:sp>
      <p:sp>
        <p:nvSpPr>
          <p:cNvPr id="6" name="DuPont card 1"/>
          <p:cNvSpPr/>
          <p:nvPr/>
        </p:nvSpPr>
        <p:spPr>
          <a:xfrm>
            <a:off x="457200" y="1600200"/>
            <a:ext cx="1783080" cy="1600200"/>
          </a:xfrm>
          <a:prstGeom prst="roundRect">
            <a:avLst>
              <a:gd name="adj" fmla="val 5714"/>
            </a:avLst>
          </a:prstGeom>
          <a:solidFill>
            <a:schemeClr val="bg2"/>
          </a:solidFill>
          <a:ln/>
        </p:spPr>
        <p:txBody>
          <a:bodyPr/>
          <a:lstStyle/>
          <a:p>
            <a:endParaRPr lang="en-US"/>
          </a:p>
        </p:txBody>
      </p:sp>
      <p:sp>
        <p:nvSpPr>
          <p:cNvPr id="7" name="DuPont text 1"/>
          <p:cNvSpPr txBox="1"/>
          <p:nvPr/>
        </p:nvSpPr>
        <p:spPr>
          <a:xfrm>
            <a:off x="594360" y="1737360"/>
            <a:ext cx="1508760" cy="1371600"/>
          </a:xfrm>
          <a:prstGeom prst="rect">
            <a:avLst/>
          </a:prstGeom>
          <a:noFill/>
          <a:ln/>
        </p:spPr>
        <p:txBody>
          <a:bodyPr wrap="square" lIns="0" tIns="0" rIns="0" bIns="0" rtlCol="0" anchor="t"/>
          <a:lstStyle/>
          <a:p>
            <a:pPr marL="0" indent="0">
              <a:buNone/>
            </a:pPr>
            <a:r>
              <a:rPr lang="en-US" sz="1600" b="1" dirty="0">
                <a:solidFill>
                  <a:schemeClr val="tx1"/>
                </a:solidFill>
              </a:rPr>
              <a:t>Profit margin</a:t>
            </a:r>
            <a:endParaRPr lang="en-US" sz="1400" dirty="0"/>
          </a:p>
          <a:p>
            <a:pPr marL="0" indent="0">
              <a:buNone/>
            </a:pPr>
            <a:r>
              <a:rPr lang="en-US" sz="1400" dirty="0">
                <a:solidFill>
                  <a:schemeClr val="tx1"/>
                </a:solidFill>
              </a:rPr>
              <a:t>Net income ÷ revenue</a:t>
            </a:r>
            <a:endParaRPr lang="en-US" sz="1400" dirty="0"/>
          </a:p>
          <a:p>
            <a:pPr marL="0" indent="0">
              <a:buNone/>
            </a:pPr>
            <a:r>
              <a:rPr lang="en-US" sz="1400" dirty="0">
                <a:solidFill>
                  <a:schemeClr val="tx1"/>
                </a:solidFill>
              </a:rPr>
              <a:t>Profit kept from each sales dollar</a:t>
            </a:r>
            <a:endParaRPr lang="en-US" sz="1400" dirty="0"/>
          </a:p>
        </p:txBody>
      </p:sp>
      <p:sp>
        <p:nvSpPr>
          <p:cNvPr id="8" name="Operator 1"/>
          <p:cNvSpPr txBox="1"/>
          <p:nvPr/>
        </p:nvSpPr>
        <p:spPr>
          <a:xfrm>
            <a:off x="2240280" y="2103120"/>
            <a:ext cx="365760" cy="548640"/>
          </a:xfrm>
          <a:prstGeom prst="rect">
            <a:avLst/>
          </a:prstGeom>
          <a:noFill/>
          <a:ln/>
        </p:spPr>
        <p:txBody>
          <a:bodyPr wrap="square" lIns="0" tIns="0" rIns="0" bIns="0" rtlCol="0" anchor="ctr"/>
          <a:lstStyle/>
          <a:p>
            <a:pPr marL="0" indent="0" algn="ctr">
              <a:buNone/>
            </a:pPr>
            <a:r>
              <a:rPr lang="en-US" sz="2800" b="1" dirty="0">
                <a:solidFill>
                  <a:schemeClr val="tx2"/>
                </a:solidFill>
              </a:rPr>
              <a:t>×</a:t>
            </a:r>
            <a:endParaRPr lang="en-US" sz="2800" dirty="0"/>
          </a:p>
        </p:txBody>
      </p:sp>
      <p:sp>
        <p:nvSpPr>
          <p:cNvPr id="9" name="DuPont card 2"/>
          <p:cNvSpPr/>
          <p:nvPr/>
        </p:nvSpPr>
        <p:spPr>
          <a:xfrm>
            <a:off x="2606040" y="1600200"/>
            <a:ext cx="1783080" cy="1600200"/>
          </a:xfrm>
          <a:prstGeom prst="roundRect">
            <a:avLst>
              <a:gd name="adj" fmla="val 5714"/>
            </a:avLst>
          </a:prstGeom>
          <a:solidFill>
            <a:schemeClr val="bg2"/>
          </a:solidFill>
          <a:ln/>
        </p:spPr>
        <p:txBody>
          <a:bodyPr/>
          <a:lstStyle/>
          <a:p>
            <a:endParaRPr lang="en-US"/>
          </a:p>
        </p:txBody>
      </p:sp>
      <p:sp>
        <p:nvSpPr>
          <p:cNvPr id="10" name="DuPont text 2"/>
          <p:cNvSpPr txBox="1"/>
          <p:nvPr/>
        </p:nvSpPr>
        <p:spPr>
          <a:xfrm>
            <a:off x="2743200" y="1737360"/>
            <a:ext cx="1508760" cy="1371600"/>
          </a:xfrm>
          <a:prstGeom prst="rect">
            <a:avLst/>
          </a:prstGeom>
          <a:noFill/>
          <a:ln/>
        </p:spPr>
        <p:txBody>
          <a:bodyPr wrap="square" lIns="0" tIns="0" rIns="0" bIns="0" rtlCol="0" anchor="t"/>
          <a:lstStyle/>
          <a:p>
            <a:pPr marL="0" indent="0">
              <a:buNone/>
            </a:pPr>
            <a:r>
              <a:rPr lang="en-US" sz="1600" b="1" dirty="0">
                <a:solidFill>
                  <a:schemeClr val="tx1"/>
                </a:solidFill>
              </a:rPr>
              <a:t>Asset turnover</a:t>
            </a:r>
            <a:endParaRPr lang="en-US" sz="1400" dirty="0"/>
          </a:p>
          <a:p>
            <a:pPr marL="0" indent="0">
              <a:buNone/>
            </a:pPr>
            <a:r>
              <a:rPr lang="en-US" sz="1400" dirty="0">
                <a:solidFill>
                  <a:schemeClr val="tx1"/>
                </a:solidFill>
              </a:rPr>
              <a:t>Revenue ÷ assets</a:t>
            </a:r>
            <a:endParaRPr lang="en-US" sz="1400" dirty="0"/>
          </a:p>
          <a:p>
            <a:pPr marL="0" indent="0">
              <a:buNone/>
            </a:pPr>
            <a:r>
              <a:rPr lang="en-US" sz="1400" dirty="0">
                <a:solidFill>
                  <a:schemeClr val="tx1"/>
                </a:solidFill>
              </a:rPr>
              <a:t>How hard the assets work</a:t>
            </a:r>
            <a:endParaRPr lang="en-US" sz="1400" dirty="0"/>
          </a:p>
        </p:txBody>
      </p:sp>
      <p:sp>
        <p:nvSpPr>
          <p:cNvPr id="11" name="Operator 2"/>
          <p:cNvSpPr txBox="1"/>
          <p:nvPr/>
        </p:nvSpPr>
        <p:spPr>
          <a:xfrm>
            <a:off x="4389120" y="2103120"/>
            <a:ext cx="365760" cy="548640"/>
          </a:xfrm>
          <a:prstGeom prst="rect">
            <a:avLst/>
          </a:prstGeom>
          <a:noFill/>
          <a:ln/>
        </p:spPr>
        <p:txBody>
          <a:bodyPr wrap="square" lIns="0" tIns="0" rIns="0" bIns="0" rtlCol="0" anchor="ctr"/>
          <a:lstStyle/>
          <a:p>
            <a:pPr marL="0" indent="0" algn="ctr">
              <a:buNone/>
            </a:pPr>
            <a:r>
              <a:rPr lang="en-US" sz="2800" b="1" dirty="0">
                <a:solidFill>
                  <a:schemeClr val="tx2"/>
                </a:solidFill>
              </a:rPr>
              <a:t>×</a:t>
            </a:r>
            <a:endParaRPr lang="en-US" sz="2800" dirty="0"/>
          </a:p>
        </p:txBody>
      </p:sp>
      <p:sp>
        <p:nvSpPr>
          <p:cNvPr id="12" name="DuPont card 3"/>
          <p:cNvSpPr/>
          <p:nvPr/>
        </p:nvSpPr>
        <p:spPr>
          <a:xfrm>
            <a:off x="4754880" y="1600200"/>
            <a:ext cx="1783080" cy="1600200"/>
          </a:xfrm>
          <a:prstGeom prst="roundRect">
            <a:avLst>
              <a:gd name="adj" fmla="val 5714"/>
            </a:avLst>
          </a:prstGeom>
          <a:solidFill>
            <a:schemeClr val="bg2"/>
          </a:solidFill>
          <a:ln/>
        </p:spPr>
        <p:txBody>
          <a:bodyPr/>
          <a:lstStyle/>
          <a:p>
            <a:endParaRPr lang="en-US"/>
          </a:p>
        </p:txBody>
      </p:sp>
      <p:sp>
        <p:nvSpPr>
          <p:cNvPr id="13" name="DuPont text 3"/>
          <p:cNvSpPr txBox="1"/>
          <p:nvPr/>
        </p:nvSpPr>
        <p:spPr>
          <a:xfrm>
            <a:off x="4892040" y="1737360"/>
            <a:ext cx="1508760" cy="1371600"/>
          </a:xfrm>
          <a:prstGeom prst="rect">
            <a:avLst/>
          </a:prstGeom>
          <a:noFill/>
          <a:ln/>
        </p:spPr>
        <p:txBody>
          <a:bodyPr wrap="square" lIns="0" tIns="0" rIns="0" bIns="0" rtlCol="0" anchor="t"/>
          <a:lstStyle/>
          <a:p>
            <a:pPr marL="0" indent="0">
              <a:buNone/>
            </a:pPr>
            <a:r>
              <a:rPr lang="en-US" sz="1600" b="1" dirty="0">
                <a:solidFill>
                  <a:schemeClr val="tx1"/>
                </a:solidFill>
              </a:rPr>
              <a:t>Equity multiplier</a:t>
            </a:r>
            <a:endParaRPr lang="en-US" sz="1400" dirty="0"/>
          </a:p>
          <a:p>
            <a:pPr marL="0" indent="0">
              <a:buNone/>
            </a:pPr>
            <a:r>
              <a:rPr lang="en-US" sz="1400" dirty="0">
                <a:solidFill>
                  <a:schemeClr val="tx1"/>
                </a:solidFill>
              </a:rPr>
              <a:t>Assets ÷ equity</a:t>
            </a:r>
            <a:endParaRPr lang="en-US" sz="1400" dirty="0"/>
          </a:p>
          <a:p>
            <a:pPr marL="0" indent="0">
              <a:buNone/>
            </a:pPr>
            <a:r>
              <a:rPr lang="en-US" sz="1400" dirty="0">
                <a:solidFill>
                  <a:schemeClr val="tx1"/>
                </a:solidFill>
              </a:rPr>
              <a:t>How much leverage is used</a:t>
            </a:r>
            <a:endParaRPr lang="en-US" sz="1400" dirty="0"/>
          </a:p>
        </p:txBody>
      </p:sp>
      <p:sp>
        <p:nvSpPr>
          <p:cNvPr id="14" name="Operator 3"/>
          <p:cNvSpPr txBox="1"/>
          <p:nvPr/>
        </p:nvSpPr>
        <p:spPr>
          <a:xfrm>
            <a:off x="6537960" y="2103120"/>
            <a:ext cx="365760" cy="548640"/>
          </a:xfrm>
          <a:prstGeom prst="rect">
            <a:avLst/>
          </a:prstGeom>
          <a:noFill/>
          <a:ln/>
        </p:spPr>
        <p:txBody>
          <a:bodyPr wrap="square" lIns="0" tIns="0" rIns="0" bIns="0" rtlCol="0" anchor="ctr"/>
          <a:lstStyle/>
          <a:p>
            <a:pPr marL="0" indent="0" algn="ctr">
              <a:buNone/>
            </a:pPr>
            <a:r>
              <a:rPr lang="en-US" sz="2800" b="1" dirty="0">
                <a:solidFill>
                  <a:schemeClr val="tx2"/>
                </a:solidFill>
              </a:rPr>
              <a:t>=</a:t>
            </a:r>
            <a:endParaRPr lang="en-US" sz="2800" dirty="0"/>
          </a:p>
        </p:txBody>
      </p:sp>
      <p:sp>
        <p:nvSpPr>
          <p:cNvPr id="15" name="DuPont card 4"/>
          <p:cNvSpPr/>
          <p:nvPr/>
        </p:nvSpPr>
        <p:spPr>
          <a:xfrm>
            <a:off x="6903720" y="1600200"/>
            <a:ext cx="1783080" cy="1600200"/>
          </a:xfrm>
          <a:prstGeom prst="roundRect">
            <a:avLst>
              <a:gd name="adj" fmla="val 5714"/>
            </a:avLst>
          </a:prstGeom>
          <a:solidFill>
            <a:schemeClr val="accent1"/>
          </a:solidFill>
          <a:ln/>
        </p:spPr>
        <p:txBody>
          <a:bodyPr/>
          <a:lstStyle/>
          <a:p>
            <a:endParaRPr lang="en-US"/>
          </a:p>
        </p:txBody>
      </p:sp>
      <p:sp>
        <p:nvSpPr>
          <p:cNvPr id="16" name="DuPont text 4"/>
          <p:cNvSpPr txBox="1"/>
          <p:nvPr/>
        </p:nvSpPr>
        <p:spPr>
          <a:xfrm>
            <a:off x="7040880" y="1737360"/>
            <a:ext cx="1508760" cy="1371600"/>
          </a:xfrm>
          <a:prstGeom prst="rect">
            <a:avLst/>
          </a:prstGeom>
          <a:noFill/>
          <a:ln/>
        </p:spPr>
        <p:txBody>
          <a:bodyPr wrap="square" lIns="0" tIns="0" rIns="0" bIns="0" rtlCol="0" anchor="t"/>
          <a:lstStyle/>
          <a:p>
            <a:pPr marL="0" indent="0">
              <a:buNone/>
            </a:pPr>
            <a:r>
              <a:rPr lang="en-US" sz="1600" b="1" dirty="0">
                <a:solidFill>
                  <a:schemeClr val="bg1"/>
                </a:solidFill>
              </a:rPr>
              <a:t>ROE</a:t>
            </a:r>
            <a:endParaRPr lang="en-US" sz="1400" dirty="0"/>
          </a:p>
          <a:p>
            <a:pPr marL="0" indent="0">
              <a:buNone/>
            </a:pPr>
            <a:r>
              <a:rPr lang="en-US" sz="1400" dirty="0">
                <a:solidFill>
                  <a:schemeClr val="bg1"/>
                </a:solidFill>
              </a:rPr>
              <a:t>Net income ÷ equity</a:t>
            </a:r>
            <a:endParaRPr lang="en-US" sz="1400" dirty="0"/>
          </a:p>
          <a:p>
            <a:pPr marL="0" indent="0">
              <a:buNone/>
            </a:pPr>
            <a:r>
              <a:rPr lang="en-US" sz="1400" dirty="0">
                <a:solidFill>
                  <a:schemeClr val="bg1"/>
                </a:solidFill>
              </a:rPr>
              <a:t>Profit per $1 of book equity</a:t>
            </a:r>
            <a:endParaRPr lang="en-US" sz="1400" dirty="0"/>
          </a:p>
        </p:txBody>
      </p:sp>
      <p:sp>
        <p:nvSpPr>
          <p:cNvPr id="17" name="Example card"/>
          <p:cNvSpPr/>
          <p:nvPr/>
        </p:nvSpPr>
        <p:spPr>
          <a:xfrm>
            <a:off x="457200" y="3429000"/>
            <a:ext cx="8229600" cy="1005840"/>
          </a:xfrm>
          <a:prstGeom prst="roundRect">
            <a:avLst>
              <a:gd name="adj" fmla="val 9091"/>
            </a:avLst>
          </a:prstGeom>
          <a:solidFill>
            <a:schemeClr val="bg2"/>
          </a:solidFill>
          <a:ln/>
        </p:spPr>
        <p:txBody>
          <a:bodyPr/>
          <a:lstStyle/>
          <a:p>
            <a:endParaRPr lang="en-US"/>
          </a:p>
        </p:txBody>
      </p:sp>
      <p:sp>
        <p:nvSpPr>
          <p:cNvPr id="18" name="Example text"/>
          <p:cNvSpPr txBox="1"/>
          <p:nvPr/>
        </p:nvSpPr>
        <p:spPr>
          <a:xfrm>
            <a:off x="685800" y="3566160"/>
            <a:ext cx="7772400" cy="731520"/>
          </a:xfrm>
          <a:prstGeom prst="rect">
            <a:avLst/>
          </a:prstGeom>
          <a:noFill/>
          <a:ln/>
        </p:spPr>
        <p:txBody>
          <a:bodyPr wrap="square" lIns="0" tIns="0" rIns="0" bIns="0" rtlCol="0" anchor="ctr"/>
          <a:lstStyle/>
          <a:p>
            <a:pPr marL="0" indent="0">
              <a:buNone/>
            </a:pPr>
            <a:r>
              <a:rPr lang="en-US" sz="1400" b="1" dirty="0">
                <a:solidFill>
                  <a:schemeClr val="tx1"/>
                </a:solidFill>
              </a:rPr>
              <a:t>Worked example: </a:t>
            </a:r>
            <a:r>
              <a:rPr lang="en-US" sz="1400" dirty="0">
                <a:solidFill>
                  <a:schemeClr val="tx1"/>
                </a:solidFill>
              </a:rPr>
              <a:t>20% margin × 0.50 turnover × 2.0 multiplier = 20% ROE, or $0.20 of annual profit per $1 of book equity. It is not a stock-market return.</a:t>
            </a:r>
            <a:endParaRPr lang="en-US" sz="14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097280"/>
            <a:ext cx="5394960" cy="1828800"/>
          </a:xfrm>
          <a:prstGeom prst="rect">
            <a:avLst/>
          </a:prstGeom>
          <a:noFill/>
          <a:ln/>
        </p:spPr>
        <p:txBody>
          <a:bodyPr wrap="square" lIns="0" tIns="0" rIns="0" bIns="0" rtlCol="0" anchor="t"/>
          <a:lstStyle/>
          <a:p>
            <a:pPr marL="0" indent="0">
              <a:buNone/>
            </a:pPr>
            <a:r>
              <a:rPr lang="en-US" sz="3600" b="1" dirty="0">
                <a:solidFill>
                  <a:schemeClr val="bg1"/>
                </a:solidFill>
              </a:rPr>
              <a:t>Industrials</a:t>
            </a:r>
            <a:endParaRPr lang="en-US" sz="3600" dirty="0"/>
          </a:p>
        </p:txBody>
      </p:sp>
      <p:sp>
        <p:nvSpPr>
          <p:cNvPr id="3" name="Text 0"/>
          <p:cNvSpPr>
            <a:spLocks noGrp="1"/>
          </p:cNvSpPr>
          <p:nvPr>
            <p:ph type="body" idx="101" hasCustomPrompt="1"/>
          </p:nvPr>
        </p:nvSpPr>
        <p:spPr>
          <a:xfrm>
            <a:off x="548640" y="3108960"/>
            <a:ext cx="5394960" cy="731520"/>
          </a:xfrm>
          <a:prstGeom prst="rect">
            <a:avLst/>
          </a:prstGeom>
          <a:noFill/>
          <a:ln/>
        </p:spPr>
        <p:txBody>
          <a:bodyPr wrap="square" lIns="0" tIns="0" rIns="0" bIns="0" rtlCol="0" anchor="t"/>
          <a:lstStyle/>
          <a:p>
            <a:pPr marL="0" indent="0">
              <a:buNone/>
            </a:pPr>
            <a:r>
              <a:rPr lang="en-US" sz="1800" dirty="0">
                <a:solidFill>
                  <a:schemeClr val="bg2"/>
                </a:solidFill>
              </a:rPr>
              <a:t>81 companies and 472 filings: DuPont ROE and supply chain risk</a:t>
            </a:r>
            <a:endParaRPr lang="en-US" sz="1800" dirty="0"/>
          </a:p>
        </p:txBody>
      </p:sp>
      <p:sp>
        <p:nvSpPr>
          <p:cNvPr id="4" name="Section circle"/>
          <p:cNvSpPr/>
          <p:nvPr/>
        </p:nvSpPr>
        <p:spPr>
          <a:xfrm>
            <a:off x="6309360" y="1371600"/>
            <a:ext cx="2011680" cy="2011680"/>
          </a:xfrm>
          <a:prstGeom prst="ellipse">
            <a:avLst/>
          </a:prstGeom>
          <a:solidFill>
            <a:schemeClr val="accent1"/>
          </a:solidFill>
          <a:ln/>
        </p:spPr>
        <p:txBody>
          <a:bodyPr/>
          <a:lstStyle/>
          <a:p>
            <a:endParaRPr lang="en-US"/>
          </a:p>
        </p:txBody>
      </p:sp>
      <p:sp>
        <p:nvSpPr>
          <p:cNvPr id="5" name="Section number"/>
          <p:cNvSpPr txBox="1"/>
          <p:nvPr/>
        </p:nvSpPr>
        <p:spPr>
          <a:xfrm>
            <a:off x="6309360" y="1371600"/>
            <a:ext cx="2011680" cy="2011680"/>
          </a:xfrm>
          <a:prstGeom prst="rect">
            <a:avLst/>
          </a:prstGeom>
          <a:noFill/>
          <a:ln/>
        </p:spPr>
        <p:txBody>
          <a:bodyPr wrap="square" lIns="0" tIns="0" rIns="0" bIns="0" rtlCol="0" anchor="ctr"/>
          <a:lstStyle/>
          <a:p>
            <a:pPr marL="0" indent="0" algn="ctr">
              <a:buNone/>
            </a:pPr>
            <a:r>
              <a:rPr lang="en-US" sz="7200" b="1" dirty="0">
                <a:solidFill>
                  <a:schemeClr val="bg1"/>
                </a:solidFill>
              </a:rPr>
              <a:t>1</a:t>
            </a:r>
            <a:endParaRPr lang="en-US" sz="7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65760"/>
            <a:ext cx="8229600" cy="640080"/>
          </a:xfrm>
          <a:prstGeom prst="rect">
            <a:avLst/>
          </a:prstGeom>
          <a:noFill/>
          <a:ln/>
        </p:spPr>
        <p:txBody>
          <a:bodyPr wrap="square" lIns="0" tIns="0" rIns="0" bIns="0" rtlCol="0" anchor="t"/>
          <a:lstStyle/>
          <a:p>
            <a:pPr marL="0" indent="0">
              <a:buNone/>
            </a:pPr>
            <a:r>
              <a:rPr lang="en-US" sz="3400" b="1" dirty="0">
                <a:solidFill>
                  <a:schemeClr val="tx1"/>
                </a:solidFill>
              </a:rPr>
              <a:t>Median ROE is up since 2020</a:t>
            </a:r>
            <a:endParaRPr lang="en-US" sz="3400" dirty="0"/>
          </a:p>
        </p:txBody>
      </p:sp>
      <p:sp>
        <p:nvSpPr>
          <p:cNvPr id="3" name="Text 0"/>
          <p:cNvSpPr>
            <a:spLocks noGrp="1"/>
          </p:cNvSpPr>
          <p:nvPr>
            <p:ph type="body" idx="101" hasCustomPrompt="1"/>
          </p:nvPr>
        </p:nvSpPr>
        <p:spPr>
          <a:xfrm>
            <a:off x="457200" y="1005840"/>
            <a:ext cx="8229600" cy="365760"/>
          </a:xfrm>
          <a:prstGeom prst="rect">
            <a:avLst/>
          </a:prstGeom>
          <a:noFill/>
          <a:ln/>
        </p:spPr>
        <p:txBody>
          <a:bodyPr wrap="square" lIns="0" tIns="0" rIns="0" bIns="0" rtlCol="0" anchor="ctr"/>
          <a:lstStyle/>
          <a:p>
            <a:pPr marL="0" indent="0">
              <a:buNone/>
            </a:pPr>
            <a:r>
              <a:rPr lang="en-US" sz="1600" dirty="0">
                <a:solidFill>
                  <a:schemeClr val="tx2"/>
                </a:solidFill>
              </a:rPr>
              <a:t>Median ROE rose from 19.4% in FY2020 to 25.5% in FY2025</a:t>
            </a:r>
            <a:endParaRPr lang="en-US" sz="1600" dirty="0"/>
          </a:p>
        </p:txBody>
      </p:sp>
      <p:sp>
        <p:nvSpPr>
          <p:cNvPr id="4" name="Text 0"/>
          <p:cNvSpPr>
            <a:spLocks noGrp="1"/>
          </p:cNvSpPr>
          <p:nvPr>
            <p:ph type="body" idx="102" hasCustomPrompt="1"/>
          </p:nvPr>
        </p:nvSpPr>
        <p:spPr>
          <a:xfrm>
            <a:off x="457200" y="4663440"/>
            <a:ext cx="7589520" cy="274320"/>
          </a:xfrm>
          <a:prstGeom prst="rect">
            <a:avLst/>
          </a:prstGeom>
          <a:noFill/>
          <a:ln/>
        </p:spPr>
        <p:txBody>
          <a:bodyPr wrap="square" lIns="0" tIns="0" rIns="0" bIns="0" rtlCol="0" anchor="ctr"/>
          <a:lstStyle/>
          <a:p>
            <a:pPr marL="0" indent="0">
              <a:buNone/>
            </a:pPr>
            <a:r>
              <a:rPr lang="en-US" sz="1000" dirty="0">
                <a:solidFill>
                  <a:schemeClr val="tx2"/>
                </a:solidFill>
              </a:rPr>
              <a:t>Median across companies with a reported ROE (58–65 per year).</a:t>
            </a:r>
            <a:endParaRPr lang="en-US" sz="1000" dirty="0"/>
          </a:p>
        </p:txBody>
      </p:sp>
      <p:graphicFrame>
        <p:nvGraphicFramePr>
          <p:cNvPr id="5" name="Chart 0"/>
          <p:cNvGraphicFramePr/>
          <p:nvPr/>
        </p:nvGraphicFramePr>
        <p:xfrm>
          <a:off x="457200" y="1554480"/>
          <a:ext cx="539496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6" name="Callout card"/>
          <p:cNvSpPr/>
          <p:nvPr/>
        </p:nvSpPr>
        <p:spPr>
          <a:xfrm>
            <a:off x="6309360" y="1828800"/>
            <a:ext cx="2377440" cy="2377440"/>
          </a:xfrm>
          <a:prstGeom prst="roundRect">
            <a:avLst>
              <a:gd name="adj" fmla="val 3846"/>
            </a:avLst>
          </a:prstGeom>
          <a:solidFill>
            <a:schemeClr val="bg2"/>
          </a:solidFill>
          <a:ln/>
        </p:spPr>
        <p:txBody>
          <a:bodyPr/>
          <a:lstStyle/>
          <a:p>
            <a:endParaRPr lang="en-US"/>
          </a:p>
        </p:txBody>
      </p:sp>
      <p:sp>
        <p:nvSpPr>
          <p:cNvPr id="7" name="Callout value"/>
          <p:cNvSpPr txBox="1"/>
          <p:nvPr/>
        </p:nvSpPr>
        <p:spPr>
          <a:xfrm>
            <a:off x="6309360" y="2103120"/>
            <a:ext cx="2377440" cy="822960"/>
          </a:xfrm>
          <a:prstGeom prst="rect">
            <a:avLst/>
          </a:prstGeom>
          <a:noFill/>
          <a:ln/>
        </p:spPr>
        <p:txBody>
          <a:bodyPr wrap="square" lIns="0" tIns="0" rIns="0" bIns="0" rtlCol="0" anchor="ctr"/>
          <a:lstStyle/>
          <a:p>
            <a:pPr marL="0" indent="0" algn="ctr">
              <a:buNone/>
            </a:pPr>
            <a:r>
              <a:rPr lang="en-US" sz="4400" b="1" dirty="0">
                <a:solidFill>
                  <a:schemeClr val="accent1"/>
                </a:solidFill>
              </a:rPr>
              <a:t>+6 pts</a:t>
            </a:r>
            <a:endParaRPr lang="en-US" sz="4400" dirty="0"/>
          </a:p>
        </p:txBody>
      </p:sp>
      <p:sp>
        <p:nvSpPr>
          <p:cNvPr id="8" name="Callout label"/>
          <p:cNvSpPr txBox="1"/>
          <p:nvPr/>
        </p:nvSpPr>
        <p:spPr>
          <a:xfrm>
            <a:off x="6492240" y="3017520"/>
            <a:ext cx="2011680" cy="914400"/>
          </a:xfrm>
          <a:prstGeom prst="rect">
            <a:avLst/>
          </a:prstGeom>
          <a:noFill/>
          <a:ln/>
        </p:spPr>
        <p:txBody>
          <a:bodyPr wrap="square" lIns="0" tIns="0" rIns="0" bIns="0" rtlCol="0" anchor="t"/>
          <a:lstStyle/>
          <a:p>
            <a:pPr marL="0" indent="0" algn="ctr">
              <a:buNone/>
            </a:pPr>
            <a:r>
              <a:rPr lang="en-US" sz="1400" dirty="0">
                <a:solidFill>
                  <a:schemeClr val="tx1"/>
                </a:solidFill>
              </a:rPr>
              <a:t>Change in median ROE, FY2020 to FY2025</a:t>
            </a:r>
            <a:endParaRPr lang="en-US" sz="14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65760"/>
            <a:ext cx="8229600" cy="640080"/>
          </a:xfrm>
          <a:prstGeom prst="rect">
            <a:avLst/>
          </a:prstGeom>
          <a:noFill/>
          <a:ln/>
        </p:spPr>
        <p:txBody>
          <a:bodyPr wrap="square" lIns="0" tIns="0" rIns="0" bIns="0" rtlCol="0" anchor="t"/>
          <a:lstStyle/>
          <a:p>
            <a:pPr marL="0" indent="0">
              <a:buNone/>
            </a:pPr>
            <a:r>
              <a:rPr lang="en-US" sz="3400" b="1" dirty="0">
                <a:solidFill>
                  <a:schemeClr val="tx1"/>
                </a:solidFill>
              </a:rPr>
              <a:t>Highest and lowest ROE</a:t>
            </a:r>
            <a:endParaRPr lang="en-US" sz="3400" dirty="0"/>
          </a:p>
        </p:txBody>
      </p:sp>
      <p:sp>
        <p:nvSpPr>
          <p:cNvPr id="3" name="Text 0"/>
          <p:cNvSpPr>
            <a:spLocks noGrp="1"/>
          </p:cNvSpPr>
          <p:nvPr>
            <p:ph type="body" idx="101" hasCustomPrompt="1"/>
          </p:nvPr>
        </p:nvSpPr>
        <p:spPr>
          <a:xfrm>
            <a:off x="457200" y="1005840"/>
            <a:ext cx="8229600" cy="365760"/>
          </a:xfrm>
          <a:prstGeom prst="rect">
            <a:avLst/>
          </a:prstGeom>
          <a:noFill/>
          <a:ln/>
        </p:spPr>
        <p:txBody>
          <a:bodyPr wrap="square" lIns="0" tIns="0" rIns="0" bIns="0" rtlCol="0" anchor="ctr"/>
          <a:lstStyle/>
          <a:p>
            <a:pPr marL="0" indent="0">
              <a:buNone/>
            </a:pPr>
            <a:r>
              <a:rPr lang="en-US" sz="1600" dirty="0">
                <a:solidFill>
                  <a:schemeClr val="tx2"/>
                </a:solidFill>
              </a:rPr>
              <a:t>Lockheed Martin, Verisk and ADP lead; Uber and the airlines trail</a:t>
            </a:r>
            <a:endParaRPr lang="en-US" sz="1600" dirty="0"/>
          </a:p>
        </p:txBody>
      </p:sp>
      <p:sp>
        <p:nvSpPr>
          <p:cNvPr id="4" name="Text 0"/>
          <p:cNvSpPr>
            <a:spLocks noGrp="1"/>
          </p:cNvSpPr>
          <p:nvPr>
            <p:ph type="body" idx="102" hasCustomPrompt="1"/>
          </p:nvPr>
        </p:nvSpPr>
        <p:spPr>
          <a:xfrm>
            <a:off x="457200" y="4663440"/>
            <a:ext cx="7589520" cy="274320"/>
          </a:xfrm>
          <a:prstGeom prst="rect">
            <a:avLst/>
          </a:prstGeom>
          <a:noFill/>
          <a:ln/>
        </p:spPr>
        <p:txBody>
          <a:bodyPr wrap="square" lIns="0" tIns="0" rIns="0" bIns="0" rtlCol="0" anchor="ctr"/>
          <a:lstStyle/>
          <a:p>
            <a:pPr marL="0" indent="0">
              <a:buNone/>
            </a:pPr>
            <a:r>
              <a:rPr lang="en-US" sz="1000" dirty="0">
                <a:solidFill>
                  <a:schemeClr val="tx2"/>
                </a:solidFill>
              </a:rPr>
              <a:t>Average FY2020–25 ROE for companies with 4+ years of data; years with ROE above 200% excluded.</a:t>
            </a:r>
            <a:endParaRPr lang="en-US" sz="1000" dirty="0"/>
          </a:p>
        </p:txBody>
      </p:sp>
      <p:graphicFrame>
        <p:nvGraphicFramePr>
          <p:cNvPr id="5" name="Chart 0"/>
          <p:cNvGraphicFramePr/>
          <p:nvPr/>
        </p:nvGraphicFramePr>
        <p:xfrm>
          <a:off x="457200" y="1554480"/>
          <a:ext cx="566928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6" name="Lowest card"/>
          <p:cNvSpPr/>
          <p:nvPr/>
        </p:nvSpPr>
        <p:spPr>
          <a:xfrm>
            <a:off x="6400800" y="1645920"/>
            <a:ext cx="2286000" cy="2743200"/>
          </a:xfrm>
          <a:prstGeom prst="roundRect">
            <a:avLst>
              <a:gd name="adj" fmla="val 4000"/>
            </a:avLst>
          </a:prstGeom>
          <a:solidFill>
            <a:schemeClr val="bg2"/>
          </a:solidFill>
          <a:ln/>
        </p:spPr>
        <p:txBody>
          <a:bodyPr/>
          <a:lstStyle/>
          <a:p>
            <a:endParaRPr lang="en-US"/>
          </a:p>
        </p:txBody>
      </p:sp>
      <p:sp>
        <p:nvSpPr>
          <p:cNvPr id="7" name="Lowest text"/>
          <p:cNvSpPr txBox="1"/>
          <p:nvPr/>
        </p:nvSpPr>
        <p:spPr>
          <a:xfrm>
            <a:off x="6583680" y="1783080"/>
            <a:ext cx="1920240" cy="2514600"/>
          </a:xfrm>
          <a:prstGeom prst="rect">
            <a:avLst/>
          </a:prstGeom>
          <a:noFill/>
          <a:ln/>
        </p:spPr>
        <p:txBody>
          <a:bodyPr wrap="square" lIns="0" tIns="0" rIns="0" bIns="0" rtlCol="0" anchor="t"/>
          <a:lstStyle/>
          <a:p>
            <a:pPr marL="0" indent="0">
              <a:buNone/>
            </a:pPr>
            <a:r>
              <a:rPr lang="en-US" sz="1400" b="1" dirty="0">
                <a:solidFill>
                  <a:schemeClr val="tx1"/>
                </a:solidFill>
              </a:rPr>
              <a:t>Lowest averages</a:t>
            </a:r>
            <a:endParaRPr lang="en-US" sz="1400" dirty="0"/>
          </a:p>
          <a:p>
            <a:pPr marL="0" indent="0">
              <a:buNone/>
            </a:pPr>
            <a:r>
              <a:rPr lang="en-US" sz="1400" dirty="0">
                <a:solidFill>
                  <a:schemeClr val="tx1"/>
                </a:solidFill>
              </a:rPr>
              <a:t>UBER  −14%</a:t>
            </a:r>
            <a:endParaRPr lang="en-US" sz="1400" dirty="0"/>
          </a:p>
          <a:p>
            <a:pPr marL="0" indent="0">
              <a:buNone/>
            </a:pPr>
            <a:r>
              <a:rPr lang="en-US" sz="1400" dirty="0">
                <a:solidFill>
                  <a:schemeClr val="tx1"/>
                </a:solidFill>
              </a:rPr>
              <a:t>UAL  −12%</a:t>
            </a:r>
            <a:endParaRPr lang="en-US" sz="1400" dirty="0"/>
          </a:p>
          <a:p>
            <a:pPr marL="0" indent="0">
              <a:buNone/>
            </a:pPr>
            <a:r>
              <a:rPr lang="en-US" sz="1400" dirty="0">
                <a:solidFill>
                  <a:schemeClr val="tx1"/>
                </a:solidFill>
              </a:rPr>
              <a:t>LUV  −1%</a:t>
            </a:r>
            <a:endParaRPr lang="en-US" sz="1400" dirty="0"/>
          </a:p>
          <a:p>
            <a:pPr marL="0" indent="0">
              <a:buNone/>
            </a:pPr>
            <a:r>
              <a:rPr lang="en-US" sz="1400" dirty="0">
                <a:solidFill>
                  <a:schemeClr val="tx1"/>
                </a:solidFill>
              </a:rPr>
              <a:t>VRT  4%</a:t>
            </a:r>
            <a:endParaRPr lang="en-US" sz="1400" dirty="0"/>
          </a:p>
          <a:p>
            <a:pPr marL="0" indent="0">
              <a:buNone/>
            </a:pPr>
            <a:r>
              <a:rPr lang="en-US" sz="1400" dirty="0">
                <a:solidFill>
                  <a:schemeClr val="tx1"/>
                </a:solidFill>
              </a:rPr>
              <a:t>RTX  5%</a:t>
            </a:r>
            <a:endParaRPr lang="en-US" sz="1400" dirty="0"/>
          </a:p>
          <a:p>
            <a:pPr marL="0" indent="0">
              <a:buNone/>
            </a:pPr>
            <a:r>
              <a:rPr lang="en-US" sz="600" dirty="0">
                <a:solidFill>
                  <a:schemeClr val="tx1"/>
                </a:solidFill>
              </a:rPr>
              <a:t> </a:t>
            </a:r>
            <a:endParaRPr lang="en-US" sz="1400" dirty="0"/>
          </a:p>
          <a:p>
            <a:pPr marL="0" indent="0">
              <a:buNone/>
            </a:pPr>
            <a:r>
              <a:rPr lang="en-US" sz="1400" i="1" dirty="0">
                <a:solidFill>
                  <a:schemeClr val="tx1"/>
                </a:solidFill>
              </a:rPr>
              <a:t>High ROE can reflect thin equity, not just strong profits.</a:t>
            </a:r>
            <a:endParaRPr lang="en-US" sz="14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65760"/>
            <a:ext cx="8229600" cy="640080"/>
          </a:xfrm>
          <a:prstGeom prst="rect">
            <a:avLst/>
          </a:prstGeom>
          <a:noFill/>
          <a:ln/>
        </p:spPr>
        <p:txBody>
          <a:bodyPr wrap="square" lIns="0" tIns="0" rIns="0" bIns="0" rtlCol="0" anchor="t"/>
          <a:lstStyle/>
          <a:p>
            <a:pPr marL="0" indent="0">
              <a:buNone/>
            </a:pPr>
            <a:r>
              <a:rPr lang="en-US" sz="3400" b="1" dirty="0">
                <a:solidFill>
                  <a:schemeClr val="tx1"/>
                </a:solidFill>
              </a:rPr>
              <a:t>What drives industrial ROE</a:t>
            </a:r>
            <a:endParaRPr lang="en-US" sz="3400" dirty="0"/>
          </a:p>
        </p:txBody>
      </p:sp>
      <p:sp>
        <p:nvSpPr>
          <p:cNvPr id="3" name="Text 0"/>
          <p:cNvSpPr>
            <a:spLocks noGrp="1"/>
          </p:cNvSpPr>
          <p:nvPr>
            <p:ph type="body" idx="101" hasCustomPrompt="1"/>
          </p:nvPr>
        </p:nvSpPr>
        <p:spPr>
          <a:xfrm>
            <a:off x="457200" y="1005840"/>
            <a:ext cx="8229600" cy="365760"/>
          </a:xfrm>
          <a:prstGeom prst="rect">
            <a:avLst/>
          </a:prstGeom>
          <a:noFill/>
          <a:ln/>
        </p:spPr>
        <p:txBody>
          <a:bodyPr wrap="square" lIns="0" tIns="0" rIns="0" bIns="0" rtlCol="0" anchor="ctr"/>
          <a:lstStyle/>
          <a:p>
            <a:pPr marL="0" indent="0">
              <a:buNone/>
            </a:pPr>
            <a:r>
              <a:rPr lang="en-US" sz="1600" dirty="0">
                <a:solidFill>
                  <a:schemeClr val="tx2"/>
                </a:solidFill>
              </a:rPr>
              <a:t>Profit margin leads in most filings, but leverage leads in four of ten</a:t>
            </a:r>
            <a:endParaRPr lang="en-US" sz="1600" dirty="0"/>
          </a:p>
        </p:txBody>
      </p:sp>
      <p:sp>
        <p:nvSpPr>
          <p:cNvPr id="4" name="Text 0"/>
          <p:cNvSpPr>
            <a:spLocks noGrp="1"/>
          </p:cNvSpPr>
          <p:nvPr>
            <p:ph type="body" idx="102" hasCustomPrompt="1"/>
          </p:nvPr>
        </p:nvSpPr>
        <p:spPr>
          <a:xfrm>
            <a:off x="457200" y="4663440"/>
            <a:ext cx="7589520" cy="274320"/>
          </a:xfrm>
          <a:prstGeom prst="rect">
            <a:avLst/>
          </a:prstGeom>
          <a:noFill/>
          <a:ln/>
        </p:spPr>
        <p:txBody>
          <a:bodyPr wrap="square" lIns="0" tIns="0" rIns="0" bIns="0" rtlCol="0" anchor="ctr"/>
          <a:lstStyle/>
          <a:p>
            <a:pPr marL="0" indent="0">
              <a:buNone/>
            </a:pPr>
            <a:r>
              <a:rPr lang="en-US" sz="1000" dirty="0">
                <a:solidFill>
                  <a:schemeClr val="tx2"/>
                </a:solidFill>
              </a:rPr>
              <a:t>Based on which driver each AI write-up mentions first (467 of 472 filings).</a:t>
            </a:r>
            <a:endParaRPr lang="en-US" sz="1000" dirty="0"/>
          </a:p>
        </p:txBody>
      </p:sp>
      <p:sp>
        <p:nvSpPr>
          <p:cNvPr id="5" name="Driver card 1"/>
          <p:cNvSpPr/>
          <p:nvPr/>
        </p:nvSpPr>
        <p:spPr>
          <a:xfrm>
            <a:off x="457200" y="1645920"/>
            <a:ext cx="4023360" cy="1920240"/>
          </a:xfrm>
          <a:prstGeom prst="roundRect">
            <a:avLst>
              <a:gd name="adj" fmla="val 4762"/>
            </a:avLst>
          </a:prstGeom>
          <a:solidFill>
            <a:schemeClr val="bg2"/>
          </a:solidFill>
          <a:ln/>
        </p:spPr>
        <p:txBody>
          <a:bodyPr/>
          <a:lstStyle/>
          <a:p>
            <a:endParaRPr lang="en-US"/>
          </a:p>
        </p:txBody>
      </p:sp>
      <p:sp>
        <p:nvSpPr>
          <p:cNvPr id="6" name="Driver value 1"/>
          <p:cNvSpPr txBox="1"/>
          <p:nvPr/>
        </p:nvSpPr>
        <p:spPr>
          <a:xfrm>
            <a:off x="457200" y="1828800"/>
            <a:ext cx="4023360" cy="914400"/>
          </a:xfrm>
          <a:prstGeom prst="rect">
            <a:avLst/>
          </a:prstGeom>
          <a:noFill/>
          <a:ln/>
        </p:spPr>
        <p:txBody>
          <a:bodyPr wrap="square" lIns="0" tIns="0" rIns="0" bIns="0" rtlCol="0" anchor="ctr"/>
          <a:lstStyle/>
          <a:p>
            <a:pPr marL="0" indent="0" algn="ctr">
              <a:buNone/>
            </a:pPr>
            <a:r>
              <a:rPr lang="en-US" sz="5400" b="1" dirty="0">
                <a:solidFill>
                  <a:schemeClr val="accent1"/>
                </a:solidFill>
              </a:rPr>
              <a:t>59%</a:t>
            </a:r>
            <a:endParaRPr lang="en-US" sz="5400" dirty="0"/>
          </a:p>
        </p:txBody>
      </p:sp>
      <p:sp>
        <p:nvSpPr>
          <p:cNvPr id="7" name="Driver label 1"/>
          <p:cNvSpPr txBox="1"/>
          <p:nvPr/>
        </p:nvSpPr>
        <p:spPr>
          <a:xfrm>
            <a:off x="731520" y="2834640"/>
            <a:ext cx="3474720" cy="548640"/>
          </a:xfrm>
          <a:prstGeom prst="rect">
            <a:avLst/>
          </a:prstGeom>
          <a:noFill/>
          <a:ln/>
        </p:spPr>
        <p:txBody>
          <a:bodyPr wrap="square" lIns="0" tIns="0" rIns="0" bIns="0" rtlCol="0" anchor="t"/>
          <a:lstStyle/>
          <a:p>
            <a:pPr marL="0" indent="0" algn="ctr">
              <a:buNone/>
            </a:pPr>
            <a:r>
              <a:rPr lang="en-US" sz="1400" dirty="0">
                <a:solidFill>
                  <a:schemeClr val="tx1"/>
                </a:solidFill>
              </a:rPr>
              <a:t>of filings lead with profit margin</a:t>
            </a:r>
            <a:endParaRPr lang="en-US" sz="1400" dirty="0"/>
          </a:p>
        </p:txBody>
      </p:sp>
      <p:sp>
        <p:nvSpPr>
          <p:cNvPr id="8" name="Driver card 2"/>
          <p:cNvSpPr/>
          <p:nvPr/>
        </p:nvSpPr>
        <p:spPr>
          <a:xfrm>
            <a:off x="4663440" y="1645920"/>
            <a:ext cx="4023360" cy="1920240"/>
          </a:xfrm>
          <a:prstGeom prst="roundRect">
            <a:avLst>
              <a:gd name="adj" fmla="val 4762"/>
            </a:avLst>
          </a:prstGeom>
          <a:solidFill>
            <a:schemeClr val="bg2"/>
          </a:solidFill>
          <a:ln/>
        </p:spPr>
        <p:txBody>
          <a:bodyPr/>
          <a:lstStyle/>
          <a:p>
            <a:endParaRPr lang="en-US"/>
          </a:p>
        </p:txBody>
      </p:sp>
      <p:sp>
        <p:nvSpPr>
          <p:cNvPr id="9" name="Driver value 2"/>
          <p:cNvSpPr txBox="1"/>
          <p:nvPr/>
        </p:nvSpPr>
        <p:spPr>
          <a:xfrm>
            <a:off x="4663440" y="1828800"/>
            <a:ext cx="4023360" cy="914400"/>
          </a:xfrm>
          <a:prstGeom prst="rect">
            <a:avLst/>
          </a:prstGeom>
          <a:noFill/>
          <a:ln/>
        </p:spPr>
        <p:txBody>
          <a:bodyPr wrap="square" lIns="0" tIns="0" rIns="0" bIns="0" rtlCol="0" anchor="ctr"/>
          <a:lstStyle/>
          <a:p>
            <a:pPr marL="0" indent="0" algn="ctr">
              <a:buNone/>
            </a:pPr>
            <a:r>
              <a:rPr lang="en-US" sz="5400" b="1" dirty="0">
                <a:solidFill>
                  <a:schemeClr val="accent2"/>
                </a:solidFill>
              </a:rPr>
              <a:t>41%</a:t>
            </a:r>
            <a:endParaRPr lang="en-US" sz="5400" dirty="0"/>
          </a:p>
        </p:txBody>
      </p:sp>
      <p:sp>
        <p:nvSpPr>
          <p:cNvPr id="10" name="Driver label 2"/>
          <p:cNvSpPr txBox="1"/>
          <p:nvPr/>
        </p:nvSpPr>
        <p:spPr>
          <a:xfrm>
            <a:off x="4937760" y="2834640"/>
            <a:ext cx="3474720" cy="548640"/>
          </a:xfrm>
          <a:prstGeom prst="rect">
            <a:avLst/>
          </a:prstGeom>
          <a:noFill/>
          <a:ln/>
        </p:spPr>
        <p:txBody>
          <a:bodyPr wrap="square" lIns="0" tIns="0" rIns="0" bIns="0" rtlCol="0" anchor="t"/>
          <a:lstStyle/>
          <a:p>
            <a:pPr marL="0" indent="0" algn="ctr">
              <a:buNone/>
            </a:pPr>
            <a:r>
              <a:rPr lang="en-US" sz="1400" dirty="0">
                <a:solidFill>
                  <a:schemeClr val="tx1"/>
                </a:solidFill>
              </a:rPr>
              <a:t>of filings lead with the equity multiplier (leverage)</a:t>
            </a:r>
            <a:endParaRPr lang="en-US" sz="1400" dirty="0"/>
          </a:p>
        </p:txBody>
      </p:sp>
      <p:sp>
        <p:nvSpPr>
          <p:cNvPr id="11" name="Driver note"/>
          <p:cNvSpPr txBox="1"/>
          <p:nvPr/>
        </p:nvSpPr>
        <p:spPr>
          <a:xfrm>
            <a:off x="457200" y="3794760"/>
            <a:ext cx="8229600" cy="685800"/>
          </a:xfrm>
          <a:prstGeom prst="rect">
            <a:avLst/>
          </a:prstGeom>
          <a:noFill/>
          <a:ln/>
        </p:spPr>
        <p:txBody>
          <a:bodyPr wrap="square" lIns="0" tIns="0" rIns="0" bIns="0" rtlCol="0" anchor="t"/>
          <a:lstStyle/>
          <a:p>
            <a:pPr marL="0" indent="0">
              <a:buNone/>
            </a:pPr>
            <a:r>
              <a:rPr lang="en-US" sz="1400" dirty="0">
                <a:solidFill>
                  <a:schemeClr val="tx1"/>
                </a:solidFill>
              </a:rPr>
              <a:t>Asset turnover was never named as the lead driver. Leverage-led ROE deserves a closer look: it can come from buybacks or thin equity rather than operating strength.</a:t>
            </a:r>
            <a:endParaRPr lang="en-US" sz="14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65760"/>
            <a:ext cx="8229600" cy="640080"/>
          </a:xfrm>
          <a:prstGeom prst="rect">
            <a:avLst/>
          </a:prstGeom>
          <a:noFill/>
          <a:ln/>
        </p:spPr>
        <p:txBody>
          <a:bodyPr wrap="square" lIns="0" tIns="0" rIns="0" bIns="0" rtlCol="0" anchor="t"/>
          <a:lstStyle/>
          <a:p>
            <a:pPr marL="0" indent="0">
              <a:buNone/>
            </a:pPr>
            <a:r>
              <a:rPr lang="en-US" sz="3400" b="1" dirty="0">
                <a:solidFill>
                  <a:schemeClr val="tx1"/>
                </a:solidFill>
              </a:rPr>
              <a:t>Risk focus has shifted</a:t>
            </a:r>
            <a:endParaRPr lang="en-US" sz="3400" dirty="0"/>
          </a:p>
        </p:txBody>
      </p:sp>
      <p:sp>
        <p:nvSpPr>
          <p:cNvPr id="3" name="Text 0"/>
          <p:cNvSpPr>
            <a:spLocks noGrp="1"/>
          </p:cNvSpPr>
          <p:nvPr>
            <p:ph type="body" idx="101" hasCustomPrompt="1"/>
          </p:nvPr>
        </p:nvSpPr>
        <p:spPr>
          <a:xfrm>
            <a:off x="457200" y="1005840"/>
            <a:ext cx="8229600" cy="365760"/>
          </a:xfrm>
          <a:prstGeom prst="rect">
            <a:avLst/>
          </a:prstGeom>
          <a:noFill/>
          <a:ln/>
        </p:spPr>
        <p:txBody>
          <a:bodyPr wrap="square" lIns="0" tIns="0" rIns="0" bIns="0" rtlCol="0" anchor="ctr"/>
          <a:lstStyle/>
          <a:p>
            <a:pPr marL="0" indent="0">
              <a:buNone/>
            </a:pPr>
            <a:r>
              <a:rPr lang="en-US" sz="1600" dirty="0">
                <a:solidFill>
                  <a:schemeClr val="tx2"/>
                </a:solidFill>
              </a:rPr>
              <a:t>COVID faded as geopolitics and input costs took over</a:t>
            </a:r>
            <a:endParaRPr lang="en-US" sz="1600" dirty="0"/>
          </a:p>
        </p:txBody>
      </p:sp>
      <p:sp>
        <p:nvSpPr>
          <p:cNvPr id="4" name="Text 0"/>
          <p:cNvSpPr>
            <a:spLocks noGrp="1"/>
          </p:cNvSpPr>
          <p:nvPr>
            <p:ph type="body" idx="102" hasCustomPrompt="1"/>
          </p:nvPr>
        </p:nvSpPr>
        <p:spPr>
          <a:xfrm>
            <a:off x="457200" y="4663440"/>
            <a:ext cx="7589520" cy="274320"/>
          </a:xfrm>
          <a:prstGeom prst="rect">
            <a:avLst/>
          </a:prstGeom>
          <a:noFill/>
          <a:ln/>
        </p:spPr>
        <p:txBody>
          <a:bodyPr wrap="square" lIns="0" tIns="0" rIns="0" bIns="0" rtlCol="0" anchor="ctr"/>
          <a:lstStyle/>
          <a:p>
            <a:pPr marL="0" indent="0">
              <a:buNone/>
            </a:pPr>
            <a:r>
              <a:rPr lang="en-US" sz="1000" dirty="0">
                <a:solidFill>
                  <a:schemeClr val="tx2"/>
                </a:solidFill>
              </a:rPr>
              <a:t>Share of filings whose supply chain summary mentions the theme, FY2020 to FY2025 (69–77 filings per year).</a:t>
            </a:r>
            <a:endParaRPr lang="en-US" sz="1000" dirty="0"/>
          </a:p>
        </p:txBody>
      </p:sp>
      <p:graphicFrame>
        <p:nvGraphicFramePr>
          <p:cNvPr id="5" name="Chart 0"/>
          <p:cNvGraphicFramePr/>
          <p:nvPr/>
        </p:nvGraphicFramePr>
        <p:xfrm>
          <a:off x="457200" y="1508760"/>
          <a:ext cx="566928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6" name="Shift stat 1"/>
          <p:cNvSpPr txBox="1"/>
          <p:nvPr/>
        </p:nvSpPr>
        <p:spPr>
          <a:xfrm>
            <a:off x="6492240" y="1691640"/>
            <a:ext cx="2194560" cy="868680"/>
          </a:xfrm>
          <a:prstGeom prst="rect">
            <a:avLst/>
          </a:prstGeom>
          <a:noFill/>
          <a:ln/>
        </p:spPr>
        <p:txBody>
          <a:bodyPr wrap="square" lIns="0" tIns="0" rIns="0" bIns="0" rtlCol="0" anchor="t"/>
          <a:lstStyle/>
          <a:p>
            <a:pPr marL="0" indent="0">
              <a:buNone/>
            </a:pPr>
            <a:r>
              <a:rPr lang="en-US" sz="2800" b="1" dirty="0">
                <a:solidFill>
                  <a:srgbClr val="7B8794"/>
                </a:solidFill>
              </a:rPr>
              <a:t>74% → 4%</a:t>
            </a:r>
            <a:endParaRPr lang="en-US" sz="1400" dirty="0"/>
          </a:p>
          <a:p>
            <a:pPr marL="0" indent="0">
              <a:buNone/>
            </a:pPr>
            <a:r>
              <a:rPr lang="en-US" sz="1400" dirty="0">
                <a:solidFill>
                  <a:schemeClr val="tx1"/>
                </a:solidFill>
              </a:rPr>
              <a:t>COVID</a:t>
            </a:r>
            <a:endParaRPr lang="en-US" sz="1400" dirty="0"/>
          </a:p>
        </p:txBody>
      </p:sp>
      <p:sp>
        <p:nvSpPr>
          <p:cNvPr id="7" name="Shift stat 2"/>
          <p:cNvSpPr txBox="1"/>
          <p:nvPr/>
        </p:nvSpPr>
        <p:spPr>
          <a:xfrm>
            <a:off x="6492240" y="2651760"/>
            <a:ext cx="2194560" cy="868680"/>
          </a:xfrm>
          <a:prstGeom prst="rect">
            <a:avLst/>
          </a:prstGeom>
          <a:noFill/>
          <a:ln/>
        </p:spPr>
        <p:txBody>
          <a:bodyPr wrap="square" lIns="0" tIns="0" rIns="0" bIns="0" rtlCol="0" anchor="t"/>
          <a:lstStyle/>
          <a:p>
            <a:pPr marL="0" indent="0">
              <a:buNone/>
            </a:pPr>
            <a:r>
              <a:rPr lang="en-US" sz="2800" b="1" dirty="0">
                <a:solidFill>
                  <a:srgbClr val="D9480F"/>
                </a:solidFill>
              </a:rPr>
              <a:t>19% → 45%</a:t>
            </a:r>
            <a:endParaRPr lang="en-US" sz="1400" dirty="0"/>
          </a:p>
          <a:p>
            <a:pPr marL="0" indent="0">
              <a:buNone/>
            </a:pPr>
            <a:r>
              <a:rPr lang="en-US" sz="1400" dirty="0">
                <a:solidFill>
                  <a:schemeClr val="tx1"/>
                </a:solidFill>
              </a:rPr>
              <a:t>Raw materials / inflation</a:t>
            </a:r>
            <a:endParaRPr lang="en-US" sz="1400" dirty="0"/>
          </a:p>
        </p:txBody>
      </p:sp>
      <p:sp>
        <p:nvSpPr>
          <p:cNvPr id="8" name="Shift stat 3"/>
          <p:cNvSpPr txBox="1"/>
          <p:nvPr/>
        </p:nvSpPr>
        <p:spPr>
          <a:xfrm>
            <a:off x="6492240" y="3611880"/>
            <a:ext cx="2194560" cy="868680"/>
          </a:xfrm>
          <a:prstGeom prst="rect">
            <a:avLst/>
          </a:prstGeom>
          <a:noFill/>
          <a:ln/>
        </p:spPr>
        <p:txBody>
          <a:bodyPr wrap="square" lIns="0" tIns="0" rIns="0" bIns="0" rtlCol="0" anchor="t"/>
          <a:lstStyle/>
          <a:p>
            <a:pPr marL="0" indent="0">
              <a:buNone/>
            </a:pPr>
            <a:r>
              <a:rPr lang="en-US" sz="2800" b="1" dirty="0">
                <a:solidFill>
                  <a:srgbClr val="3E7CB1"/>
                </a:solidFill>
              </a:rPr>
              <a:t>13% → 41%</a:t>
            </a:r>
            <a:endParaRPr lang="en-US" sz="1400" dirty="0"/>
          </a:p>
          <a:p>
            <a:pPr marL="0" indent="0">
              <a:buNone/>
            </a:pPr>
            <a:r>
              <a:rPr lang="en-US" sz="1400" dirty="0">
                <a:solidFill>
                  <a:schemeClr val="tx1"/>
                </a:solidFill>
              </a:rPr>
              <a:t>Geopolitical / trade</a:t>
            </a:r>
            <a:endParaRPr lang="en-US" sz="14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65760"/>
            <a:ext cx="8229600" cy="640080"/>
          </a:xfrm>
          <a:prstGeom prst="rect">
            <a:avLst/>
          </a:prstGeom>
          <a:noFill/>
          <a:ln/>
        </p:spPr>
        <p:txBody>
          <a:bodyPr wrap="square" lIns="0" tIns="0" rIns="0" bIns="0" rtlCol="0" anchor="t"/>
          <a:lstStyle/>
          <a:p>
            <a:pPr marL="0" indent="0">
              <a:buNone/>
            </a:pPr>
            <a:r>
              <a:rPr lang="en-US" sz="3400" b="1" dirty="0">
                <a:solidFill>
                  <a:schemeClr val="tx1"/>
                </a:solidFill>
              </a:rPr>
              <a:t>Top risks in FY2025</a:t>
            </a:r>
            <a:endParaRPr lang="en-US" sz="3400" dirty="0"/>
          </a:p>
        </p:txBody>
      </p:sp>
      <p:sp>
        <p:nvSpPr>
          <p:cNvPr id="3" name="Text 0"/>
          <p:cNvSpPr>
            <a:spLocks noGrp="1"/>
          </p:cNvSpPr>
          <p:nvPr>
            <p:ph type="body" idx="101" hasCustomPrompt="1"/>
          </p:nvPr>
        </p:nvSpPr>
        <p:spPr>
          <a:xfrm>
            <a:off x="457200" y="1005840"/>
            <a:ext cx="8229600" cy="365760"/>
          </a:xfrm>
          <a:prstGeom prst="rect">
            <a:avLst/>
          </a:prstGeom>
          <a:noFill/>
          <a:ln/>
        </p:spPr>
        <p:txBody>
          <a:bodyPr wrap="square" lIns="0" tIns="0" rIns="0" bIns="0" rtlCol="0" anchor="ctr"/>
          <a:lstStyle/>
          <a:p>
            <a:pPr marL="0" indent="0">
              <a:buNone/>
            </a:pPr>
            <a:r>
              <a:rPr lang="en-US" sz="1600" dirty="0">
                <a:solidFill>
                  <a:schemeClr val="tx2"/>
                </a:solidFill>
              </a:rPr>
              <a:t>Costs, trade and suppliers dominate; cyber barely registers</a:t>
            </a:r>
            <a:endParaRPr lang="en-US" sz="1600" dirty="0"/>
          </a:p>
        </p:txBody>
      </p:sp>
      <p:sp>
        <p:nvSpPr>
          <p:cNvPr id="4" name="Text 0"/>
          <p:cNvSpPr>
            <a:spLocks noGrp="1"/>
          </p:cNvSpPr>
          <p:nvPr>
            <p:ph type="body" idx="102" hasCustomPrompt="1"/>
          </p:nvPr>
        </p:nvSpPr>
        <p:spPr>
          <a:xfrm>
            <a:off x="457200" y="4663440"/>
            <a:ext cx="7589520" cy="274320"/>
          </a:xfrm>
          <a:prstGeom prst="rect">
            <a:avLst/>
          </a:prstGeom>
          <a:noFill/>
          <a:ln/>
        </p:spPr>
        <p:txBody>
          <a:bodyPr wrap="square" lIns="0" tIns="0" rIns="0" bIns="0" rtlCol="0" anchor="ctr"/>
          <a:lstStyle/>
          <a:p>
            <a:pPr marL="0" indent="0">
              <a:buNone/>
            </a:pPr>
            <a:r>
              <a:rPr lang="en-US" sz="1000" dirty="0">
                <a:solidFill>
                  <a:schemeClr val="tx2"/>
                </a:solidFill>
              </a:rPr>
              <a:t>Share of FY2025 filings (73 with usable risk text) mentioning each theme; keyword match.</a:t>
            </a:r>
            <a:endParaRPr lang="en-US" sz="1000" dirty="0"/>
          </a:p>
        </p:txBody>
      </p:sp>
      <p:graphicFrame>
        <p:nvGraphicFramePr>
          <p:cNvPr id="5" name="Chart 0"/>
          <p:cNvGraphicFramePr/>
          <p:nvPr/>
        </p:nvGraphicFramePr>
        <p:xfrm>
          <a:off x="457200" y="1554480"/>
          <a:ext cx="585216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6" name="Cyber note card"/>
          <p:cNvSpPr/>
          <p:nvPr/>
        </p:nvSpPr>
        <p:spPr>
          <a:xfrm>
            <a:off x="6583680" y="2011680"/>
            <a:ext cx="2103120" cy="1920240"/>
          </a:xfrm>
          <a:prstGeom prst="roundRect">
            <a:avLst>
              <a:gd name="adj" fmla="val 4762"/>
            </a:avLst>
          </a:prstGeom>
          <a:solidFill>
            <a:schemeClr val="bg2"/>
          </a:solidFill>
          <a:ln/>
        </p:spPr>
        <p:txBody>
          <a:bodyPr/>
          <a:lstStyle/>
          <a:p>
            <a:endParaRPr lang="en-US"/>
          </a:p>
        </p:txBody>
      </p:sp>
      <p:sp>
        <p:nvSpPr>
          <p:cNvPr id="7" name="Cyber note"/>
          <p:cNvSpPr txBox="1"/>
          <p:nvPr/>
        </p:nvSpPr>
        <p:spPr>
          <a:xfrm>
            <a:off x="6720840" y="2148840"/>
            <a:ext cx="1828800" cy="1645920"/>
          </a:xfrm>
          <a:prstGeom prst="rect">
            <a:avLst/>
          </a:prstGeom>
          <a:noFill/>
          <a:ln/>
        </p:spPr>
        <p:txBody>
          <a:bodyPr wrap="square" lIns="0" tIns="0" rIns="0" bIns="0" rtlCol="0" anchor="ctr"/>
          <a:lstStyle/>
          <a:p>
            <a:pPr marL="0" indent="0">
              <a:buNone/>
            </a:pPr>
            <a:r>
              <a:rPr lang="en-US" sz="1400" i="1" dirty="0">
                <a:solidFill>
                  <a:schemeClr val="tx1"/>
                </a:solidFill>
              </a:rPr>
              <a:t>Cyber is probably understated: the review focused on supply chain risk, not IT.</a:t>
            </a:r>
            <a:endParaRPr lang="en-US" sz="14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65760"/>
            <a:ext cx="8229600" cy="640080"/>
          </a:xfrm>
          <a:prstGeom prst="rect">
            <a:avLst/>
          </a:prstGeom>
          <a:noFill/>
          <a:ln/>
        </p:spPr>
        <p:txBody>
          <a:bodyPr wrap="square" lIns="0" tIns="0" rIns="0" bIns="0" rtlCol="0" anchor="t"/>
          <a:lstStyle/>
          <a:p>
            <a:pPr marL="0" indent="0">
              <a:buNone/>
            </a:pPr>
            <a:r>
              <a:rPr lang="en-US" sz="3400" b="1" dirty="0">
                <a:solidFill>
                  <a:schemeClr val="tx1"/>
                </a:solidFill>
              </a:rPr>
              <a:t>Supply chain risk, FY2020–25</a:t>
            </a:r>
            <a:endParaRPr lang="en-US" sz="3400" dirty="0"/>
          </a:p>
        </p:txBody>
      </p:sp>
      <p:sp>
        <p:nvSpPr>
          <p:cNvPr id="3" name="Text 0"/>
          <p:cNvSpPr>
            <a:spLocks noGrp="1"/>
          </p:cNvSpPr>
          <p:nvPr>
            <p:ph type="body" idx="101" hasCustomPrompt="1"/>
          </p:nvPr>
        </p:nvSpPr>
        <p:spPr>
          <a:xfrm>
            <a:off x="457200" y="1005840"/>
            <a:ext cx="8229600" cy="365760"/>
          </a:xfrm>
          <a:prstGeom prst="rect">
            <a:avLst/>
          </a:prstGeom>
          <a:noFill/>
          <a:ln/>
        </p:spPr>
        <p:txBody>
          <a:bodyPr wrap="square" lIns="0" tIns="0" rIns="0" bIns="0" rtlCol="0" anchor="ctr"/>
          <a:lstStyle/>
          <a:p>
            <a:pPr marL="0" indent="0">
              <a:buNone/>
            </a:pPr>
            <a:r>
              <a:rPr lang="en-US" sz="1600" dirty="0">
                <a:solidFill>
                  <a:schemeClr val="tx2"/>
                </a:solidFill>
              </a:rPr>
              <a:t>Two in three summaries call the risk severe; supplier dependence never fades</a:t>
            </a:r>
            <a:endParaRPr lang="en-US" sz="1600" dirty="0"/>
          </a:p>
        </p:txBody>
      </p:sp>
      <p:sp>
        <p:nvSpPr>
          <p:cNvPr id="4" name="Text 0"/>
          <p:cNvSpPr>
            <a:spLocks noGrp="1"/>
          </p:cNvSpPr>
          <p:nvPr>
            <p:ph type="body" idx="102" hasCustomPrompt="1"/>
          </p:nvPr>
        </p:nvSpPr>
        <p:spPr>
          <a:xfrm>
            <a:off x="457200" y="4663440"/>
            <a:ext cx="7589520" cy="274320"/>
          </a:xfrm>
          <a:prstGeom prst="rect">
            <a:avLst/>
          </a:prstGeom>
          <a:noFill/>
          <a:ln/>
        </p:spPr>
        <p:txBody>
          <a:bodyPr wrap="square" lIns="0" tIns="0" rIns="0" bIns="0" rtlCol="0" anchor="ctr"/>
          <a:lstStyle/>
          <a:p>
            <a:pPr marL="0" indent="0">
              <a:buNone/>
            </a:pPr>
            <a:r>
              <a:rPr lang="en-US" sz="1000" dirty="0">
                <a:solidFill>
                  <a:schemeClr val="tx2"/>
                </a:solidFill>
              </a:rPr>
              <a:t>Share of the 442 filings with usable Item 1A text whose supply chain summary mentions each theme; keyword match.</a:t>
            </a:r>
            <a:endParaRPr lang="en-US" sz="1000" dirty="0"/>
          </a:p>
        </p:txBody>
      </p:sp>
      <p:sp>
        <p:nvSpPr>
          <p:cNvPr id="5" name="Severe card"/>
          <p:cNvSpPr/>
          <p:nvPr/>
        </p:nvSpPr>
        <p:spPr>
          <a:xfrm>
            <a:off x="457200" y="1737360"/>
            <a:ext cx="2377440" cy="2377440"/>
          </a:xfrm>
          <a:prstGeom prst="roundRect">
            <a:avLst>
              <a:gd name="adj" fmla="val 3846"/>
            </a:avLst>
          </a:prstGeom>
          <a:solidFill>
            <a:schemeClr val="bg2"/>
          </a:solidFill>
          <a:ln/>
        </p:spPr>
        <p:txBody>
          <a:bodyPr/>
          <a:lstStyle/>
          <a:p>
            <a:endParaRPr lang="en-US"/>
          </a:p>
        </p:txBody>
      </p:sp>
      <p:sp>
        <p:nvSpPr>
          <p:cNvPr id="6" name="Severe value"/>
          <p:cNvSpPr txBox="1"/>
          <p:nvPr/>
        </p:nvSpPr>
        <p:spPr>
          <a:xfrm>
            <a:off x="457200" y="2011680"/>
            <a:ext cx="2377440" cy="822960"/>
          </a:xfrm>
          <a:prstGeom prst="rect">
            <a:avLst/>
          </a:prstGeom>
          <a:noFill/>
          <a:ln/>
        </p:spPr>
        <p:txBody>
          <a:bodyPr wrap="square" lIns="0" tIns="0" rIns="0" bIns="0" rtlCol="0" anchor="ctr"/>
          <a:lstStyle/>
          <a:p>
            <a:pPr marL="0" indent="0" algn="ctr">
              <a:buNone/>
            </a:pPr>
            <a:r>
              <a:rPr lang="en-US" sz="4400" b="1" dirty="0">
                <a:solidFill>
                  <a:schemeClr val="accent1"/>
                </a:solidFill>
              </a:rPr>
              <a:t>68%</a:t>
            </a:r>
            <a:endParaRPr lang="en-US" sz="4400" dirty="0"/>
          </a:p>
        </p:txBody>
      </p:sp>
      <p:sp>
        <p:nvSpPr>
          <p:cNvPr id="7" name="Severe label"/>
          <p:cNvSpPr txBox="1"/>
          <p:nvPr/>
        </p:nvSpPr>
        <p:spPr>
          <a:xfrm>
            <a:off x="640080" y="2971800"/>
            <a:ext cx="2011680" cy="914400"/>
          </a:xfrm>
          <a:prstGeom prst="rect">
            <a:avLst/>
          </a:prstGeom>
          <a:noFill/>
          <a:ln/>
        </p:spPr>
        <p:txBody>
          <a:bodyPr wrap="square" lIns="0" tIns="0" rIns="0" bIns="0" rtlCol="0" anchor="t"/>
          <a:lstStyle/>
          <a:p>
            <a:pPr marL="0" indent="0" algn="ctr">
              <a:buNone/>
            </a:pPr>
            <a:r>
              <a:rPr lang="en-US" sz="1400" dirty="0">
                <a:solidFill>
                  <a:schemeClr val="tx1"/>
                </a:solidFill>
              </a:rPr>
              <a:t>of risk summaries use the word "severe"</a:t>
            </a:r>
            <a:endParaRPr lang="en-US" sz="1400" dirty="0"/>
          </a:p>
        </p:txBody>
      </p:sp>
      <p:graphicFrame>
        <p:nvGraphicFramePr>
          <p:cNvPr id="8" name="Chart 0"/>
          <p:cNvGraphicFramePr/>
          <p:nvPr/>
        </p:nvGraphicFramePr>
        <p:xfrm>
          <a:off x="3108960" y="1554480"/>
          <a:ext cx="557784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65760"/>
            <a:ext cx="8229600" cy="640080"/>
          </a:xfrm>
          <a:prstGeom prst="rect">
            <a:avLst/>
          </a:prstGeom>
          <a:noFill/>
          <a:ln/>
        </p:spPr>
        <p:txBody>
          <a:bodyPr wrap="square" lIns="0" tIns="0" rIns="0" bIns="0" rtlCol="0" anchor="t"/>
          <a:lstStyle/>
          <a:p>
            <a:pPr marL="0" indent="0">
              <a:buNone/>
            </a:pPr>
            <a:r>
              <a:rPr lang="en-US" sz="3400" b="1" dirty="0">
                <a:solidFill>
                  <a:schemeClr val="tx1"/>
                </a:solidFill>
              </a:rPr>
              <a:t>Stakeholders and actions</a:t>
            </a:r>
            <a:endParaRPr lang="en-US" sz="3400" dirty="0"/>
          </a:p>
        </p:txBody>
      </p:sp>
      <p:sp>
        <p:nvSpPr>
          <p:cNvPr id="3" name="Text 0"/>
          <p:cNvSpPr>
            <a:spLocks noGrp="1"/>
          </p:cNvSpPr>
          <p:nvPr>
            <p:ph type="body" idx="101" hasCustomPrompt="1"/>
          </p:nvPr>
        </p:nvSpPr>
        <p:spPr>
          <a:xfrm>
            <a:off x="457200" y="1005840"/>
            <a:ext cx="8229600" cy="365760"/>
          </a:xfrm>
          <a:prstGeom prst="rect">
            <a:avLst/>
          </a:prstGeom>
          <a:noFill/>
          <a:ln/>
        </p:spPr>
        <p:txBody>
          <a:bodyPr wrap="square" lIns="0" tIns="0" rIns="0" bIns="0" rtlCol="0" anchor="ctr"/>
          <a:lstStyle/>
          <a:p>
            <a:pPr marL="0" indent="0">
              <a:buNone/>
            </a:pPr>
            <a:r>
              <a:rPr lang="en-US" sz="1600" dirty="0">
                <a:solidFill>
                  <a:schemeClr val="tx2"/>
                </a:solidFill>
              </a:rPr>
              <a:t>Every filing maps the same five groups; the advice is resilience first</a:t>
            </a:r>
            <a:endParaRPr lang="en-US" sz="1600" dirty="0"/>
          </a:p>
        </p:txBody>
      </p:sp>
      <p:sp>
        <p:nvSpPr>
          <p:cNvPr id="4" name="Text 0"/>
          <p:cNvSpPr>
            <a:spLocks noGrp="1"/>
          </p:cNvSpPr>
          <p:nvPr>
            <p:ph type="body" idx="102" hasCustomPrompt="1"/>
          </p:nvPr>
        </p:nvSpPr>
        <p:spPr>
          <a:xfrm>
            <a:off x="457200" y="4663440"/>
            <a:ext cx="7589520" cy="274320"/>
          </a:xfrm>
          <a:prstGeom prst="rect">
            <a:avLst/>
          </a:prstGeom>
          <a:noFill/>
          <a:ln/>
        </p:spPr>
        <p:txBody>
          <a:bodyPr wrap="square" lIns="0" tIns="0" rIns="0" bIns="0" rtlCol="0" anchor="ctr"/>
          <a:lstStyle/>
          <a:p>
            <a:pPr marL="0" indent="0">
              <a:buNone/>
            </a:pPr>
            <a:r>
              <a:rPr lang="en-US" sz="1000" dirty="0">
                <a:solidFill>
                  <a:schemeClr val="tx2"/>
                </a:solidFill>
              </a:rPr>
              <a:t>All 472 write-ups name the same five groups, and 30 are generic (no Item 1A text). Action shares are keyword matches.</a:t>
            </a:r>
            <a:endParaRPr lang="en-US" sz="1000" dirty="0"/>
          </a:p>
        </p:txBody>
      </p:sp>
      <p:sp>
        <p:nvSpPr>
          <p:cNvPr id="5" name="Stakeholder 1 dot"/>
          <p:cNvSpPr/>
          <p:nvPr/>
        </p:nvSpPr>
        <p:spPr>
          <a:xfrm>
            <a:off x="457200" y="1645920"/>
            <a:ext cx="329184" cy="329184"/>
          </a:xfrm>
          <a:prstGeom prst="ellipse">
            <a:avLst/>
          </a:prstGeom>
          <a:solidFill>
            <a:schemeClr val="accent1"/>
          </a:solidFill>
          <a:ln/>
        </p:spPr>
        <p:txBody>
          <a:bodyPr/>
          <a:lstStyle/>
          <a:p>
            <a:endParaRPr lang="en-US"/>
          </a:p>
        </p:txBody>
      </p:sp>
      <p:sp>
        <p:nvSpPr>
          <p:cNvPr id="6" name="Stakeholder 1 number"/>
          <p:cNvSpPr txBox="1"/>
          <p:nvPr/>
        </p:nvSpPr>
        <p:spPr>
          <a:xfrm>
            <a:off x="457200" y="1645920"/>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7" name="Stakeholder text 1"/>
          <p:cNvSpPr txBox="1"/>
          <p:nvPr/>
        </p:nvSpPr>
        <p:spPr>
          <a:xfrm>
            <a:off x="960120" y="1600200"/>
            <a:ext cx="2926080" cy="457200"/>
          </a:xfrm>
          <a:prstGeom prst="rect">
            <a:avLst/>
          </a:prstGeom>
          <a:noFill/>
          <a:ln/>
        </p:spPr>
        <p:txBody>
          <a:bodyPr wrap="square" lIns="0" tIns="0" rIns="0" bIns="0" rtlCol="0" anchor="t"/>
          <a:lstStyle/>
          <a:p>
            <a:pPr marL="0" indent="0">
              <a:buNone/>
            </a:pPr>
            <a:r>
              <a:rPr lang="en-US" sz="1400" b="1" dirty="0">
                <a:solidFill>
                  <a:schemeClr val="tx1"/>
                </a:solidFill>
              </a:rPr>
              <a:t>Customers</a:t>
            </a:r>
            <a:endParaRPr lang="en-US" sz="1400" dirty="0"/>
          </a:p>
          <a:p>
            <a:pPr marL="0" indent="0">
              <a:buNone/>
            </a:pPr>
            <a:r>
              <a:rPr lang="en-US" sz="1300" dirty="0">
                <a:solidFill>
                  <a:schemeClr val="tx2"/>
                </a:solidFill>
              </a:rPr>
              <a:t>delays, availability, price hikes</a:t>
            </a:r>
            <a:endParaRPr lang="en-US" sz="1400" dirty="0"/>
          </a:p>
        </p:txBody>
      </p:sp>
      <p:sp>
        <p:nvSpPr>
          <p:cNvPr id="8" name="Stakeholder 2 dot"/>
          <p:cNvSpPr/>
          <p:nvPr/>
        </p:nvSpPr>
        <p:spPr>
          <a:xfrm>
            <a:off x="457200" y="2231136"/>
            <a:ext cx="329184" cy="329184"/>
          </a:xfrm>
          <a:prstGeom prst="ellipse">
            <a:avLst/>
          </a:prstGeom>
          <a:solidFill>
            <a:schemeClr val="accent1"/>
          </a:solidFill>
          <a:ln/>
        </p:spPr>
        <p:txBody>
          <a:bodyPr/>
          <a:lstStyle/>
          <a:p>
            <a:endParaRPr lang="en-US"/>
          </a:p>
        </p:txBody>
      </p:sp>
      <p:sp>
        <p:nvSpPr>
          <p:cNvPr id="9" name="Stakeholder 2 number"/>
          <p:cNvSpPr txBox="1"/>
          <p:nvPr/>
        </p:nvSpPr>
        <p:spPr>
          <a:xfrm>
            <a:off x="457200" y="2231136"/>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0" name="Stakeholder text 2"/>
          <p:cNvSpPr txBox="1"/>
          <p:nvPr/>
        </p:nvSpPr>
        <p:spPr>
          <a:xfrm>
            <a:off x="960120" y="2185416"/>
            <a:ext cx="2926080" cy="457200"/>
          </a:xfrm>
          <a:prstGeom prst="rect">
            <a:avLst/>
          </a:prstGeom>
          <a:noFill/>
          <a:ln/>
        </p:spPr>
        <p:txBody>
          <a:bodyPr wrap="square" lIns="0" tIns="0" rIns="0" bIns="0" rtlCol="0" anchor="t"/>
          <a:lstStyle/>
          <a:p>
            <a:pPr marL="0" indent="0">
              <a:buNone/>
            </a:pPr>
            <a:r>
              <a:rPr lang="en-US" sz="1400" b="1" dirty="0">
                <a:solidFill>
                  <a:schemeClr val="tx1"/>
                </a:solidFill>
              </a:rPr>
              <a:t>Suppliers</a:t>
            </a:r>
            <a:endParaRPr lang="en-US" sz="1400" dirty="0"/>
          </a:p>
          <a:p>
            <a:pPr marL="0" indent="0">
              <a:buNone/>
            </a:pPr>
            <a:r>
              <a:rPr lang="en-US" sz="1300" dirty="0">
                <a:solidFill>
                  <a:schemeClr val="tx2"/>
                </a:solidFill>
              </a:rPr>
              <a:t>disrupted supply, cost pressure</a:t>
            </a:r>
            <a:endParaRPr lang="en-US" sz="1400" dirty="0"/>
          </a:p>
        </p:txBody>
      </p:sp>
      <p:sp>
        <p:nvSpPr>
          <p:cNvPr id="11" name="Stakeholder 3 dot"/>
          <p:cNvSpPr/>
          <p:nvPr/>
        </p:nvSpPr>
        <p:spPr>
          <a:xfrm>
            <a:off x="457200" y="2816352"/>
            <a:ext cx="329184" cy="329184"/>
          </a:xfrm>
          <a:prstGeom prst="ellipse">
            <a:avLst/>
          </a:prstGeom>
          <a:solidFill>
            <a:schemeClr val="accent1"/>
          </a:solidFill>
          <a:ln/>
        </p:spPr>
        <p:txBody>
          <a:bodyPr/>
          <a:lstStyle/>
          <a:p>
            <a:endParaRPr lang="en-US"/>
          </a:p>
        </p:txBody>
      </p:sp>
      <p:sp>
        <p:nvSpPr>
          <p:cNvPr id="12" name="Stakeholder 3 number"/>
          <p:cNvSpPr txBox="1"/>
          <p:nvPr/>
        </p:nvSpPr>
        <p:spPr>
          <a:xfrm>
            <a:off x="457200" y="2816352"/>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3" name="Stakeholder text 3"/>
          <p:cNvSpPr txBox="1"/>
          <p:nvPr/>
        </p:nvSpPr>
        <p:spPr>
          <a:xfrm>
            <a:off x="960120" y="2770632"/>
            <a:ext cx="2926080" cy="457200"/>
          </a:xfrm>
          <a:prstGeom prst="rect">
            <a:avLst/>
          </a:prstGeom>
          <a:noFill/>
          <a:ln/>
        </p:spPr>
        <p:txBody>
          <a:bodyPr wrap="square" lIns="0" tIns="0" rIns="0" bIns="0" rtlCol="0" anchor="t"/>
          <a:lstStyle/>
          <a:p>
            <a:pPr marL="0" indent="0">
              <a:buNone/>
            </a:pPr>
            <a:r>
              <a:rPr lang="en-US" sz="1400" b="1" dirty="0">
                <a:solidFill>
                  <a:schemeClr val="tx1"/>
                </a:solidFill>
              </a:rPr>
              <a:t>Employees</a:t>
            </a:r>
            <a:endParaRPr lang="en-US" sz="1400" dirty="0"/>
          </a:p>
          <a:p>
            <a:pPr marL="0" indent="0">
              <a:buNone/>
            </a:pPr>
            <a:r>
              <a:rPr lang="en-US" sz="1300" dirty="0">
                <a:solidFill>
                  <a:schemeClr val="tx2"/>
                </a:solidFill>
              </a:rPr>
              <a:t>job security, safety</a:t>
            </a:r>
            <a:endParaRPr lang="en-US" sz="1400" dirty="0"/>
          </a:p>
        </p:txBody>
      </p:sp>
      <p:sp>
        <p:nvSpPr>
          <p:cNvPr id="14" name="Stakeholder 4 dot"/>
          <p:cNvSpPr/>
          <p:nvPr/>
        </p:nvSpPr>
        <p:spPr>
          <a:xfrm>
            <a:off x="457200" y="3401568"/>
            <a:ext cx="329184" cy="329184"/>
          </a:xfrm>
          <a:prstGeom prst="ellipse">
            <a:avLst/>
          </a:prstGeom>
          <a:solidFill>
            <a:schemeClr val="accent1"/>
          </a:solidFill>
          <a:ln/>
        </p:spPr>
        <p:txBody>
          <a:bodyPr/>
          <a:lstStyle/>
          <a:p>
            <a:endParaRPr lang="en-US"/>
          </a:p>
        </p:txBody>
      </p:sp>
      <p:sp>
        <p:nvSpPr>
          <p:cNvPr id="15" name="Stakeholder 4 number"/>
          <p:cNvSpPr txBox="1"/>
          <p:nvPr/>
        </p:nvSpPr>
        <p:spPr>
          <a:xfrm>
            <a:off x="457200" y="3401568"/>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6" name="Stakeholder text 4"/>
          <p:cNvSpPr txBox="1"/>
          <p:nvPr/>
        </p:nvSpPr>
        <p:spPr>
          <a:xfrm>
            <a:off x="960120" y="3355848"/>
            <a:ext cx="2926080" cy="457200"/>
          </a:xfrm>
          <a:prstGeom prst="rect">
            <a:avLst/>
          </a:prstGeom>
          <a:noFill/>
          <a:ln/>
        </p:spPr>
        <p:txBody>
          <a:bodyPr wrap="square" lIns="0" tIns="0" rIns="0" bIns="0" rtlCol="0" anchor="t"/>
          <a:lstStyle/>
          <a:p>
            <a:pPr marL="0" indent="0">
              <a:buNone/>
            </a:pPr>
            <a:r>
              <a:rPr lang="en-US" sz="1400" b="1" dirty="0">
                <a:solidFill>
                  <a:schemeClr val="tx1"/>
                </a:solidFill>
              </a:rPr>
              <a:t>Lenders</a:t>
            </a:r>
            <a:endParaRPr lang="en-US" sz="1400" dirty="0"/>
          </a:p>
          <a:p>
            <a:pPr marL="0" indent="0">
              <a:buNone/>
            </a:pPr>
            <a:r>
              <a:rPr lang="en-US" sz="1300" dirty="0">
                <a:solidFill>
                  <a:schemeClr val="tx2"/>
                </a:solidFill>
              </a:rPr>
              <a:t>higher credit risk</a:t>
            </a:r>
            <a:endParaRPr lang="en-US" sz="1400" dirty="0"/>
          </a:p>
        </p:txBody>
      </p:sp>
      <p:sp>
        <p:nvSpPr>
          <p:cNvPr id="17" name="Stakeholder 5 dot"/>
          <p:cNvSpPr/>
          <p:nvPr/>
        </p:nvSpPr>
        <p:spPr>
          <a:xfrm>
            <a:off x="457200" y="3986784"/>
            <a:ext cx="329184" cy="329184"/>
          </a:xfrm>
          <a:prstGeom prst="ellipse">
            <a:avLst/>
          </a:prstGeom>
          <a:solidFill>
            <a:schemeClr val="accent1"/>
          </a:solidFill>
          <a:ln/>
        </p:spPr>
        <p:txBody>
          <a:bodyPr/>
          <a:lstStyle/>
          <a:p>
            <a:endParaRPr lang="en-US"/>
          </a:p>
        </p:txBody>
      </p:sp>
      <p:sp>
        <p:nvSpPr>
          <p:cNvPr id="18" name="Stakeholder 5 number"/>
          <p:cNvSpPr txBox="1"/>
          <p:nvPr/>
        </p:nvSpPr>
        <p:spPr>
          <a:xfrm>
            <a:off x="457200" y="3986784"/>
            <a:ext cx="329184" cy="329184"/>
          </a:xfrm>
          <a:prstGeom prst="rect">
            <a:avLst/>
          </a:prstGeom>
          <a:noFill/>
          <a:ln/>
        </p:spPr>
        <p:txBody>
          <a:bodyPr wrap="square" lIns="0" tIns="0" rIns="0" bIns="0" rtlCol="0" anchor="ctr"/>
          <a:lstStyle/>
          <a:p>
            <a:pPr marL="0" indent="0" algn="ctr">
              <a:buNone/>
            </a:pPr>
            <a:r>
              <a:rPr lang="en-US" sz="1300" b="1" dirty="0">
                <a:solidFill>
                  <a:schemeClr val="bg1"/>
                </a:solidFill>
              </a:rPr>
              <a:t>5</a:t>
            </a:r>
            <a:endParaRPr lang="en-US" sz="1300" dirty="0"/>
          </a:p>
        </p:txBody>
      </p:sp>
      <p:sp>
        <p:nvSpPr>
          <p:cNvPr id="19" name="Stakeholder text 5"/>
          <p:cNvSpPr txBox="1"/>
          <p:nvPr/>
        </p:nvSpPr>
        <p:spPr>
          <a:xfrm>
            <a:off x="960120" y="3941064"/>
            <a:ext cx="2926080" cy="457200"/>
          </a:xfrm>
          <a:prstGeom prst="rect">
            <a:avLst/>
          </a:prstGeom>
          <a:noFill/>
          <a:ln/>
        </p:spPr>
        <p:txBody>
          <a:bodyPr wrap="square" lIns="0" tIns="0" rIns="0" bIns="0" rtlCol="0" anchor="t"/>
          <a:lstStyle/>
          <a:p>
            <a:pPr marL="0" indent="0">
              <a:buNone/>
            </a:pPr>
            <a:r>
              <a:rPr lang="en-US" sz="1400" b="1" dirty="0">
                <a:solidFill>
                  <a:schemeClr val="tx1"/>
                </a:solidFill>
              </a:rPr>
              <a:t>Shareholders</a:t>
            </a:r>
            <a:endParaRPr lang="en-US" sz="1400" dirty="0"/>
          </a:p>
          <a:p>
            <a:pPr marL="0" indent="0">
              <a:buNone/>
            </a:pPr>
            <a:r>
              <a:rPr lang="en-US" sz="1300" dirty="0">
                <a:solidFill>
                  <a:schemeClr val="tx2"/>
                </a:solidFill>
              </a:rPr>
              <a:t>stock volatility</a:t>
            </a:r>
            <a:endParaRPr lang="en-US" sz="1400" dirty="0"/>
          </a:p>
        </p:txBody>
      </p:sp>
      <p:sp>
        <p:nvSpPr>
          <p:cNvPr id="20" name="Actions heading"/>
          <p:cNvSpPr txBox="1"/>
          <p:nvPr/>
        </p:nvSpPr>
        <p:spPr>
          <a:xfrm>
            <a:off x="4297680" y="1554480"/>
            <a:ext cx="4389120" cy="274320"/>
          </a:xfrm>
          <a:prstGeom prst="rect">
            <a:avLst/>
          </a:prstGeom>
          <a:noFill/>
          <a:ln/>
        </p:spPr>
        <p:txBody>
          <a:bodyPr wrap="square" lIns="0" tIns="0" rIns="0" bIns="0" rtlCol="0" anchor="t"/>
          <a:lstStyle/>
          <a:p>
            <a:pPr marL="0" indent="0">
              <a:buNone/>
            </a:pPr>
            <a:r>
              <a:rPr lang="en-US" sz="1400" b="1" dirty="0">
                <a:solidFill>
                  <a:schemeClr val="tx1"/>
                </a:solidFill>
              </a:rPr>
              <a:t>Recommended actions (share of filings)</a:t>
            </a:r>
            <a:endParaRPr lang="en-US" sz="1400" dirty="0"/>
          </a:p>
        </p:txBody>
      </p:sp>
      <p:graphicFrame>
        <p:nvGraphicFramePr>
          <p:cNvPr id="21" name="Chart 0"/>
          <p:cNvGraphicFramePr/>
          <p:nvPr/>
        </p:nvGraphicFramePr>
        <p:xfrm>
          <a:off x="4297680" y="1828800"/>
          <a:ext cx="438912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65760"/>
            <a:ext cx="8229600" cy="640080"/>
          </a:xfrm>
          <a:prstGeom prst="rect">
            <a:avLst/>
          </a:prstGeom>
          <a:noFill/>
          <a:ln/>
        </p:spPr>
        <p:txBody>
          <a:bodyPr wrap="square" lIns="0" tIns="0" rIns="0" bIns="0" rtlCol="0" anchor="t"/>
          <a:lstStyle/>
          <a:p>
            <a:pPr marL="0" indent="0">
              <a:buNone/>
            </a:pPr>
            <a:r>
              <a:rPr lang="en-US" sz="3400" b="1" dirty="0">
                <a:solidFill>
                  <a:schemeClr val="tx1"/>
                </a:solidFill>
              </a:rPr>
              <a:t>28 outliers, three causes</a:t>
            </a:r>
            <a:endParaRPr lang="en-US" sz="3400" dirty="0"/>
          </a:p>
        </p:txBody>
      </p:sp>
      <p:sp>
        <p:nvSpPr>
          <p:cNvPr id="3" name="Text 0"/>
          <p:cNvSpPr>
            <a:spLocks noGrp="1"/>
          </p:cNvSpPr>
          <p:nvPr>
            <p:ph type="body" idx="101" hasCustomPrompt="1"/>
          </p:nvPr>
        </p:nvSpPr>
        <p:spPr>
          <a:xfrm>
            <a:off x="457200" y="1005840"/>
            <a:ext cx="8229600" cy="365760"/>
          </a:xfrm>
          <a:prstGeom prst="rect">
            <a:avLst/>
          </a:prstGeom>
          <a:noFill/>
          <a:ln/>
        </p:spPr>
        <p:txBody>
          <a:bodyPr wrap="square" lIns="0" tIns="0" rIns="0" bIns="0" rtlCol="0" anchor="ctr"/>
          <a:lstStyle/>
          <a:p>
            <a:pPr marL="0" indent="0">
              <a:buNone/>
            </a:pPr>
            <a:r>
              <a:rPr lang="en-US" sz="1600" dirty="0">
                <a:solidFill>
                  <a:schemeClr val="tx2"/>
                </a:solidFill>
              </a:rPr>
              <a:t>Leverage explains 20 of 28; COVID and one-off charges explain 7</a:t>
            </a:r>
            <a:endParaRPr lang="en-US" sz="1600" dirty="0"/>
          </a:p>
        </p:txBody>
      </p:sp>
      <p:sp>
        <p:nvSpPr>
          <p:cNvPr id="4" name="Text 0"/>
          <p:cNvSpPr>
            <a:spLocks noGrp="1"/>
          </p:cNvSpPr>
          <p:nvPr>
            <p:ph type="body" idx="102" hasCustomPrompt="1"/>
          </p:nvPr>
        </p:nvSpPr>
        <p:spPr>
          <a:xfrm>
            <a:off x="457200" y="4663440"/>
            <a:ext cx="7589520" cy="274320"/>
          </a:xfrm>
          <a:prstGeom prst="rect">
            <a:avLst/>
          </a:prstGeom>
          <a:noFill/>
          <a:ln/>
        </p:spPr>
        <p:txBody>
          <a:bodyPr wrap="square" lIns="0" tIns="0" rIns="0" bIns="0" rtlCol="0" anchor="ctr"/>
          <a:lstStyle/>
          <a:p>
            <a:pPr marL="0" indent="0">
              <a:buNone/>
            </a:pPr>
            <a:r>
              <a:rPr lang="en-US" sz="1000" dirty="0">
                <a:solidFill>
                  <a:schemeClr val="tx2"/>
                </a:solidFill>
              </a:rPr>
              <a:t>Outlier = ROE below −20% or above 66% (IQR rule). COVID and one-off attributions use public context, not the file.</a:t>
            </a:r>
            <a:endParaRPr lang="en-US" sz="1000" dirty="0"/>
          </a:p>
        </p:txBody>
      </p:sp>
      <p:sp>
        <p:nvSpPr>
          <p:cNvPr id="5" name="Outlier card"/>
          <p:cNvSpPr/>
          <p:nvPr/>
        </p:nvSpPr>
        <p:spPr>
          <a:xfrm>
            <a:off x="457200" y="1737360"/>
            <a:ext cx="2377440" cy="2377440"/>
          </a:xfrm>
          <a:prstGeom prst="roundRect">
            <a:avLst>
              <a:gd name="adj" fmla="val 3846"/>
            </a:avLst>
          </a:prstGeom>
          <a:solidFill>
            <a:schemeClr val="bg2"/>
          </a:solidFill>
          <a:ln/>
        </p:spPr>
        <p:txBody>
          <a:bodyPr/>
          <a:lstStyle/>
          <a:p>
            <a:endParaRPr lang="en-US"/>
          </a:p>
        </p:txBody>
      </p:sp>
      <p:sp>
        <p:nvSpPr>
          <p:cNvPr id="6" name="Outlier value"/>
          <p:cNvSpPr txBox="1"/>
          <p:nvPr/>
        </p:nvSpPr>
        <p:spPr>
          <a:xfrm>
            <a:off x="457200" y="2011680"/>
            <a:ext cx="2377440" cy="822960"/>
          </a:xfrm>
          <a:prstGeom prst="rect">
            <a:avLst/>
          </a:prstGeom>
          <a:noFill/>
          <a:ln/>
        </p:spPr>
        <p:txBody>
          <a:bodyPr wrap="square" lIns="0" tIns="0" rIns="0" bIns="0" rtlCol="0" anchor="ctr"/>
          <a:lstStyle/>
          <a:p>
            <a:pPr marL="0" indent="0" algn="ctr">
              <a:buNone/>
            </a:pPr>
            <a:r>
              <a:rPr lang="en-US" sz="4400" b="1" dirty="0">
                <a:solidFill>
                  <a:schemeClr val="accent1"/>
                </a:solidFill>
              </a:rPr>
              <a:t>28</a:t>
            </a:r>
            <a:endParaRPr lang="en-US" sz="4400" dirty="0"/>
          </a:p>
        </p:txBody>
      </p:sp>
      <p:sp>
        <p:nvSpPr>
          <p:cNvPr id="7" name="Outlier label"/>
          <p:cNvSpPr txBox="1"/>
          <p:nvPr/>
        </p:nvSpPr>
        <p:spPr>
          <a:xfrm>
            <a:off x="640080" y="2971800"/>
            <a:ext cx="2011680" cy="1005840"/>
          </a:xfrm>
          <a:prstGeom prst="rect">
            <a:avLst/>
          </a:prstGeom>
          <a:noFill/>
          <a:ln/>
        </p:spPr>
        <p:txBody>
          <a:bodyPr wrap="square" lIns="0" tIns="0" rIns="0" bIns="0" rtlCol="0" anchor="t"/>
          <a:lstStyle/>
          <a:p>
            <a:pPr marL="0" indent="0" algn="ctr">
              <a:buNone/>
            </a:pPr>
            <a:r>
              <a:rPr lang="en-US" sz="1400" dirty="0">
                <a:solidFill>
                  <a:schemeClr val="tx1"/>
                </a:solidFill>
              </a:rPr>
              <a:t>outlier filings (7% of 376 with ROE) across 14 companies</a:t>
            </a:r>
            <a:endParaRPr lang="en-US" sz="1400" dirty="0"/>
          </a:p>
        </p:txBody>
      </p:sp>
      <p:graphicFrame>
        <p:nvGraphicFramePr>
          <p:cNvPr id="8" name="Chart 0"/>
          <p:cNvGraphicFramePr/>
          <p:nvPr/>
        </p:nvGraphicFramePr>
        <p:xfrm>
          <a:off x="3108960" y="1554480"/>
          <a:ext cx="557784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65760"/>
            <a:ext cx="8229600" cy="640080"/>
          </a:xfrm>
          <a:prstGeom prst="rect">
            <a:avLst/>
          </a:prstGeom>
          <a:noFill/>
          <a:ln/>
        </p:spPr>
        <p:txBody>
          <a:bodyPr wrap="square" lIns="0" tIns="0" rIns="0" bIns="0" rtlCol="0" anchor="t"/>
          <a:lstStyle/>
          <a:p>
            <a:pPr marL="0" indent="0">
              <a:buNone/>
            </a:pPr>
            <a:r>
              <a:rPr lang="en-US" sz="3400" b="1" dirty="0">
                <a:solidFill>
                  <a:schemeClr val="tx1"/>
                </a:solidFill>
              </a:rPr>
              <a:t>High ROE is a leverage story</a:t>
            </a:r>
            <a:endParaRPr lang="en-US" sz="3400" dirty="0"/>
          </a:p>
        </p:txBody>
      </p:sp>
      <p:sp>
        <p:nvSpPr>
          <p:cNvPr id="3" name="Text 0"/>
          <p:cNvSpPr>
            <a:spLocks noGrp="1"/>
          </p:cNvSpPr>
          <p:nvPr>
            <p:ph type="body" idx="101" hasCustomPrompt="1"/>
          </p:nvPr>
        </p:nvSpPr>
        <p:spPr>
          <a:xfrm>
            <a:off x="457200" y="1005840"/>
            <a:ext cx="8229600" cy="365760"/>
          </a:xfrm>
          <a:prstGeom prst="rect">
            <a:avLst/>
          </a:prstGeom>
          <a:noFill/>
          <a:ln/>
        </p:spPr>
        <p:txBody>
          <a:bodyPr wrap="square" lIns="0" tIns="0" rIns="0" bIns="0" rtlCol="0" anchor="ctr"/>
          <a:lstStyle/>
          <a:p>
            <a:pPr marL="0" indent="0">
              <a:buNone/>
            </a:pPr>
            <a:r>
              <a:rPr lang="en-US" sz="1600" dirty="0">
                <a:solidFill>
                  <a:schemeClr val="tx2"/>
                </a:solidFill>
              </a:rPr>
              <a:t>Thin equity, not stronger operations, drives the top outliers</a:t>
            </a:r>
            <a:endParaRPr lang="en-US" sz="1600" dirty="0"/>
          </a:p>
        </p:txBody>
      </p:sp>
      <p:sp>
        <p:nvSpPr>
          <p:cNvPr id="4" name="Text 0"/>
          <p:cNvSpPr>
            <a:spLocks noGrp="1"/>
          </p:cNvSpPr>
          <p:nvPr>
            <p:ph type="body" idx="102" hasCustomPrompt="1"/>
          </p:nvPr>
        </p:nvSpPr>
        <p:spPr>
          <a:xfrm>
            <a:off x="457200" y="4663440"/>
            <a:ext cx="7589520" cy="274320"/>
          </a:xfrm>
          <a:prstGeom prst="rect">
            <a:avLst/>
          </a:prstGeom>
          <a:noFill/>
          <a:ln/>
        </p:spPr>
        <p:txBody>
          <a:bodyPr wrap="square" lIns="0" tIns="0" rIns="0" bIns="0" rtlCol="0" anchor="ctr"/>
          <a:lstStyle/>
          <a:p>
            <a:pPr marL="0" indent="0">
              <a:buNone/>
            </a:pPr>
            <a:r>
              <a:rPr lang="en-US" sz="1000" dirty="0">
                <a:solidFill>
                  <a:schemeClr val="tx2"/>
                </a:solidFill>
              </a:rPr>
              <a:t>High outlier = ROE above 66%; multipliers parsed from the DuPont write-ups (19 of 20 parseable). Lowest high-outlier multiplier: 3.5×.</a:t>
            </a:r>
            <a:endParaRPr lang="en-US" sz="1000" dirty="0"/>
          </a:p>
        </p:txBody>
      </p:sp>
      <p:sp>
        <p:nvSpPr>
          <p:cNvPr id="5" name="Chart heading"/>
          <p:cNvSpPr txBox="1"/>
          <p:nvPr/>
        </p:nvSpPr>
        <p:spPr>
          <a:xfrm>
            <a:off x="457200" y="1508760"/>
            <a:ext cx="4023360" cy="274320"/>
          </a:xfrm>
          <a:prstGeom prst="rect">
            <a:avLst/>
          </a:prstGeom>
          <a:noFill/>
          <a:ln/>
        </p:spPr>
        <p:txBody>
          <a:bodyPr wrap="square" lIns="0" tIns="0" rIns="0" bIns="0" rtlCol="0" anchor="t"/>
          <a:lstStyle/>
          <a:p>
            <a:pPr marL="0" indent="0">
              <a:buNone/>
            </a:pPr>
            <a:r>
              <a:rPr lang="en-US" sz="1400" b="1" dirty="0">
                <a:solidFill>
                  <a:schemeClr val="tx1"/>
                </a:solidFill>
              </a:rPr>
              <a:t>Median equity multiplier</a:t>
            </a:r>
            <a:endParaRPr lang="en-US" sz="1400" dirty="0"/>
          </a:p>
        </p:txBody>
      </p:sp>
      <p:graphicFrame>
        <p:nvGraphicFramePr>
          <p:cNvPr id="6" name="Chart 0"/>
          <p:cNvGraphicFramePr/>
          <p:nvPr/>
        </p:nvGraphicFramePr>
        <p:xfrm>
          <a:off x="457200" y="1828800"/>
          <a:ext cx="402336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7" name="Outlier detail card"/>
          <p:cNvSpPr/>
          <p:nvPr/>
        </p:nvSpPr>
        <p:spPr>
          <a:xfrm>
            <a:off x="4846320" y="1645920"/>
            <a:ext cx="3840480" cy="2743200"/>
          </a:xfrm>
          <a:prstGeom prst="roundRect">
            <a:avLst>
              <a:gd name="adj" fmla="val 3333"/>
            </a:avLst>
          </a:prstGeom>
          <a:solidFill>
            <a:schemeClr val="bg2"/>
          </a:solidFill>
          <a:ln/>
        </p:spPr>
        <p:txBody>
          <a:bodyPr/>
          <a:lstStyle/>
          <a:p>
            <a:endParaRPr lang="en-US"/>
          </a:p>
        </p:txBody>
      </p:sp>
      <p:sp>
        <p:nvSpPr>
          <p:cNvPr id="8" name="Outlier detail text"/>
          <p:cNvSpPr txBox="1"/>
          <p:nvPr/>
        </p:nvSpPr>
        <p:spPr>
          <a:xfrm>
            <a:off x="5074920" y="1783080"/>
            <a:ext cx="3383280" cy="2468880"/>
          </a:xfrm>
          <a:prstGeom prst="rect">
            <a:avLst/>
          </a:prstGeom>
          <a:noFill/>
          <a:ln/>
        </p:spPr>
        <p:txBody>
          <a:bodyPr wrap="square" lIns="0" tIns="0" rIns="0" bIns="0" rtlCol="0" anchor="t"/>
          <a:lstStyle/>
          <a:p>
            <a:pPr marL="0" indent="0">
              <a:buNone/>
            </a:pPr>
            <a:r>
              <a:rPr lang="en-US" sz="1600" b="1" dirty="0">
                <a:solidFill>
                  <a:schemeClr val="tx1"/>
                </a:solidFill>
              </a:rPr>
              <a:t>17 of 20 come from six companies</a:t>
            </a:r>
            <a:endParaRPr lang="en-US" sz="1400" dirty="0"/>
          </a:p>
          <a:p>
            <a:pPr marL="0" indent="0">
              <a:buNone/>
            </a:pPr>
            <a:r>
              <a:rPr lang="en-US" sz="1400" dirty="0">
                <a:solidFill>
                  <a:schemeClr val="tx1"/>
                </a:solidFill>
              </a:rPr>
              <a:t>LMT: 4 years</a:t>
            </a:r>
            <a:endParaRPr lang="en-US" sz="1400" dirty="0"/>
          </a:p>
          <a:p>
            <a:pPr marL="0" indent="0">
              <a:buNone/>
            </a:pPr>
            <a:r>
              <a:rPr lang="en-US" sz="1400" dirty="0">
                <a:solidFill>
                  <a:schemeClr val="tx1"/>
                </a:solidFill>
              </a:rPr>
              <a:t>ADP, LII, VRSK: 3 years each</a:t>
            </a:r>
            <a:endParaRPr lang="en-US" sz="1400" dirty="0"/>
          </a:p>
          <a:p>
            <a:pPr marL="0" indent="0">
              <a:buNone/>
            </a:pPr>
            <a:r>
              <a:rPr lang="en-US" sz="1400" dirty="0">
                <a:solidFill>
                  <a:schemeClr val="tx1"/>
                </a:solidFill>
              </a:rPr>
              <a:t>MMM, UPS: 2 years each</a:t>
            </a:r>
            <a:endParaRPr lang="en-US" sz="1400" dirty="0"/>
          </a:p>
          <a:p>
            <a:pPr marL="0" indent="0">
              <a:buNone/>
            </a:pPr>
            <a:r>
              <a:rPr lang="en-US" sz="600" dirty="0">
                <a:solidFill>
                  <a:schemeClr val="tx1"/>
                </a:solidFill>
              </a:rPr>
              <a:t> </a:t>
            </a:r>
            <a:endParaRPr lang="en-US" sz="1400" dirty="0"/>
          </a:p>
          <a:p>
            <a:pPr marL="0" indent="0">
              <a:buNone/>
            </a:pPr>
            <a:r>
              <a:rPr lang="en-US" sz="1400" dirty="0">
                <a:solidFill>
                  <a:schemeClr val="tx1"/>
                </a:solidFill>
              </a:rPr>
              <a:t>Margins are only ~5 pts higher than typical (15.5% vs 10.4%), so leverage does the work.</a:t>
            </a:r>
            <a:endParaRPr lang="en-US" sz="14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65760"/>
            <a:ext cx="8229600" cy="640080"/>
          </a:xfrm>
          <a:prstGeom prst="rect">
            <a:avLst/>
          </a:prstGeom>
          <a:noFill/>
          <a:ln/>
        </p:spPr>
        <p:txBody>
          <a:bodyPr wrap="square" lIns="0" tIns="0" rIns="0" bIns="0" rtlCol="0" anchor="t"/>
          <a:lstStyle/>
          <a:p>
            <a:pPr marL="0" indent="0">
              <a:buNone/>
            </a:pPr>
            <a:r>
              <a:rPr lang="en-US" sz="3400" b="1" dirty="0">
                <a:solidFill>
                  <a:schemeClr val="tx1"/>
                </a:solidFill>
              </a:rPr>
              <a:t>Low ROE is COVID and one-offs</a:t>
            </a:r>
            <a:endParaRPr lang="en-US" sz="3400" dirty="0"/>
          </a:p>
        </p:txBody>
      </p:sp>
      <p:sp>
        <p:nvSpPr>
          <p:cNvPr id="3" name="Text 0"/>
          <p:cNvSpPr>
            <a:spLocks noGrp="1"/>
          </p:cNvSpPr>
          <p:nvPr>
            <p:ph type="body" idx="101" hasCustomPrompt="1"/>
          </p:nvPr>
        </p:nvSpPr>
        <p:spPr>
          <a:xfrm>
            <a:off x="457200" y="1005840"/>
            <a:ext cx="8229600" cy="365760"/>
          </a:xfrm>
          <a:prstGeom prst="rect">
            <a:avLst/>
          </a:prstGeom>
          <a:noFill/>
          <a:ln/>
        </p:spPr>
        <p:txBody>
          <a:bodyPr wrap="square" lIns="0" tIns="0" rIns="0" bIns="0" rtlCol="0" anchor="ctr"/>
          <a:lstStyle/>
          <a:p>
            <a:pPr marL="0" indent="0">
              <a:buNone/>
            </a:pPr>
            <a:r>
              <a:rPr lang="en-US" sz="1600" dirty="0">
                <a:solidFill>
                  <a:schemeClr val="tx2"/>
                </a:solidFill>
              </a:rPr>
              <a:t>All eight low outliers had net losses; six fall in FY2020–21</a:t>
            </a:r>
            <a:endParaRPr lang="en-US" sz="1600" dirty="0"/>
          </a:p>
        </p:txBody>
      </p:sp>
      <p:sp>
        <p:nvSpPr>
          <p:cNvPr id="4" name="Text 0"/>
          <p:cNvSpPr>
            <a:spLocks noGrp="1"/>
          </p:cNvSpPr>
          <p:nvPr>
            <p:ph type="body" idx="102" hasCustomPrompt="1"/>
          </p:nvPr>
        </p:nvSpPr>
        <p:spPr>
          <a:xfrm>
            <a:off x="457200" y="4663440"/>
            <a:ext cx="7589520" cy="274320"/>
          </a:xfrm>
          <a:prstGeom prst="rect">
            <a:avLst/>
          </a:prstGeom>
          <a:noFill/>
          <a:ln/>
        </p:spPr>
        <p:txBody>
          <a:bodyPr wrap="square" lIns="0" tIns="0" rIns="0" bIns="0" rtlCol="0" anchor="ctr"/>
          <a:lstStyle/>
          <a:p>
            <a:pPr marL="0" indent="0">
              <a:buNone/>
            </a:pPr>
            <a:r>
              <a:rPr lang="en-US" sz="1000" dirty="0">
                <a:solidFill>
                  <a:schemeClr val="tx2"/>
                </a:solidFill>
              </a:rPr>
              <a:t>Causes come from public context, not the file; confirm before presenting. Net margin parsed from the DuPont write-ups.</a:t>
            </a:r>
            <a:endParaRPr lang="en-US" sz="1000" dirty="0"/>
          </a:p>
        </p:txBody>
      </p:sp>
      <p:graphicFrame>
        <p:nvGraphicFramePr>
          <p:cNvPr id="16" name="Data table"/>
          <p:cNvGraphicFramePr>
            <a:graphicFrameLocks noGrp="1"/>
          </p:cNvGraphicFramePr>
          <p:nvPr>
            <p:extLst>
              <p:ext uri="{D42A27DB-BD31-4B8C-83A1-F6EECF244321}">
                <p14:modId xmlns:p14="http://schemas.microsoft.com/office/powerpoint/2010/main" val="1579011935"/>
              </p:ext>
            </p:extLst>
          </p:nvPr>
        </p:nvGraphicFramePr>
        <p:xfrm>
          <a:off x="457200" y="1508760"/>
          <a:ext cx="8229600" cy="2880360"/>
        </p:xfrm>
        <a:graphic>
          <a:graphicData uri="http://schemas.openxmlformats.org/drawingml/2006/table">
            <a:tbl>
              <a:tblPr/>
              <a:tblGrid>
                <a:gridCol w="18288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4023360">
                  <a:extLst>
                    <a:ext uri="{9D8B030D-6E8A-4147-A177-3AD203B41FA5}">
                      <a16:colId xmlns:a16="http://schemas.microsoft.com/office/drawing/2014/main" val="20003"/>
                    </a:ext>
                  </a:extLst>
                </a:gridCol>
              </a:tblGrid>
              <a:tr h="320040">
                <a:tc>
                  <a:txBody>
                    <a:bodyPr/>
                    <a:lstStyle/>
                    <a:p>
                      <a:pPr marL="0" indent="0" algn="l">
                        <a:buNone/>
                      </a:pPr>
                      <a:r>
                        <a:rPr lang="en-US" sz="1200" b="1" dirty="0">
                          <a:solidFill>
                            <a:schemeClr val="bg1"/>
                          </a:solidFill>
                        </a:rPr>
                        <a:t>Company-year</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marL="0" indent="0" algn="ctr">
                        <a:buNone/>
                      </a:pPr>
                      <a:r>
                        <a:rPr lang="en-US" sz="1200" b="1" dirty="0">
                          <a:solidFill>
                            <a:schemeClr val="bg1"/>
                          </a:solidFill>
                        </a:rPr>
                        <a:t>ROE</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marL="0" indent="0" algn="ctr">
                        <a:buNone/>
                      </a:pPr>
                      <a:r>
                        <a:rPr lang="en-US" sz="1200" b="1" dirty="0">
                          <a:solidFill>
                            <a:schemeClr val="bg1"/>
                          </a:solidFill>
                        </a:rPr>
                        <a:t>Net margin</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marL="0" indent="0" algn="l">
                        <a:buNone/>
                      </a:pPr>
                      <a:r>
                        <a:rPr lang="en-US" sz="1200" b="1" dirty="0">
                          <a:solidFill>
                            <a:schemeClr val="bg1"/>
                          </a:solidFill>
                        </a:rPr>
                        <a:t>Likely cause</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chemeClr val="tx1"/>
                    </a:solidFill>
                  </a:tcPr>
                </a:tc>
                <a:extLst>
                  <a:ext uri="{0D108BD9-81ED-4DB2-BD59-A6C34878D82A}">
                    <a16:rowId xmlns:a16="http://schemas.microsoft.com/office/drawing/2014/main" val="10000"/>
                  </a:ext>
                </a:extLst>
              </a:tr>
              <a:tr h="320040">
                <a:tc>
                  <a:txBody>
                    <a:bodyPr/>
                    <a:lstStyle/>
                    <a:p>
                      <a:pPr marL="0" indent="0" algn="l">
                        <a:buNone/>
                      </a:pPr>
                      <a:r>
                        <a:rPr lang="en-US" sz="1200" b="1" dirty="0">
                          <a:solidFill>
                            <a:schemeClr val="tx1"/>
                          </a:solidFill>
                        </a:rPr>
                        <a:t>DAL FY2020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7B8794"/>
                      </a:solidFill>
                      <a:prstDash val="solid"/>
                      <a:round/>
                      <a:headEnd type="none" w="med" len="med"/>
                      <a:tailEnd type="none" w="med" len="med"/>
                    </a:lnB>
                  </a:tcPr>
                </a:tc>
                <a:tc>
                  <a:txBody>
                    <a:bodyPr/>
                    <a:lstStyle/>
                    <a:p>
                      <a:pPr marL="0" indent="0" algn="ctr">
                        <a:buNone/>
                      </a:pPr>
                      <a:r>
                        <a:rPr lang="en-US" sz="1200" dirty="0">
                          <a:solidFill>
                            <a:schemeClr val="tx1"/>
                          </a:solidFill>
                        </a:rPr>
                        <a:t>−807%</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7B8794"/>
                      </a:solidFill>
                      <a:prstDash val="solid"/>
                      <a:round/>
                      <a:headEnd type="none" w="med" len="med"/>
                      <a:tailEnd type="none" w="med" len="med"/>
                    </a:lnB>
                  </a:tcPr>
                </a:tc>
                <a:tc>
                  <a:txBody>
                    <a:bodyPr/>
                    <a:lstStyle/>
                    <a:p>
                      <a:pPr marL="0" indent="0" algn="ctr">
                        <a:buNone/>
                      </a:pPr>
                      <a:r>
                        <a:rPr lang="en-US" sz="1200" dirty="0">
                          <a:solidFill>
                            <a:schemeClr val="tx1"/>
                          </a:solidFill>
                        </a:rPr>
                        <a:t>−72%</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7B8794"/>
                      </a:solidFill>
                      <a:prstDash val="solid"/>
                      <a:round/>
                      <a:headEnd type="none" w="med" len="med"/>
                      <a:tailEnd type="none" w="med" len="med"/>
                    </a:lnB>
                  </a:tcPr>
                </a:tc>
                <a:tc>
                  <a:txBody>
                    <a:bodyPr/>
                    <a:lstStyle/>
                    <a:p>
                      <a:pPr marL="0" indent="0" algn="l">
                        <a:buNone/>
                      </a:pPr>
                      <a:r>
                        <a:rPr lang="en-US" sz="1200" dirty="0">
                          <a:solidFill>
                            <a:schemeClr val="tx1"/>
                          </a:solidFill>
                        </a:rPr>
                        <a:t>COVID travel collapse</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7B8794"/>
                      </a:solidFill>
                      <a:prstDash val="solid"/>
                      <a:round/>
                      <a:headEnd type="none" w="med" len="med"/>
                      <a:tailEnd type="none" w="med" len="med"/>
                    </a:lnB>
                  </a:tcPr>
                </a:tc>
                <a:extLst>
                  <a:ext uri="{0D108BD9-81ED-4DB2-BD59-A6C34878D82A}">
                    <a16:rowId xmlns:a16="http://schemas.microsoft.com/office/drawing/2014/main" val="10001"/>
                  </a:ext>
                </a:extLst>
              </a:tr>
              <a:tr h="320040">
                <a:tc>
                  <a:txBody>
                    <a:bodyPr/>
                    <a:lstStyle/>
                    <a:p>
                      <a:pPr marL="0" indent="0" algn="l">
                        <a:buNone/>
                      </a:pPr>
                      <a:r>
                        <a:rPr lang="en-US" sz="1200" b="1" dirty="0">
                          <a:solidFill>
                            <a:schemeClr val="tx1"/>
                          </a:solidFill>
                        </a:rPr>
                        <a:t>MMM FY2023</a:t>
                      </a:r>
                      <a:endParaRPr lang="en-US" sz="12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tc>
                  <a:txBody>
                    <a:bodyPr/>
                    <a:lstStyle/>
                    <a:p>
                      <a:pPr marL="0" indent="0" algn="ctr">
                        <a:buNone/>
                      </a:pPr>
                      <a:r>
                        <a:rPr lang="en-US" sz="1200" dirty="0">
                          <a:solidFill>
                            <a:schemeClr val="tx1"/>
                          </a:solidFill>
                        </a:rPr>
                        <a:t>−146%</a:t>
                      </a:r>
                      <a:endParaRPr lang="en-US" sz="12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tc>
                  <a:txBody>
                    <a:bodyPr/>
                    <a:lstStyle/>
                    <a:p>
                      <a:pPr marL="0" indent="0" algn="ctr">
                        <a:buNone/>
                      </a:pPr>
                      <a:r>
                        <a:rPr lang="en-US" sz="1200" dirty="0">
                          <a:solidFill>
                            <a:schemeClr val="tx1"/>
                          </a:solidFill>
                        </a:rPr>
                        <a:t>−28%</a:t>
                      </a:r>
                      <a:endParaRPr lang="en-US" sz="12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tc>
                  <a:txBody>
                    <a:bodyPr/>
                    <a:lstStyle/>
                    <a:p>
                      <a:pPr marL="0" indent="0" algn="l">
                        <a:buNone/>
                      </a:pPr>
                      <a:r>
                        <a:rPr lang="en-US" sz="1200" dirty="0">
                          <a:solidFill>
                            <a:schemeClr val="tx1"/>
                          </a:solidFill>
                        </a:rPr>
                        <a:t>Large one-off charges (likely litigation)</a:t>
                      </a:r>
                      <a:endParaRPr lang="en-US" sz="12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extLst>
                  <a:ext uri="{0D108BD9-81ED-4DB2-BD59-A6C34878D82A}">
                    <a16:rowId xmlns:a16="http://schemas.microsoft.com/office/drawing/2014/main" val="10002"/>
                  </a:ext>
                </a:extLst>
              </a:tr>
              <a:tr h="320040">
                <a:tc>
                  <a:txBody>
                    <a:bodyPr/>
                    <a:lstStyle/>
                    <a:p>
                      <a:pPr marL="0" indent="0" algn="l">
                        <a:buNone/>
                      </a:pPr>
                      <a:r>
                        <a:rPr lang="en-US" sz="1200" b="1" dirty="0">
                          <a:solidFill>
                            <a:schemeClr val="tx1"/>
                          </a:solidFill>
                        </a:rPr>
                        <a:t>UBER FY2022</a:t>
                      </a:r>
                      <a:endParaRPr lang="en-US" sz="12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tc>
                  <a:txBody>
                    <a:bodyPr/>
                    <a:lstStyle/>
                    <a:p>
                      <a:pPr marL="0" indent="0" algn="ctr">
                        <a:buNone/>
                      </a:pPr>
                      <a:r>
                        <a:rPr lang="en-US" sz="1200" dirty="0">
                          <a:solidFill>
                            <a:schemeClr val="tx1"/>
                          </a:solidFill>
                        </a:rPr>
                        <a:t>−125%</a:t>
                      </a:r>
                      <a:endParaRPr lang="en-US" sz="12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tc>
                  <a:txBody>
                    <a:bodyPr/>
                    <a:lstStyle/>
                    <a:p>
                      <a:pPr marL="0" indent="0" algn="ctr">
                        <a:buNone/>
                      </a:pPr>
                      <a:r>
                        <a:rPr lang="en-US" sz="1200" dirty="0">
                          <a:solidFill>
                            <a:schemeClr val="tx1"/>
                          </a:solidFill>
                        </a:rPr>
                        <a:t>−29%</a:t>
                      </a:r>
                      <a:endParaRPr lang="en-US" sz="12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tc>
                  <a:txBody>
                    <a:bodyPr/>
                    <a:lstStyle/>
                    <a:p>
                      <a:pPr marL="0" indent="0" algn="l">
                        <a:buNone/>
                      </a:pPr>
                      <a:r>
                        <a:rPr lang="en-US" sz="1200" dirty="0">
                          <a:solidFill>
                            <a:schemeClr val="tx1"/>
                          </a:solidFill>
                        </a:rPr>
                        <a:t>Large one-off loss (likely investment write-downs)</a:t>
                      </a:r>
                      <a:endParaRPr lang="en-US" sz="12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extLst>
                  <a:ext uri="{0D108BD9-81ED-4DB2-BD59-A6C34878D82A}">
                    <a16:rowId xmlns:a16="http://schemas.microsoft.com/office/drawing/2014/main" val="10003"/>
                  </a:ext>
                </a:extLst>
              </a:tr>
              <a:tr h="320040">
                <a:tc>
                  <a:txBody>
                    <a:bodyPr/>
                    <a:lstStyle/>
                    <a:p>
                      <a:pPr marL="0" indent="0" algn="l">
                        <a:buNone/>
                      </a:pPr>
                      <a:r>
                        <a:rPr lang="en-US" sz="1200" b="1" dirty="0">
                          <a:solidFill>
                            <a:schemeClr val="tx1"/>
                          </a:solidFill>
                        </a:rPr>
                        <a:t>UAL FY2020</a:t>
                      </a:r>
                      <a:endParaRPr lang="en-US" sz="12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tc>
                  <a:txBody>
                    <a:bodyPr/>
                    <a:lstStyle/>
                    <a:p>
                      <a:pPr marL="0" indent="0" algn="ctr">
                        <a:buNone/>
                      </a:pPr>
                      <a:r>
                        <a:rPr lang="en-US" sz="1200" dirty="0">
                          <a:solidFill>
                            <a:schemeClr val="tx1"/>
                          </a:solidFill>
                        </a:rPr>
                        <a:t>−119%</a:t>
                      </a:r>
                      <a:endParaRPr lang="en-US" sz="12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tc>
                  <a:txBody>
                    <a:bodyPr/>
                    <a:lstStyle/>
                    <a:p>
                      <a:pPr marL="0" indent="0" algn="ctr">
                        <a:buNone/>
                      </a:pPr>
                      <a:r>
                        <a:rPr lang="en-US" sz="1200" dirty="0">
                          <a:solidFill>
                            <a:schemeClr val="tx1"/>
                          </a:solidFill>
                        </a:rPr>
                        <a:t>−46%</a:t>
                      </a:r>
                      <a:endParaRPr lang="en-US" sz="12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tc>
                  <a:txBody>
                    <a:bodyPr/>
                    <a:lstStyle/>
                    <a:p>
                      <a:pPr marL="0" indent="0" algn="l">
                        <a:buNone/>
                      </a:pPr>
                      <a:r>
                        <a:rPr lang="en-US" sz="1200" dirty="0">
                          <a:solidFill>
                            <a:schemeClr val="tx1"/>
                          </a:solidFill>
                        </a:rPr>
                        <a:t>COVID travel collapse</a:t>
                      </a:r>
                      <a:endParaRPr lang="en-US" sz="12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extLst>
                  <a:ext uri="{0D108BD9-81ED-4DB2-BD59-A6C34878D82A}">
                    <a16:rowId xmlns:a16="http://schemas.microsoft.com/office/drawing/2014/main" val="10004"/>
                  </a:ext>
                </a:extLst>
              </a:tr>
              <a:tr h="320040">
                <a:tc>
                  <a:txBody>
                    <a:bodyPr/>
                    <a:lstStyle/>
                    <a:p>
                      <a:pPr marL="0" indent="0" algn="l">
                        <a:buNone/>
                      </a:pPr>
                      <a:r>
                        <a:rPr lang="en-US" sz="1200" b="1" dirty="0">
                          <a:solidFill>
                            <a:schemeClr val="tx1"/>
                          </a:solidFill>
                        </a:rPr>
                        <a:t>VRT FY2020</a:t>
                      </a:r>
                      <a:endParaRPr lang="en-US" sz="12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tc>
                  <a:txBody>
                    <a:bodyPr/>
                    <a:lstStyle/>
                    <a:p>
                      <a:pPr marL="0" indent="0" algn="ctr">
                        <a:buNone/>
                      </a:pPr>
                      <a:r>
                        <a:rPr lang="en-US" sz="1200" dirty="0">
                          <a:solidFill>
                            <a:schemeClr val="tx1"/>
                          </a:solidFill>
                        </a:rPr>
                        <a:t>−64%</a:t>
                      </a:r>
                      <a:endParaRPr lang="en-US" sz="12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tc>
                  <a:txBody>
                    <a:bodyPr/>
                    <a:lstStyle/>
                    <a:p>
                      <a:pPr marL="0" indent="0" algn="ctr">
                        <a:buNone/>
                      </a:pPr>
                      <a:r>
                        <a:rPr lang="en-US" sz="1200" dirty="0">
                          <a:solidFill>
                            <a:schemeClr val="tx1"/>
                          </a:solidFill>
                        </a:rPr>
                        <a:t>−7%</a:t>
                      </a:r>
                      <a:endParaRPr lang="en-US" sz="12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tc>
                  <a:txBody>
                    <a:bodyPr/>
                    <a:lstStyle/>
                    <a:p>
                      <a:pPr marL="0" indent="0" algn="l">
                        <a:buNone/>
                      </a:pPr>
                      <a:r>
                        <a:rPr lang="en-US" sz="1200" dirty="0">
                          <a:solidFill>
                            <a:schemeClr val="tx1"/>
                          </a:solidFill>
                        </a:rPr>
                        <a:t>Not explained by the file</a:t>
                      </a:r>
                      <a:endParaRPr lang="en-US" sz="12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extLst>
                  <a:ext uri="{0D108BD9-81ED-4DB2-BD59-A6C34878D82A}">
                    <a16:rowId xmlns:a16="http://schemas.microsoft.com/office/drawing/2014/main" val="10005"/>
                  </a:ext>
                </a:extLst>
              </a:tr>
              <a:tr h="320040">
                <a:tc>
                  <a:txBody>
                    <a:bodyPr/>
                    <a:lstStyle/>
                    <a:p>
                      <a:pPr marL="0" indent="0" algn="l">
                        <a:buNone/>
                      </a:pPr>
                      <a:r>
                        <a:rPr lang="en-US" sz="1200" b="1" dirty="0">
                          <a:solidFill>
                            <a:schemeClr val="tx1"/>
                          </a:solidFill>
                        </a:rPr>
                        <a:t>UBER FY2020</a:t>
                      </a:r>
                      <a:endParaRPr lang="en-US" sz="12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tc>
                  <a:txBody>
                    <a:bodyPr/>
                    <a:lstStyle/>
                    <a:p>
                      <a:pPr marL="0" indent="0" algn="ctr">
                        <a:buNone/>
                      </a:pPr>
                      <a:r>
                        <a:rPr lang="en-US" sz="1200" dirty="0">
                          <a:solidFill>
                            <a:schemeClr val="tx1"/>
                          </a:solidFill>
                        </a:rPr>
                        <a:t>−55%</a:t>
                      </a:r>
                      <a:endParaRPr lang="en-US" sz="12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tc>
                  <a:txBody>
                    <a:bodyPr/>
                    <a:lstStyle/>
                    <a:p>
                      <a:pPr marL="0" indent="0" algn="ctr">
                        <a:buNone/>
                      </a:pPr>
                      <a:r>
                        <a:rPr lang="en-US" sz="1200" dirty="0">
                          <a:solidFill>
                            <a:schemeClr val="tx1"/>
                          </a:solidFill>
                        </a:rPr>
                        <a:t>−61%</a:t>
                      </a:r>
                      <a:endParaRPr lang="en-US" sz="12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tc>
                  <a:txBody>
                    <a:bodyPr/>
                    <a:lstStyle/>
                    <a:p>
                      <a:pPr marL="0" indent="0" algn="l">
                        <a:buNone/>
                      </a:pPr>
                      <a:r>
                        <a:rPr lang="en-US" sz="1200" dirty="0">
                          <a:solidFill>
                            <a:schemeClr val="tx1"/>
                          </a:solidFill>
                        </a:rPr>
                        <a:t>COVID mobility collapse</a:t>
                      </a:r>
                      <a:endParaRPr lang="en-US" sz="12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extLst>
                  <a:ext uri="{0D108BD9-81ED-4DB2-BD59-A6C34878D82A}">
                    <a16:rowId xmlns:a16="http://schemas.microsoft.com/office/drawing/2014/main" val="10006"/>
                  </a:ext>
                </a:extLst>
              </a:tr>
              <a:tr h="320040">
                <a:tc>
                  <a:txBody>
                    <a:bodyPr/>
                    <a:lstStyle/>
                    <a:p>
                      <a:pPr marL="0" indent="0" algn="l">
                        <a:buNone/>
                      </a:pPr>
                      <a:r>
                        <a:rPr lang="en-US" sz="1200" b="1" dirty="0">
                          <a:solidFill>
                            <a:schemeClr val="tx1"/>
                          </a:solidFill>
                        </a:rPr>
                        <a:t>UAL FY2021</a:t>
                      </a:r>
                      <a:endParaRPr lang="en-US" sz="12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tc>
                  <a:txBody>
                    <a:bodyPr/>
                    <a:lstStyle/>
                    <a:p>
                      <a:pPr marL="0" indent="0" algn="ctr">
                        <a:buNone/>
                      </a:pPr>
                      <a:r>
                        <a:rPr lang="en-US" sz="1200" dirty="0">
                          <a:solidFill>
                            <a:schemeClr val="tx1"/>
                          </a:solidFill>
                        </a:rPr>
                        <a:t>−39%</a:t>
                      </a:r>
                      <a:endParaRPr lang="en-US" sz="12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tc>
                  <a:txBody>
                    <a:bodyPr/>
                    <a:lstStyle/>
                    <a:p>
                      <a:pPr marL="0" indent="0" algn="ctr">
                        <a:buNone/>
                      </a:pPr>
                      <a:r>
                        <a:rPr lang="en-US" sz="1200" dirty="0">
                          <a:solidFill>
                            <a:schemeClr val="tx1"/>
                          </a:solidFill>
                        </a:rPr>
                        <a:t>−8%</a:t>
                      </a:r>
                      <a:endParaRPr lang="en-US" sz="12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tc>
                  <a:txBody>
                    <a:bodyPr/>
                    <a:lstStyle/>
                    <a:p>
                      <a:pPr marL="0" indent="0" algn="l">
                        <a:buNone/>
                      </a:pPr>
                      <a:r>
                        <a:rPr lang="en-US" sz="1200" dirty="0">
                          <a:solidFill>
                            <a:schemeClr val="tx1"/>
                          </a:solidFill>
                        </a:rPr>
                        <a:t>COVID recovery year</a:t>
                      </a:r>
                      <a:endParaRPr lang="en-US" sz="12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extLst>
                  <a:ext uri="{0D108BD9-81ED-4DB2-BD59-A6C34878D82A}">
                    <a16:rowId xmlns:a16="http://schemas.microsoft.com/office/drawing/2014/main" val="10007"/>
                  </a:ext>
                </a:extLst>
              </a:tr>
              <a:tr h="320040">
                <a:tc>
                  <a:txBody>
                    <a:bodyPr/>
                    <a:lstStyle/>
                    <a:p>
                      <a:pPr marL="0" indent="0" algn="l">
                        <a:buNone/>
                      </a:pPr>
                      <a:r>
                        <a:rPr lang="en-US" sz="1200" b="1" dirty="0">
                          <a:solidFill>
                            <a:schemeClr val="tx1"/>
                          </a:solidFill>
                        </a:rPr>
                        <a:t>LUV FY2020</a:t>
                      </a:r>
                      <a:endParaRPr lang="en-US" sz="12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tc>
                  <a:txBody>
                    <a:bodyPr/>
                    <a:lstStyle/>
                    <a:p>
                      <a:pPr marL="0" indent="0" algn="ctr">
                        <a:buNone/>
                      </a:pPr>
                      <a:r>
                        <a:rPr lang="en-US" sz="1200" dirty="0">
                          <a:solidFill>
                            <a:schemeClr val="tx1"/>
                          </a:solidFill>
                        </a:rPr>
                        <a:t>−35%</a:t>
                      </a:r>
                      <a:endParaRPr lang="en-US" sz="12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tc>
                  <a:txBody>
                    <a:bodyPr/>
                    <a:lstStyle/>
                    <a:p>
                      <a:pPr marL="0" indent="0" algn="ctr">
                        <a:buNone/>
                      </a:pPr>
                      <a:r>
                        <a:rPr lang="en-US" sz="1200" dirty="0">
                          <a:solidFill>
                            <a:schemeClr val="tx1"/>
                          </a:solidFill>
                        </a:rPr>
                        <a:t>−34%</a:t>
                      </a:r>
                      <a:endParaRPr lang="en-US" sz="12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tc>
                  <a:txBody>
                    <a:bodyPr/>
                    <a:lstStyle/>
                    <a:p>
                      <a:pPr marL="0" indent="0" algn="l">
                        <a:buNone/>
                      </a:pPr>
                      <a:r>
                        <a:rPr lang="en-US" sz="1200" dirty="0">
                          <a:solidFill>
                            <a:schemeClr val="tx1"/>
                          </a:solidFill>
                        </a:rPr>
                        <a:t>COVID travel collapse</a:t>
                      </a:r>
                      <a:endParaRPr lang="en-US" sz="12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65760"/>
            <a:ext cx="8229600" cy="640080"/>
          </a:xfrm>
          <a:prstGeom prst="rect">
            <a:avLst/>
          </a:prstGeom>
          <a:noFill/>
          <a:ln/>
        </p:spPr>
        <p:txBody>
          <a:bodyPr wrap="square" lIns="0" tIns="0" rIns="0" bIns="0" rtlCol="0" anchor="t"/>
          <a:lstStyle/>
          <a:p>
            <a:pPr marL="0" indent="0">
              <a:buNone/>
            </a:pPr>
            <a:r>
              <a:rPr lang="en-US" sz="3400" b="1" dirty="0">
                <a:solidFill>
                  <a:schemeClr val="tx1"/>
                </a:solidFill>
              </a:rPr>
              <a:t>Handling the outliers</a:t>
            </a:r>
            <a:endParaRPr lang="en-US" sz="3400" dirty="0"/>
          </a:p>
        </p:txBody>
      </p:sp>
      <p:sp>
        <p:nvSpPr>
          <p:cNvPr id="3" name="Text 0"/>
          <p:cNvSpPr>
            <a:spLocks noGrp="1"/>
          </p:cNvSpPr>
          <p:nvPr>
            <p:ph type="body" idx="101" hasCustomPrompt="1"/>
          </p:nvPr>
        </p:nvSpPr>
        <p:spPr>
          <a:xfrm>
            <a:off x="457200" y="1005840"/>
            <a:ext cx="8229600" cy="365760"/>
          </a:xfrm>
          <a:prstGeom prst="rect">
            <a:avLst/>
          </a:prstGeom>
          <a:noFill/>
          <a:ln/>
        </p:spPr>
        <p:txBody>
          <a:bodyPr wrap="square" lIns="0" tIns="0" rIns="0" bIns="0" rtlCol="0" anchor="ctr"/>
          <a:lstStyle/>
          <a:p>
            <a:pPr marL="0" indent="0">
              <a:buNone/>
            </a:pPr>
            <a:r>
              <a:rPr lang="en-US" sz="1600" dirty="0">
                <a:solidFill>
                  <a:schemeClr val="tx2"/>
                </a:solidFill>
              </a:rPr>
              <a:t>Three adjustments keep a few extreme filings from skewing the story</a:t>
            </a:r>
            <a:endParaRPr lang="en-US" sz="1600" dirty="0"/>
          </a:p>
        </p:txBody>
      </p:sp>
      <p:sp>
        <p:nvSpPr>
          <p:cNvPr id="4" name="Text 0"/>
          <p:cNvSpPr>
            <a:spLocks noGrp="1"/>
          </p:cNvSpPr>
          <p:nvPr>
            <p:ph type="body" idx="102" hasCustomPrompt="1"/>
          </p:nvPr>
        </p:nvSpPr>
        <p:spPr>
          <a:xfrm>
            <a:off x="457200" y="4663440"/>
            <a:ext cx="7589520" cy="274320"/>
          </a:xfrm>
          <a:prstGeom prst="rect">
            <a:avLst/>
          </a:prstGeom>
          <a:noFill/>
          <a:ln/>
        </p:spPr>
        <p:txBody>
          <a:bodyPr wrap="square" lIns="0" tIns="0" rIns="0" bIns="0" rtlCol="0" anchor="ctr"/>
          <a:lstStyle/>
          <a:p>
            <a:pPr marL="0" indent="0">
              <a:buNone/>
            </a:pPr>
            <a:r>
              <a:rPr lang="en-US" sz="1000" dirty="0">
                <a:solidFill>
                  <a:schemeClr val="tx2"/>
                </a:solidFill>
              </a:rPr>
              <a:t>VRSK FY2024 (957%) is the most extreme ROE in the file.</a:t>
            </a:r>
            <a:endParaRPr lang="en-US" sz="1000" dirty="0"/>
          </a:p>
        </p:txBody>
      </p:sp>
      <p:sp>
        <p:nvSpPr>
          <p:cNvPr id="5" name="Adjustment card 1"/>
          <p:cNvSpPr/>
          <p:nvPr/>
        </p:nvSpPr>
        <p:spPr>
          <a:xfrm>
            <a:off x="457200" y="1600200"/>
            <a:ext cx="2560320" cy="2834640"/>
          </a:xfrm>
          <a:prstGeom prst="roundRect">
            <a:avLst>
              <a:gd name="adj" fmla="val 3571"/>
            </a:avLst>
          </a:prstGeom>
          <a:solidFill>
            <a:schemeClr val="bg2"/>
          </a:solidFill>
          <a:ln/>
        </p:spPr>
        <p:txBody>
          <a:bodyPr/>
          <a:lstStyle/>
          <a:p>
            <a:endParaRPr lang="en-US"/>
          </a:p>
        </p:txBody>
      </p:sp>
      <p:sp>
        <p:nvSpPr>
          <p:cNvPr id="6" name="Adjustment value 1"/>
          <p:cNvSpPr txBox="1"/>
          <p:nvPr/>
        </p:nvSpPr>
        <p:spPr>
          <a:xfrm>
            <a:off x="640080" y="1783080"/>
            <a:ext cx="2194560" cy="640080"/>
          </a:xfrm>
          <a:prstGeom prst="rect">
            <a:avLst/>
          </a:prstGeom>
          <a:noFill/>
          <a:ln/>
        </p:spPr>
        <p:txBody>
          <a:bodyPr wrap="square" lIns="0" tIns="0" rIns="0" bIns="0" rtlCol="0" anchor="ctr"/>
          <a:lstStyle/>
          <a:p>
            <a:pPr marL="0" indent="0">
              <a:buNone/>
            </a:pPr>
            <a:r>
              <a:rPr lang="en-US" sz="3200" b="1" dirty="0">
                <a:solidFill>
                  <a:schemeClr val="accent1"/>
                </a:solidFill>
              </a:rPr>
              <a:t>Median</a:t>
            </a:r>
            <a:endParaRPr lang="en-US" sz="3200" dirty="0"/>
          </a:p>
        </p:txBody>
      </p:sp>
      <p:sp>
        <p:nvSpPr>
          <p:cNvPr id="7" name="Adjustment text 1"/>
          <p:cNvSpPr txBox="1"/>
          <p:nvPr/>
        </p:nvSpPr>
        <p:spPr>
          <a:xfrm>
            <a:off x="640080" y="2560320"/>
            <a:ext cx="2194560" cy="1783080"/>
          </a:xfrm>
          <a:prstGeom prst="rect">
            <a:avLst/>
          </a:prstGeom>
          <a:noFill/>
          <a:ln/>
        </p:spPr>
        <p:txBody>
          <a:bodyPr wrap="square" lIns="0" tIns="0" rIns="0" bIns="0" rtlCol="0" anchor="t"/>
          <a:lstStyle/>
          <a:p>
            <a:pPr marL="0" indent="0">
              <a:buNone/>
            </a:pPr>
            <a:r>
              <a:rPr lang="en-US" sz="1600" b="1" dirty="0">
                <a:solidFill>
                  <a:schemeClr val="tx1"/>
                </a:solidFill>
              </a:rPr>
              <a:t>Use medians, not means</a:t>
            </a:r>
            <a:endParaRPr lang="en-US" sz="1400" dirty="0"/>
          </a:p>
          <a:p>
            <a:pPr marL="0" indent="0">
              <a:buNone/>
            </a:pPr>
            <a:r>
              <a:rPr lang="en-US" sz="1400" dirty="0">
                <a:solidFill>
                  <a:schemeClr val="tx1"/>
                </a:solidFill>
              </a:rPr>
              <a:t>One filing (VRSK FY2024, 957%) can swing an average. Medians moved only from 19.4% to 25.5%.</a:t>
            </a:r>
            <a:endParaRPr lang="en-US" sz="1400" dirty="0"/>
          </a:p>
        </p:txBody>
      </p:sp>
      <p:sp>
        <p:nvSpPr>
          <p:cNvPr id="8" name="Adjustment card 2"/>
          <p:cNvSpPr/>
          <p:nvPr/>
        </p:nvSpPr>
        <p:spPr>
          <a:xfrm>
            <a:off x="3291840" y="1600200"/>
            <a:ext cx="2560320" cy="2834640"/>
          </a:xfrm>
          <a:prstGeom prst="roundRect">
            <a:avLst>
              <a:gd name="adj" fmla="val 3571"/>
            </a:avLst>
          </a:prstGeom>
          <a:solidFill>
            <a:schemeClr val="bg2"/>
          </a:solidFill>
          <a:ln/>
        </p:spPr>
        <p:txBody>
          <a:bodyPr/>
          <a:lstStyle/>
          <a:p>
            <a:endParaRPr lang="en-US"/>
          </a:p>
        </p:txBody>
      </p:sp>
      <p:sp>
        <p:nvSpPr>
          <p:cNvPr id="9" name="Adjustment value 2"/>
          <p:cNvSpPr txBox="1"/>
          <p:nvPr/>
        </p:nvSpPr>
        <p:spPr>
          <a:xfrm>
            <a:off x="3474720" y="1783080"/>
            <a:ext cx="2194560" cy="640080"/>
          </a:xfrm>
          <a:prstGeom prst="rect">
            <a:avLst/>
          </a:prstGeom>
          <a:noFill/>
          <a:ln/>
        </p:spPr>
        <p:txBody>
          <a:bodyPr wrap="square" lIns="0" tIns="0" rIns="0" bIns="0" rtlCol="0" anchor="ctr"/>
          <a:lstStyle/>
          <a:p>
            <a:pPr marL="0" indent="0">
              <a:buNone/>
            </a:pPr>
            <a:r>
              <a:rPr lang="en-US" sz="3200" b="1" dirty="0">
                <a:solidFill>
                  <a:schemeClr val="accent1"/>
                </a:solidFill>
              </a:rPr>
              <a:t>3.5×+</a:t>
            </a:r>
            <a:endParaRPr lang="en-US" sz="3200" dirty="0"/>
          </a:p>
        </p:txBody>
      </p:sp>
      <p:sp>
        <p:nvSpPr>
          <p:cNvPr id="10" name="Adjustment text 2"/>
          <p:cNvSpPr txBox="1"/>
          <p:nvPr/>
        </p:nvSpPr>
        <p:spPr>
          <a:xfrm>
            <a:off x="3474720" y="2560320"/>
            <a:ext cx="2194560" cy="1783080"/>
          </a:xfrm>
          <a:prstGeom prst="rect">
            <a:avLst/>
          </a:prstGeom>
          <a:noFill/>
          <a:ln/>
        </p:spPr>
        <p:txBody>
          <a:bodyPr wrap="square" lIns="0" tIns="0" rIns="0" bIns="0" rtlCol="0" anchor="t"/>
          <a:lstStyle/>
          <a:p>
            <a:pPr marL="0" indent="0">
              <a:buNone/>
            </a:pPr>
            <a:r>
              <a:rPr lang="en-US" sz="1600" b="1" dirty="0">
                <a:solidFill>
                  <a:schemeClr val="tx1"/>
                </a:solidFill>
              </a:rPr>
              <a:t>Show leverage with ROE</a:t>
            </a:r>
            <a:endParaRPr lang="en-US" sz="1400" dirty="0"/>
          </a:p>
          <a:p>
            <a:pPr marL="0" indent="0">
              <a:buNone/>
            </a:pPr>
            <a:r>
              <a:rPr lang="en-US" sz="1400" dirty="0">
                <a:solidFill>
                  <a:schemeClr val="tx1"/>
                </a:solidFill>
              </a:rPr>
              <a:t>Every high outlier has an equity multiplier of 3.5× or more. Print it beside ROE.</a:t>
            </a:r>
            <a:endParaRPr lang="en-US" sz="1400" dirty="0"/>
          </a:p>
        </p:txBody>
      </p:sp>
      <p:sp>
        <p:nvSpPr>
          <p:cNvPr id="11" name="Adjustment card 3"/>
          <p:cNvSpPr/>
          <p:nvPr/>
        </p:nvSpPr>
        <p:spPr>
          <a:xfrm>
            <a:off x="6126480" y="1600200"/>
            <a:ext cx="2560320" cy="2834640"/>
          </a:xfrm>
          <a:prstGeom prst="roundRect">
            <a:avLst>
              <a:gd name="adj" fmla="val 3571"/>
            </a:avLst>
          </a:prstGeom>
          <a:solidFill>
            <a:schemeClr val="bg2"/>
          </a:solidFill>
          <a:ln/>
        </p:spPr>
        <p:txBody>
          <a:bodyPr/>
          <a:lstStyle/>
          <a:p>
            <a:endParaRPr lang="en-US"/>
          </a:p>
        </p:txBody>
      </p:sp>
      <p:sp>
        <p:nvSpPr>
          <p:cNvPr id="12" name="Adjustment value 3"/>
          <p:cNvSpPr txBox="1"/>
          <p:nvPr/>
        </p:nvSpPr>
        <p:spPr>
          <a:xfrm>
            <a:off x="6309360" y="1783080"/>
            <a:ext cx="2194560" cy="640080"/>
          </a:xfrm>
          <a:prstGeom prst="rect">
            <a:avLst/>
          </a:prstGeom>
          <a:noFill/>
          <a:ln/>
        </p:spPr>
        <p:txBody>
          <a:bodyPr wrap="square" lIns="0" tIns="0" rIns="0" bIns="0" rtlCol="0" anchor="ctr"/>
          <a:lstStyle/>
          <a:p>
            <a:pPr marL="0" indent="0">
              <a:buNone/>
            </a:pPr>
            <a:r>
              <a:rPr lang="en-US" sz="3200" b="1" dirty="0">
                <a:solidFill>
                  <a:schemeClr val="accent1"/>
                </a:solidFill>
              </a:rPr>
              <a:t>6 of 8</a:t>
            </a:r>
            <a:endParaRPr lang="en-US" sz="3200" dirty="0"/>
          </a:p>
        </p:txBody>
      </p:sp>
      <p:sp>
        <p:nvSpPr>
          <p:cNvPr id="13" name="Adjustment text 3"/>
          <p:cNvSpPr txBox="1"/>
          <p:nvPr/>
        </p:nvSpPr>
        <p:spPr>
          <a:xfrm>
            <a:off x="6309360" y="2560320"/>
            <a:ext cx="2194560" cy="1783080"/>
          </a:xfrm>
          <a:prstGeom prst="rect">
            <a:avLst/>
          </a:prstGeom>
          <a:noFill/>
          <a:ln/>
        </p:spPr>
        <p:txBody>
          <a:bodyPr wrap="square" lIns="0" tIns="0" rIns="0" bIns="0" rtlCol="0" anchor="t"/>
          <a:lstStyle/>
          <a:p>
            <a:pPr marL="0" indent="0">
              <a:buNone/>
            </a:pPr>
            <a:r>
              <a:rPr lang="en-US" sz="1600" b="1" dirty="0">
                <a:solidFill>
                  <a:schemeClr val="tx1"/>
                </a:solidFill>
              </a:rPr>
              <a:t>Footnote the event years</a:t>
            </a:r>
            <a:endParaRPr lang="en-US" sz="1400" dirty="0"/>
          </a:p>
          <a:p>
            <a:pPr marL="0" indent="0">
              <a:buNone/>
            </a:pPr>
            <a:r>
              <a:rPr lang="en-US" sz="1400" dirty="0">
                <a:solidFill>
                  <a:schemeClr val="tx1"/>
                </a:solidFill>
              </a:rPr>
              <a:t>Six low outliers fall in FY2020–21. Treat them as pandemic years, not a trend.</a:t>
            </a:r>
            <a:endParaRPr lang="en-US" sz="14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65760"/>
            <a:ext cx="8229600" cy="640080"/>
          </a:xfrm>
          <a:prstGeom prst="rect">
            <a:avLst/>
          </a:prstGeom>
          <a:noFill/>
          <a:ln/>
        </p:spPr>
        <p:txBody>
          <a:bodyPr wrap="square" lIns="0" tIns="0" rIns="0" bIns="0" rtlCol="0" anchor="t"/>
          <a:lstStyle/>
          <a:p>
            <a:pPr marL="0" indent="0">
              <a:buNone/>
            </a:pPr>
            <a:r>
              <a:rPr lang="en-US" sz="3400" b="1" dirty="0">
                <a:solidFill>
                  <a:schemeClr val="tx1"/>
                </a:solidFill>
              </a:rPr>
              <a:t>Read these caveats first</a:t>
            </a:r>
            <a:endParaRPr lang="en-US" sz="3400" dirty="0"/>
          </a:p>
        </p:txBody>
      </p:sp>
      <p:sp>
        <p:nvSpPr>
          <p:cNvPr id="3" name="Caveat 1 dot"/>
          <p:cNvSpPr/>
          <p:nvPr/>
        </p:nvSpPr>
        <p:spPr>
          <a:xfrm>
            <a:off x="457200" y="1325880"/>
            <a:ext cx="457200" cy="457200"/>
          </a:xfrm>
          <a:prstGeom prst="ellipse">
            <a:avLst/>
          </a:prstGeom>
          <a:solidFill>
            <a:schemeClr val="accent1"/>
          </a:solidFill>
          <a:ln/>
        </p:spPr>
        <p:txBody>
          <a:bodyPr/>
          <a:lstStyle/>
          <a:p>
            <a:endParaRPr lang="en-US"/>
          </a:p>
        </p:txBody>
      </p:sp>
      <p:sp>
        <p:nvSpPr>
          <p:cNvPr id="4" name="Caveat 1 number"/>
          <p:cNvSpPr txBox="1"/>
          <p:nvPr/>
        </p:nvSpPr>
        <p:spPr>
          <a:xfrm>
            <a:off x="457200" y="132588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5" name="Caveat text 1"/>
          <p:cNvSpPr txBox="1"/>
          <p:nvPr/>
        </p:nvSpPr>
        <p:spPr>
          <a:xfrm>
            <a:off x="1143000" y="1280160"/>
            <a:ext cx="7498080" cy="685800"/>
          </a:xfrm>
          <a:prstGeom prst="rect">
            <a:avLst/>
          </a:prstGeom>
          <a:noFill/>
          <a:ln/>
        </p:spPr>
        <p:txBody>
          <a:bodyPr wrap="square" lIns="0" tIns="0" rIns="0" bIns="0" rtlCol="0" anchor="ctr"/>
          <a:lstStyle/>
          <a:p>
            <a:pPr marL="0" indent="0">
              <a:buNone/>
            </a:pPr>
            <a:r>
              <a:rPr lang="en-US" sz="1800" b="1" dirty="0">
                <a:solidFill>
                  <a:schemeClr val="tx1"/>
                </a:solidFill>
              </a:rPr>
              <a:t>Every risk score is 5.</a:t>
            </a:r>
            <a:endParaRPr lang="en-US" sz="1400" dirty="0"/>
          </a:p>
          <a:p>
            <a:pPr marL="0" indent="0">
              <a:buNone/>
            </a:pPr>
            <a:r>
              <a:rPr lang="en-US" sz="1400" dirty="0">
                <a:solidFill>
                  <a:schemeClr val="tx2"/>
                </a:solidFill>
              </a:rPr>
              <a:t>The 1–10 score did not differentiate, so it is not used. Rerun with a scoring rubric.</a:t>
            </a:r>
            <a:endParaRPr lang="en-US" sz="1400" dirty="0"/>
          </a:p>
        </p:txBody>
      </p:sp>
      <p:sp>
        <p:nvSpPr>
          <p:cNvPr id="6" name="Caveat 2 dot"/>
          <p:cNvSpPr/>
          <p:nvPr/>
        </p:nvSpPr>
        <p:spPr>
          <a:xfrm>
            <a:off x="457200" y="2148840"/>
            <a:ext cx="457200" cy="457200"/>
          </a:xfrm>
          <a:prstGeom prst="ellipse">
            <a:avLst/>
          </a:prstGeom>
          <a:solidFill>
            <a:schemeClr val="accent1"/>
          </a:solidFill>
          <a:ln/>
        </p:spPr>
        <p:txBody>
          <a:bodyPr/>
          <a:lstStyle/>
          <a:p>
            <a:endParaRPr lang="en-US"/>
          </a:p>
        </p:txBody>
      </p:sp>
      <p:sp>
        <p:nvSpPr>
          <p:cNvPr id="7" name="Caveat 2 number"/>
          <p:cNvSpPr txBox="1"/>
          <p:nvPr/>
        </p:nvSpPr>
        <p:spPr>
          <a:xfrm>
            <a:off x="457200" y="214884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8" name="Caveat text 2"/>
          <p:cNvSpPr txBox="1"/>
          <p:nvPr/>
        </p:nvSpPr>
        <p:spPr>
          <a:xfrm>
            <a:off x="1143000" y="2103120"/>
            <a:ext cx="7498080" cy="685800"/>
          </a:xfrm>
          <a:prstGeom prst="rect">
            <a:avLst/>
          </a:prstGeom>
          <a:noFill/>
          <a:ln/>
        </p:spPr>
        <p:txBody>
          <a:bodyPr wrap="square" lIns="0" tIns="0" rIns="0" bIns="0" rtlCol="0" anchor="ctr"/>
          <a:lstStyle/>
          <a:p>
            <a:pPr marL="0" indent="0">
              <a:buNone/>
            </a:pPr>
            <a:r>
              <a:rPr lang="en-US" sz="1800" b="1" dirty="0">
                <a:solidFill>
                  <a:schemeClr val="tx1"/>
                </a:solidFill>
              </a:rPr>
              <a:t>ROE is missing for 96 filings (20%).</a:t>
            </a:r>
            <a:endParaRPr lang="en-US" sz="1400" dirty="0"/>
          </a:p>
          <a:p>
            <a:pPr marL="0" indent="0">
              <a:buNone/>
            </a:pPr>
            <a:r>
              <a:rPr lang="en-US" sz="1400" dirty="0">
                <a:solidFill>
                  <a:schemeClr val="tx2"/>
                </a:solidFill>
              </a:rPr>
              <a:t>Another 30 filings have no extracted Item 1A text.</a:t>
            </a:r>
            <a:endParaRPr lang="en-US" sz="1400" dirty="0"/>
          </a:p>
        </p:txBody>
      </p:sp>
      <p:sp>
        <p:nvSpPr>
          <p:cNvPr id="9" name="Caveat 3 dot"/>
          <p:cNvSpPr/>
          <p:nvPr/>
        </p:nvSpPr>
        <p:spPr>
          <a:xfrm>
            <a:off x="457200" y="2971800"/>
            <a:ext cx="457200" cy="457200"/>
          </a:xfrm>
          <a:prstGeom prst="ellipse">
            <a:avLst/>
          </a:prstGeom>
          <a:solidFill>
            <a:schemeClr val="accent1"/>
          </a:solidFill>
          <a:ln/>
        </p:spPr>
        <p:txBody>
          <a:bodyPr/>
          <a:lstStyle/>
          <a:p>
            <a:endParaRPr lang="en-US"/>
          </a:p>
        </p:txBody>
      </p:sp>
      <p:sp>
        <p:nvSpPr>
          <p:cNvPr id="10" name="Caveat 3 number"/>
          <p:cNvSpPr txBox="1"/>
          <p:nvPr/>
        </p:nvSpPr>
        <p:spPr>
          <a:xfrm>
            <a:off x="457200" y="297180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1" name="Caveat text 3"/>
          <p:cNvSpPr txBox="1"/>
          <p:nvPr/>
        </p:nvSpPr>
        <p:spPr>
          <a:xfrm>
            <a:off x="1143000" y="2926080"/>
            <a:ext cx="7498080" cy="685800"/>
          </a:xfrm>
          <a:prstGeom prst="rect">
            <a:avLst/>
          </a:prstGeom>
          <a:noFill/>
          <a:ln/>
        </p:spPr>
        <p:txBody>
          <a:bodyPr wrap="square" lIns="0" tIns="0" rIns="0" bIns="0" rtlCol="0" anchor="ctr"/>
          <a:lstStyle/>
          <a:p>
            <a:pPr marL="0" indent="0">
              <a:buNone/>
            </a:pPr>
            <a:r>
              <a:rPr lang="en-US" sz="1800" b="1" dirty="0">
                <a:solidFill>
                  <a:schemeClr val="tx1"/>
                </a:solidFill>
              </a:rPr>
              <a:t>Extreme ROEs come from tiny or negative equity.</a:t>
            </a:r>
            <a:endParaRPr lang="en-US" sz="1400" dirty="0"/>
          </a:p>
          <a:p>
            <a:pPr marL="0" indent="0">
              <a:buNone/>
            </a:pPr>
            <a:r>
              <a:rPr lang="en-US" sz="1400" dirty="0">
                <a:solidFill>
                  <a:schemeClr val="tx2"/>
                </a:solidFill>
              </a:rPr>
              <a:t>Examples: VRSK 957% (FY2024), DAL −807% (FY2020), MAS 628% (FY2020).</a:t>
            </a:r>
            <a:endParaRPr lang="en-US" sz="1400" dirty="0"/>
          </a:p>
        </p:txBody>
      </p:sp>
      <p:sp>
        <p:nvSpPr>
          <p:cNvPr id="12" name="Caveat 4 dot"/>
          <p:cNvSpPr/>
          <p:nvPr/>
        </p:nvSpPr>
        <p:spPr>
          <a:xfrm>
            <a:off x="457200" y="3794760"/>
            <a:ext cx="457200" cy="457200"/>
          </a:xfrm>
          <a:prstGeom prst="ellipse">
            <a:avLst/>
          </a:prstGeom>
          <a:solidFill>
            <a:schemeClr val="accent1"/>
          </a:solidFill>
          <a:ln/>
        </p:spPr>
        <p:txBody>
          <a:bodyPr/>
          <a:lstStyle/>
          <a:p>
            <a:endParaRPr lang="en-US"/>
          </a:p>
        </p:txBody>
      </p:sp>
      <p:sp>
        <p:nvSpPr>
          <p:cNvPr id="13" name="Caveat 4 number"/>
          <p:cNvSpPr txBox="1"/>
          <p:nvPr/>
        </p:nvSpPr>
        <p:spPr>
          <a:xfrm>
            <a:off x="457200" y="379476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14" name="Caveat text 4"/>
          <p:cNvSpPr txBox="1"/>
          <p:nvPr/>
        </p:nvSpPr>
        <p:spPr>
          <a:xfrm>
            <a:off x="1143000" y="3749040"/>
            <a:ext cx="7498080" cy="685800"/>
          </a:xfrm>
          <a:prstGeom prst="rect">
            <a:avLst/>
          </a:prstGeom>
          <a:noFill/>
          <a:ln/>
        </p:spPr>
        <p:txBody>
          <a:bodyPr wrap="square" lIns="0" tIns="0" rIns="0" bIns="0" rtlCol="0" anchor="ctr"/>
          <a:lstStyle/>
          <a:p>
            <a:pPr marL="0" indent="0">
              <a:buNone/>
            </a:pPr>
            <a:r>
              <a:rPr lang="en-US" sz="1800" b="1" dirty="0">
                <a:solidFill>
                  <a:schemeClr val="tx1"/>
                </a:solidFill>
              </a:rPr>
              <a:t>Themes are keyword counts on AI summaries.</a:t>
            </a:r>
            <a:endParaRPr lang="en-US" sz="1400" dirty="0"/>
          </a:p>
          <a:p>
            <a:pPr marL="0" indent="0">
              <a:buNone/>
            </a:pPr>
            <a:r>
              <a:rPr lang="en-US" sz="1400" dirty="0">
                <a:solidFill>
                  <a:schemeClr val="tx2"/>
                </a:solidFill>
              </a:rPr>
              <a:t>They are not read directly from the filings, so treat them as directional.</a:t>
            </a:r>
            <a:endParaRPr lang="en-US" sz="1400" dirty="0"/>
          </a:p>
        </p:txBody>
      </p:sp>
      <p:sp>
        <p:nvSpPr>
          <p:cNvPr id="15" name="Text 0"/>
          <p:cNvSpPr>
            <a:spLocks noGrp="1"/>
          </p:cNvSpPr>
          <p:nvPr>
            <p:ph type="body" idx="101" hasCustomPrompt="1"/>
          </p:nvPr>
        </p:nvSpPr>
        <p:spPr>
          <a:xfrm>
            <a:off x="457200" y="1005840"/>
            <a:ext cx="8229600" cy="365760"/>
          </a:xfrm>
          <a:prstGeom prst="rect">
            <a:avLst/>
          </a:prstGeom>
          <a:noFill/>
          <a:ln/>
        </p:spPr>
        <p:txBody>
          <a:bodyPr wrap="square" lIns="0" tIns="0" rIns="0" bIns="0" rtlCol="0" anchor="ctr"/>
          <a:lstStyle/>
          <a:p>
            <a:pPr marL="0" indent="0">
              <a:buNone/>
            </a:pPr>
            <a:endParaRPr lang="en-US" sz="1600" dirty="0"/>
          </a:p>
        </p:txBody>
      </p:sp>
      <p:sp>
        <p:nvSpPr>
          <p:cNvPr id="16" name="Text 0"/>
          <p:cNvSpPr>
            <a:spLocks noGrp="1"/>
          </p:cNvSpPr>
          <p:nvPr>
            <p:ph type="body" idx="102" hasCustomPrompt="1"/>
          </p:nvPr>
        </p:nvSpPr>
        <p:spPr>
          <a:xfrm>
            <a:off x="457200" y="4663440"/>
            <a:ext cx="7589520" cy="274320"/>
          </a:xfrm>
          <a:prstGeom prst="rect">
            <a:avLst/>
          </a:prstGeom>
          <a:noFill/>
          <a:ln/>
        </p:spPr>
        <p:txBody>
          <a:bodyPr wrap="square" lIns="0" tIns="0" rIns="0" bIns="0" rtlCol="0" anchor="ctr"/>
          <a:lstStyle/>
          <a:p>
            <a:pPr marL="0" indent="0">
              <a:buNone/>
            </a:pPr>
            <a:endParaRPr lang="en-US" sz="10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65760"/>
            <a:ext cx="8229600" cy="640080"/>
          </a:xfrm>
          <a:prstGeom prst="rect">
            <a:avLst/>
          </a:prstGeom>
          <a:noFill/>
          <a:ln/>
        </p:spPr>
        <p:txBody>
          <a:bodyPr wrap="square" lIns="0" tIns="0" rIns="0" bIns="0" rtlCol="0" anchor="t"/>
          <a:lstStyle/>
          <a:p>
            <a:pPr marL="0" indent="0">
              <a:buNone/>
            </a:pPr>
            <a:r>
              <a:rPr lang="en-US" sz="3400" b="1" dirty="0">
                <a:solidFill>
                  <a:schemeClr val="tx1"/>
                </a:solidFill>
              </a:rPr>
              <a:t>Where the sector is heading</a:t>
            </a:r>
            <a:endParaRPr lang="en-US" sz="3400" dirty="0"/>
          </a:p>
        </p:txBody>
      </p:sp>
      <p:sp>
        <p:nvSpPr>
          <p:cNvPr id="3" name="Text 0"/>
          <p:cNvSpPr>
            <a:spLocks noGrp="1"/>
          </p:cNvSpPr>
          <p:nvPr>
            <p:ph type="body" idx="101" hasCustomPrompt="1"/>
          </p:nvPr>
        </p:nvSpPr>
        <p:spPr>
          <a:xfrm>
            <a:off x="457200" y="1005840"/>
            <a:ext cx="8229600" cy="365760"/>
          </a:xfrm>
          <a:prstGeom prst="rect">
            <a:avLst/>
          </a:prstGeom>
          <a:noFill/>
          <a:ln/>
        </p:spPr>
        <p:txBody>
          <a:bodyPr wrap="square" lIns="0" tIns="0" rIns="0" bIns="0" rtlCol="0" anchor="ctr"/>
          <a:lstStyle/>
          <a:p>
            <a:pPr marL="0" indent="0">
              <a:buNone/>
            </a:pPr>
            <a:r>
              <a:rPr lang="en-US" sz="1600" dirty="0">
                <a:solidFill>
                  <a:schemeClr val="tx2"/>
                </a:solidFill>
              </a:rPr>
              <a:t>Returns recovered as risk shifted from a demand shock to cost and trade pressure</a:t>
            </a:r>
            <a:endParaRPr lang="en-US" sz="1600" dirty="0"/>
          </a:p>
        </p:txBody>
      </p:sp>
      <p:sp>
        <p:nvSpPr>
          <p:cNvPr id="4" name="Text 0"/>
          <p:cNvSpPr>
            <a:spLocks noGrp="1"/>
          </p:cNvSpPr>
          <p:nvPr>
            <p:ph type="body" idx="102" hasCustomPrompt="1"/>
          </p:nvPr>
        </p:nvSpPr>
        <p:spPr>
          <a:xfrm>
            <a:off x="457200" y="4663440"/>
            <a:ext cx="7589520" cy="274320"/>
          </a:xfrm>
          <a:prstGeom prst="rect">
            <a:avLst/>
          </a:prstGeom>
          <a:noFill/>
          <a:ln/>
        </p:spPr>
        <p:txBody>
          <a:bodyPr wrap="square" lIns="0" tIns="0" rIns="0" bIns="0" rtlCol="0" anchor="ctr"/>
          <a:lstStyle/>
          <a:p>
            <a:pPr marL="0" indent="0">
              <a:buNone/>
            </a:pPr>
            <a:r>
              <a:rPr lang="en-US" sz="1000" dirty="0">
                <a:solidFill>
                  <a:schemeClr val="tx2"/>
                </a:solidFill>
              </a:rPr>
              <a:t>A read of the filings through FY2025, not a forecast.</a:t>
            </a:r>
            <a:endParaRPr lang="en-US" sz="1000" dirty="0"/>
          </a:p>
        </p:txBody>
      </p:sp>
      <p:sp>
        <p:nvSpPr>
          <p:cNvPr id="5" name="Phase card 1"/>
          <p:cNvSpPr/>
          <p:nvPr/>
        </p:nvSpPr>
        <p:spPr>
          <a:xfrm>
            <a:off x="457200" y="1508760"/>
            <a:ext cx="2560320" cy="1920240"/>
          </a:xfrm>
          <a:prstGeom prst="roundRect">
            <a:avLst>
              <a:gd name="adj" fmla="val 4762"/>
            </a:avLst>
          </a:prstGeom>
          <a:solidFill>
            <a:schemeClr val="bg2"/>
          </a:solidFill>
          <a:ln/>
        </p:spPr>
        <p:txBody>
          <a:bodyPr/>
          <a:lstStyle/>
          <a:p>
            <a:endParaRPr lang="en-US"/>
          </a:p>
        </p:txBody>
      </p:sp>
      <p:sp>
        <p:nvSpPr>
          <p:cNvPr id="6" name="Phase text 1"/>
          <p:cNvSpPr txBox="1"/>
          <p:nvPr/>
        </p:nvSpPr>
        <p:spPr>
          <a:xfrm>
            <a:off x="640080" y="1645920"/>
            <a:ext cx="2194560" cy="1691640"/>
          </a:xfrm>
          <a:prstGeom prst="rect">
            <a:avLst/>
          </a:prstGeom>
          <a:noFill/>
          <a:ln/>
        </p:spPr>
        <p:txBody>
          <a:bodyPr wrap="square" lIns="0" tIns="0" rIns="0" bIns="0" rtlCol="0" anchor="t"/>
          <a:lstStyle/>
          <a:p>
            <a:pPr marL="0" indent="0">
              <a:buNone/>
            </a:pPr>
            <a:r>
              <a:rPr lang="en-US" sz="1600" b="1" dirty="0">
                <a:solidFill>
                  <a:schemeClr val="accent1"/>
                </a:solidFill>
              </a:rPr>
              <a:t>FY2020–21: shock</a:t>
            </a:r>
            <a:endParaRPr lang="en-US" sz="1400" dirty="0"/>
          </a:p>
          <a:p>
            <a:pPr marL="0" indent="0">
              <a:buNone/>
            </a:pPr>
            <a:r>
              <a:rPr lang="en-US" sz="2400" b="1" dirty="0">
                <a:solidFill>
                  <a:schemeClr val="tx1"/>
                </a:solidFill>
              </a:rPr>
              <a:t>19.4% → 20.8%</a:t>
            </a:r>
            <a:endParaRPr lang="en-US" sz="1400" dirty="0"/>
          </a:p>
          <a:p>
            <a:pPr marL="0" indent="0">
              <a:buNone/>
            </a:pPr>
            <a:r>
              <a:rPr lang="en-US" sz="1200" dirty="0">
                <a:solidFill>
                  <a:schemeClr val="tx2"/>
                </a:solidFill>
              </a:rPr>
              <a:t>median ROE</a:t>
            </a:r>
            <a:endParaRPr lang="en-US" sz="1400" dirty="0"/>
          </a:p>
          <a:p>
            <a:pPr marL="0" indent="0">
              <a:buNone/>
            </a:pPr>
            <a:r>
              <a:rPr lang="en-US" sz="1400" dirty="0">
                <a:solidFill>
                  <a:schemeClr val="tx1"/>
                </a:solidFill>
              </a:rPr>
              <a:t>COVID named in 74%, then 66%, of filings</a:t>
            </a:r>
            <a:endParaRPr lang="en-US" sz="1400" dirty="0"/>
          </a:p>
        </p:txBody>
      </p:sp>
      <p:sp>
        <p:nvSpPr>
          <p:cNvPr id="7" name="Phase card 2"/>
          <p:cNvSpPr/>
          <p:nvPr/>
        </p:nvSpPr>
        <p:spPr>
          <a:xfrm>
            <a:off x="3291840" y="1508760"/>
            <a:ext cx="2560320" cy="1920240"/>
          </a:xfrm>
          <a:prstGeom prst="roundRect">
            <a:avLst>
              <a:gd name="adj" fmla="val 4762"/>
            </a:avLst>
          </a:prstGeom>
          <a:solidFill>
            <a:schemeClr val="bg2"/>
          </a:solidFill>
          <a:ln/>
        </p:spPr>
        <p:txBody>
          <a:bodyPr/>
          <a:lstStyle/>
          <a:p>
            <a:endParaRPr lang="en-US"/>
          </a:p>
        </p:txBody>
      </p:sp>
      <p:sp>
        <p:nvSpPr>
          <p:cNvPr id="8" name="Phase text 2"/>
          <p:cNvSpPr txBox="1"/>
          <p:nvPr/>
        </p:nvSpPr>
        <p:spPr>
          <a:xfrm>
            <a:off x="3474720" y="1645920"/>
            <a:ext cx="2194560" cy="1691640"/>
          </a:xfrm>
          <a:prstGeom prst="rect">
            <a:avLst/>
          </a:prstGeom>
          <a:noFill/>
          <a:ln/>
        </p:spPr>
        <p:txBody>
          <a:bodyPr wrap="square" lIns="0" tIns="0" rIns="0" bIns="0" rtlCol="0" anchor="t"/>
          <a:lstStyle/>
          <a:p>
            <a:pPr marL="0" indent="0">
              <a:buNone/>
            </a:pPr>
            <a:r>
              <a:rPr lang="en-US" sz="1600" b="1" dirty="0">
                <a:solidFill>
                  <a:schemeClr val="accent1"/>
                </a:solidFill>
              </a:rPr>
              <a:t>FY2022–23: costs</a:t>
            </a:r>
            <a:endParaRPr lang="en-US" sz="1400" dirty="0"/>
          </a:p>
          <a:p>
            <a:pPr marL="0" indent="0">
              <a:buNone/>
            </a:pPr>
            <a:r>
              <a:rPr lang="en-US" sz="2400" b="1" dirty="0">
                <a:solidFill>
                  <a:schemeClr val="tx1"/>
                </a:solidFill>
              </a:rPr>
              <a:t>20.0% → 21.8%</a:t>
            </a:r>
            <a:endParaRPr lang="en-US" sz="1400" dirty="0"/>
          </a:p>
          <a:p>
            <a:pPr marL="0" indent="0">
              <a:buNone/>
            </a:pPr>
            <a:r>
              <a:rPr lang="en-US" sz="1200" dirty="0">
                <a:solidFill>
                  <a:schemeClr val="tx2"/>
                </a:solidFill>
              </a:rPr>
              <a:t>median ROE</a:t>
            </a:r>
            <a:endParaRPr lang="en-US" sz="1400" dirty="0"/>
          </a:p>
          <a:p>
            <a:pPr marL="0" indent="0">
              <a:buNone/>
            </a:pPr>
            <a:r>
              <a:rPr lang="en-US" sz="1400" dirty="0">
                <a:solidFill>
                  <a:schemeClr val="tx1"/>
                </a:solidFill>
              </a:rPr>
              <a:t>Raw materials and inflation named in about half of filings</a:t>
            </a:r>
            <a:endParaRPr lang="en-US" sz="1400" dirty="0"/>
          </a:p>
        </p:txBody>
      </p:sp>
      <p:sp>
        <p:nvSpPr>
          <p:cNvPr id="9" name="Phase card 3"/>
          <p:cNvSpPr/>
          <p:nvPr/>
        </p:nvSpPr>
        <p:spPr>
          <a:xfrm>
            <a:off x="6126480" y="1508760"/>
            <a:ext cx="2560320" cy="1920240"/>
          </a:xfrm>
          <a:prstGeom prst="roundRect">
            <a:avLst>
              <a:gd name="adj" fmla="val 4762"/>
            </a:avLst>
          </a:prstGeom>
          <a:solidFill>
            <a:schemeClr val="bg2"/>
          </a:solidFill>
          <a:ln/>
        </p:spPr>
        <p:txBody>
          <a:bodyPr/>
          <a:lstStyle/>
          <a:p>
            <a:endParaRPr lang="en-US"/>
          </a:p>
        </p:txBody>
      </p:sp>
      <p:sp>
        <p:nvSpPr>
          <p:cNvPr id="10" name="Phase text 3"/>
          <p:cNvSpPr txBox="1"/>
          <p:nvPr/>
        </p:nvSpPr>
        <p:spPr>
          <a:xfrm>
            <a:off x="6309360" y="1645920"/>
            <a:ext cx="2194560" cy="1691640"/>
          </a:xfrm>
          <a:prstGeom prst="rect">
            <a:avLst/>
          </a:prstGeom>
          <a:noFill/>
          <a:ln/>
        </p:spPr>
        <p:txBody>
          <a:bodyPr wrap="square" lIns="0" tIns="0" rIns="0" bIns="0" rtlCol="0" anchor="t"/>
          <a:lstStyle/>
          <a:p>
            <a:pPr marL="0" indent="0">
              <a:buNone/>
            </a:pPr>
            <a:r>
              <a:rPr lang="en-US" sz="1600" b="1" dirty="0">
                <a:solidFill>
                  <a:schemeClr val="accent1"/>
                </a:solidFill>
              </a:rPr>
              <a:t>FY2024–25: trade</a:t>
            </a:r>
            <a:endParaRPr lang="en-US" sz="1400" dirty="0"/>
          </a:p>
          <a:p>
            <a:pPr marL="0" indent="0">
              <a:buNone/>
            </a:pPr>
            <a:r>
              <a:rPr lang="en-US" sz="2400" b="1" dirty="0">
                <a:solidFill>
                  <a:schemeClr val="tx1"/>
                </a:solidFill>
              </a:rPr>
              <a:t>25.0% → 25.5%</a:t>
            </a:r>
            <a:endParaRPr lang="en-US" sz="1400" dirty="0"/>
          </a:p>
          <a:p>
            <a:pPr marL="0" indent="0">
              <a:buNone/>
            </a:pPr>
            <a:r>
              <a:rPr lang="en-US" sz="1200" dirty="0">
                <a:solidFill>
                  <a:schemeClr val="tx2"/>
                </a:solidFill>
              </a:rPr>
              <a:t>median ROE</a:t>
            </a:r>
            <a:endParaRPr lang="en-US" sz="1400" dirty="0"/>
          </a:p>
          <a:p>
            <a:pPr marL="0" indent="0">
              <a:buNone/>
            </a:pPr>
            <a:r>
              <a:rPr lang="en-US" sz="1400" dirty="0">
                <a:solidFill>
                  <a:schemeClr val="tx1"/>
                </a:solidFill>
              </a:rPr>
              <a:t>Geopolitics and trade rising, from 33% to 41%</a:t>
            </a:r>
            <a:endParaRPr lang="en-US" sz="1400" dirty="0"/>
          </a:p>
        </p:txBody>
      </p:sp>
      <p:sp>
        <p:nvSpPr>
          <p:cNvPr id="11" name="Watch next card"/>
          <p:cNvSpPr/>
          <p:nvPr/>
        </p:nvSpPr>
        <p:spPr>
          <a:xfrm>
            <a:off x="457200" y="3611880"/>
            <a:ext cx="8229600" cy="868680"/>
          </a:xfrm>
          <a:prstGeom prst="roundRect">
            <a:avLst>
              <a:gd name="adj" fmla="val 10526"/>
            </a:avLst>
          </a:prstGeom>
          <a:solidFill>
            <a:schemeClr val="bg2"/>
          </a:solidFill>
          <a:ln/>
        </p:spPr>
        <p:txBody>
          <a:bodyPr/>
          <a:lstStyle/>
          <a:p>
            <a:endParaRPr lang="en-US"/>
          </a:p>
        </p:txBody>
      </p:sp>
      <p:sp>
        <p:nvSpPr>
          <p:cNvPr id="12" name="Watch next text"/>
          <p:cNvSpPr txBox="1"/>
          <p:nvPr/>
        </p:nvSpPr>
        <p:spPr>
          <a:xfrm>
            <a:off x="685800" y="3657600"/>
            <a:ext cx="7772400" cy="777240"/>
          </a:xfrm>
          <a:prstGeom prst="rect">
            <a:avLst/>
          </a:prstGeom>
          <a:noFill/>
          <a:ln/>
        </p:spPr>
        <p:txBody>
          <a:bodyPr wrap="square" lIns="0" tIns="0" rIns="0" bIns="0" rtlCol="0" anchor="ctr"/>
          <a:lstStyle/>
          <a:p>
            <a:pPr marL="0" indent="0">
              <a:buNone/>
            </a:pPr>
            <a:r>
              <a:rPr lang="en-US" sz="1400" b="1" dirty="0">
                <a:solidFill>
                  <a:schemeClr val="tx1"/>
                </a:solidFill>
              </a:rPr>
              <a:t>Watch next: </a:t>
            </a:r>
            <a:r>
              <a:rPr lang="en-US" sz="1400" dirty="0">
                <a:solidFill>
                  <a:schemeClr val="tx1"/>
                </a:solidFill>
              </a:rPr>
              <a:t>tariffs and geopolitics (rising every year), labor pressure (elevated since FY2021), and leverage-led ROE, which is the most fragile part of the gain.</a:t>
            </a:r>
            <a:endParaRPr lang="en-US" sz="14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097280"/>
            <a:ext cx="5394960" cy="1828800"/>
          </a:xfrm>
          <a:prstGeom prst="rect">
            <a:avLst/>
          </a:prstGeom>
          <a:noFill/>
          <a:ln/>
        </p:spPr>
        <p:txBody>
          <a:bodyPr wrap="square" lIns="0" tIns="0" rIns="0" bIns="0" rtlCol="0" anchor="t"/>
          <a:lstStyle/>
          <a:p>
            <a:pPr marL="0" indent="0">
              <a:buNone/>
            </a:pPr>
            <a:r>
              <a:rPr lang="en-US" sz="3600" b="1" dirty="0">
                <a:solidFill>
                  <a:schemeClr val="bg1"/>
                </a:solidFill>
              </a:rPr>
              <a:t>Healthcare</a:t>
            </a:r>
            <a:endParaRPr lang="en-US" sz="3600" dirty="0"/>
          </a:p>
        </p:txBody>
      </p:sp>
      <p:sp>
        <p:nvSpPr>
          <p:cNvPr id="3" name="Text 0"/>
          <p:cNvSpPr>
            <a:spLocks noGrp="1"/>
          </p:cNvSpPr>
          <p:nvPr>
            <p:ph type="body" idx="101" hasCustomPrompt="1"/>
          </p:nvPr>
        </p:nvSpPr>
        <p:spPr>
          <a:xfrm>
            <a:off x="548640" y="3108960"/>
            <a:ext cx="5394960" cy="731520"/>
          </a:xfrm>
          <a:prstGeom prst="rect">
            <a:avLst/>
          </a:prstGeom>
          <a:noFill/>
          <a:ln/>
        </p:spPr>
        <p:txBody>
          <a:bodyPr wrap="square" lIns="0" tIns="0" rIns="0" bIns="0" rtlCol="0" anchor="t"/>
          <a:lstStyle/>
          <a:p>
            <a:pPr marL="0" indent="0">
              <a:buNone/>
            </a:pPr>
            <a:r>
              <a:rPr lang="en-US" sz="1800" dirty="0">
                <a:solidFill>
                  <a:schemeClr val="bg2"/>
                </a:solidFill>
              </a:rPr>
              <a:t>What is behind healthcare ROE, and how sustainable is it?</a:t>
            </a:r>
            <a:endParaRPr lang="en-US" sz="1800" dirty="0"/>
          </a:p>
        </p:txBody>
      </p:sp>
      <p:sp>
        <p:nvSpPr>
          <p:cNvPr id="4" name="Section circle"/>
          <p:cNvSpPr/>
          <p:nvPr/>
        </p:nvSpPr>
        <p:spPr>
          <a:xfrm>
            <a:off x="6309360" y="1371600"/>
            <a:ext cx="2011680" cy="2011680"/>
          </a:xfrm>
          <a:prstGeom prst="ellipse">
            <a:avLst/>
          </a:prstGeom>
          <a:solidFill>
            <a:schemeClr val="accent1"/>
          </a:solidFill>
          <a:ln/>
        </p:spPr>
        <p:txBody>
          <a:bodyPr/>
          <a:lstStyle/>
          <a:p>
            <a:endParaRPr lang="en-US"/>
          </a:p>
        </p:txBody>
      </p:sp>
      <p:sp>
        <p:nvSpPr>
          <p:cNvPr id="5" name="Section number"/>
          <p:cNvSpPr txBox="1"/>
          <p:nvPr/>
        </p:nvSpPr>
        <p:spPr>
          <a:xfrm>
            <a:off x="6309360" y="1371600"/>
            <a:ext cx="2011680" cy="2011680"/>
          </a:xfrm>
          <a:prstGeom prst="rect">
            <a:avLst/>
          </a:prstGeom>
          <a:noFill/>
          <a:ln/>
        </p:spPr>
        <p:txBody>
          <a:bodyPr wrap="square" lIns="0" tIns="0" rIns="0" bIns="0" rtlCol="0" anchor="ctr"/>
          <a:lstStyle/>
          <a:p>
            <a:pPr marL="0" indent="0" algn="ctr">
              <a:buNone/>
            </a:pPr>
            <a:r>
              <a:rPr lang="en-US" sz="7200" b="1" dirty="0">
                <a:solidFill>
                  <a:schemeClr val="bg1"/>
                </a:solidFill>
              </a:rPr>
              <a:t>2</a:t>
            </a:r>
            <a:endParaRPr lang="en-US" sz="7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65760"/>
            <a:ext cx="8229600" cy="640080"/>
          </a:xfrm>
          <a:prstGeom prst="rect">
            <a:avLst/>
          </a:prstGeom>
          <a:noFill/>
          <a:ln/>
        </p:spPr>
        <p:txBody>
          <a:bodyPr wrap="square" lIns="0" tIns="0" rIns="0" bIns="0" rtlCol="0" anchor="t"/>
          <a:lstStyle/>
          <a:p>
            <a:pPr marL="0" indent="0">
              <a:buNone/>
            </a:pPr>
            <a:r>
              <a:rPr lang="en-US" sz="3400" b="1" dirty="0">
                <a:solidFill>
                  <a:schemeClr val="tx1"/>
                </a:solidFill>
              </a:rPr>
              <a:t>Healthcare ROE peaked in 2021</a:t>
            </a:r>
            <a:endParaRPr lang="en-US" sz="3400" dirty="0"/>
          </a:p>
        </p:txBody>
      </p:sp>
      <p:sp>
        <p:nvSpPr>
          <p:cNvPr id="3" name="Text 0"/>
          <p:cNvSpPr>
            <a:spLocks noGrp="1"/>
          </p:cNvSpPr>
          <p:nvPr>
            <p:ph type="body" idx="101" hasCustomPrompt="1"/>
          </p:nvPr>
        </p:nvSpPr>
        <p:spPr>
          <a:xfrm>
            <a:off x="457200" y="1005840"/>
            <a:ext cx="8229600" cy="365760"/>
          </a:xfrm>
          <a:prstGeom prst="rect">
            <a:avLst/>
          </a:prstGeom>
          <a:noFill/>
          <a:ln/>
        </p:spPr>
        <p:txBody>
          <a:bodyPr wrap="square" lIns="0" tIns="0" rIns="0" bIns="0" rtlCol="0" anchor="ctr"/>
          <a:lstStyle/>
          <a:p>
            <a:pPr marL="0" indent="0">
              <a:buNone/>
            </a:pPr>
            <a:r>
              <a:rPr lang="en-US" sz="1600" dirty="0">
                <a:solidFill>
                  <a:schemeClr val="tx2"/>
                </a:solidFill>
              </a:rPr>
              <a:t>Same 40 firms: 18.68% in 2021, 11.13% in 2024, 12.68% in 2025</a:t>
            </a:r>
            <a:endParaRPr lang="en-US" sz="1600" dirty="0"/>
          </a:p>
        </p:txBody>
      </p:sp>
      <p:sp>
        <p:nvSpPr>
          <p:cNvPr id="4" name="Text 0"/>
          <p:cNvSpPr>
            <a:spLocks noGrp="1"/>
          </p:cNvSpPr>
          <p:nvPr>
            <p:ph type="body" idx="102" hasCustomPrompt="1"/>
          </p:nvPr>
        </p:nvSpPr>
        <p:spPr>
          <a:xfrm>
            <a:off x="457200" y="4663440"/>
            <a:ext cx="7589520" cy="274320"/>
          </a:xfrm>
          <a:prstGeom prst="rect">
            <a:avLst/>
          </a:prstGeom>
          <a:noFill/>
          <a:ln/>
        </p:spPr>
        <p:txBody>
          <a:bodyPr wrap="square" lIns="0" tIns="0" rIns="0" bIns="0" rtlCol="0" anchor="ctr"/>
          <a:lstStyle/>
          <a:p>
            <a:pPr marL="0" indent="0">
              <a:buNone/>
            </a:pPr>
            <a:r>
              <a:rPr lang="en-US" sz="1000" dirty="0">
                <a:solidFill>
                  <a:schemeClr val="tx2"/>
                </a:solidFill>
              </a:rPr>
              <a:t>Fixed 40-firm panel with all six usable years; year-end equity. Median, not mean.</a:t>
            </a:r>
            <a:endParaRPr lang="en-US" sz="1000" dirty="0"/>
          </a:p>
        </p:txBody>
      </p:sp>
      <p:graphicFrame>
        <p:nvGraphicFramePr>
          <p:cNvPr id="6" name="Chart 0"/>
          <p:cNvGraphicFramePr/>
          <p:nvPr/>
        </p:nvGraphicFramePr>
        <p:xfrm>
          <a:off x="457200" y="1554480"/>
          <a:ext cx="539496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7" name="Callout card"/>
          <p:cNvSpPr/>
          <p:nvPr/>
        </p:nvSpPr>
        <p:spPr>
          <a:xfrm>
            <a:off x="6309360" y="1828800"/>
            <a:ext cx="2377440" cy="2377440"/>
          </a:xfrm>
          <a:prstGeom prst="roundRect">
            <a:avLst>
              <a:gd name="adj" fmla="val 3846"/>
            </a:avLst>
          </a:prstGeom>
          <a:solidFill>
            <a:schemeClr val="bg2"/>
          </a:solidFill>
          <a:ln/>
        </p:spPr>
        <p:txBody>
          <a:bodyPr/>
          <a:lstStyle/>
          <a:p>
            <a:endParaRPr lang="en-US"/>
          </a:p>
        </p:txBody>
      </p:sp>
      <p:sp>
        <p:nvSpPr>
          <p:cNvPr id="8" name="Callout value"/>
          <p:cNvSpPr txBox="1"/>
          <p:nvPr/>
        </p:nvSpPr>
        <p:spPr>
          <a:xfrm>
            <a:off x="6309360" y="2103120"/>
            <a:ext cx="2377440" cy="822960"/>
          </a:xfrm>
          <a:prstGeom prst="rect">
            <a:avLst/>
          </a:prstGeom>
          <a:noFill/>
          <a:ln/>
        </p:spPr>
        <p:txBody>
          <a:bodyPr wrap="square" lIns="0" tIns="0" rIns="0" bIns="0" rtlCol="0" anchor="ctr"/>
          <a:lstStyle/>
          <a:p>
            <a:pPr marL="0" indent="0" algn="ctr">
              <a:buNone/>
            </a:pPr>
            <a:r>
              <a:rPr lang="en-US" sz="4400" b="1" dirty="0">
                <a:solidFill>
                  <a:schemeClr val="accent2"/>
                </a:solidFill>
              </a:rPr>
              <a:t>−6 pts</a:t>
            </a:r>
            <a:endParaRPr lang="en-US" sz="4400" dirty="0"/>
          </a:p>
        </p:txBody>
      </p:sp>
      <p:sp>
        <p:nvSpPr>
          <p:cNvPr id="9" name="Callout label"/>
          <p:cNvSpPr txBox="1"/>
          <p:nvPr/>
        </p:nvSpPr>
        <p:spPr>
          <a:xfrm>
            <a:off x="6492240" y="3017520"/>
            <a:ext cx="2011680" cy="914400"/>
          </a:xfrm>
          <a:prstGeom prst="rect">
            <a:avLst/>
          </a:prstGeom>
          <a:noFill/>
          <a:ln/>
        </p:spPr>
        <p:txBody>
          <a:bodyPr wrap="square" lIns="0" tIns="0" rIns="0" bIns="0" rtlCol="0" anchor="t"/>
          <a:lstStyle/>
          <a:p>
            <a:pPr marL="0" indent="0" algn="ctr">
              <a:buNone/>
            </a:pPr>
            <a:r>
              <a:rPr lang="en-US" sz="1400" dirty="0">
                <a:solidFill>
                  <a:schemeClr val="tx1"/>
                </a:solidFill>
              </a:rPr>
              <a:t>Change in median ROE, 2021 peak to 2025</a:t>
            </a:r>
            <a:endParaRPr lang="en-US" sz="14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65760"/>
            <a:ext cx="8229600" cy="640080"/>
          </a:xfrm>
          <a:prstGeom prst="rect">
            <a:avLst/>
          </a:prstGeom>
          <a:noFill/>
          <a:ln/>
        </p:spPr>
        <p:txBody>
          <a:bodyPr wrap="square" lIns="0" tIns="0" rIns="0" bIns="0" rtlCol="0" anchor="t"/>
          <a:lstStyle/>
          <a:p>
            <a:pPr marL="0" indent="0">
              <a:buNone/>
            </a:pPr>
            <a:r>
              <a:rPr lang="en-US" sz="3400" b="1" dirty="0">
                <a:solidFill>
                  <a:schemeClr val="tx1"/>
                </a:solidFill>
              </a:rPr>
              <a:t>ROE components, 2020–2025</a:t>
            </a:r>
            <a:endParaRPr lang="en-US" sz="3400" dirty="0"/>
          </a:p>
        </p:txBody>
      </p:sp>
      <p:sp>
        <p:nvSpPr>
          <p:cNvPr id="3" name="Text 0"/>
          <p:cNvSpPr>
            <a:spLocks noGrp="1"/>
          </p:cNvSpPr>
          <p:nvPr>
            <p:ph type="body" idx="101" hasCustomPrompt="1"/>
          </p:nvPr>
        </p:nvSpPr>
        <p:spPr>
          <a:xfrm>
            <a:off x="457200" y="1005840"/>
            <a:ext cx="8229600" cy="365760"/>
          </a:xfrm>
          <a:prstGeom prst="rect">
            <a:avLst/>
          </a:prstGeom>
          <a:noFill/>
          <a:ln/>
        </p:spPr>
        <p:txBody>
          <a:bodyPr wrap="square" lIns="0" tIns="0" rIns="0" bIns="0" rtlCol="0" anchor="ctr"/>
          <a:lstStyle/>
          <a:p>
            <a:pPr marL="0" indent="0">
              <a:buNone/>
            </a:pPr>
            <a:r>
              <a:rPr lang="en-US" sz="1600" dirty="0">
                <a:solidFill>
                  <a:schemeClr val="tx2"/>
                </a:solidFill>
              </a:rPr>
              <a:t>Margin tracks ROE closely; the equity multiplier drifted down</a:t>
            </a:r>
            <a:endParaRPr lang="en-US" sz="1600" dirty="0"/>
          </a:p>
        </p:txBody>
      </p:sp>
      <p:sp>
        <p:nvSpPr>
          <p:cNvPr id="4" name="Text 0"/>
          <p:cNvSpPr>
            <a:spLocks noGrp="1"/>
          </p:cNvSpPr>
          <p:nvPr>
            <p:ph type="body" idx="102" hasCustomPrompt="1"/>
          </p:nvPr>
        </p:nvSpPr>
        <p:spPr>
          <a:xfrm>
            <a:off x="457200" y="4663440"/>
            <a:ext cx="7589520" cy="274320"/>
          </a:xfrm>
          <a:prstGeom prst="rect">
            <a:avLst/>
          </a:prstGeom>
          <a:noFill/>
          <a:ln/>
        </p:spPr>
        <p:txBody>
          <a:bodyPr wrap="square" lIns="0" tIns="0" rIns="0" bIns="0" rtlCol="0" anchor="ctr"/>
          <a:lstStyle/>
          <a:p>
            <a:pPr marL="0" indent="0">
              <a:buNone/>
            </a:pPr>
            <a:r>
              <a:rPr lang="en-US" sz="1000" dirty="0">
                <a:solidFill>
                  <a:schemeClr val="tx2"/>
                </a:solidFill>
              </a:rPr>
              <a:t>Separate medians for the same 40 firms; their product is not median ROE. Year-end balances.</a:t>
            </a:r>
            <a:endParaRPr lang="en-US" sz="1000" dirty="0"/>
          </a:p>
        </p:txBody>
      </p:sp>
      <p:graphicFrame>
        <p:nvGraphicFramePr>
          <p:cNvPr id="22" name="Data table"/>
          <p:cNvGraphicFramePr>
            <a:graphicFrameLocks noGrp="1"/>
          </p:cNvGraphicFramePr>
          <p:nvPr>
            <p:extLst>
              <p:ext uri="{D42A27DB-BD31-4B8C-83A1-F6EECF244321}">
                <p14:modId xmlns:p14="http://schemas.microsoft.com/office/powerpoint/2010/main" val="1579011935"/>
              </p:ext>
            </p:extLst>
          </p:nvPr>
        </p:nvGraphicFramePr>
        <p:xfrm>
          <a:off x="457200" y="1600200"/>
          <a:ext cx="8229600" cy="2880360"/>
        </p:xfrm>
        <a:graphic>
          <a:graphicData uri="http://schemas.openxmlformats.org/drawingml/2006/table">
            <a:tbl>
              <a:tblPr/>
              <a:tblGrid>
                <a:gridCol w="137160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411480">
                <a:tc>
                  <a:txBody>
                    <a:bodyPr/>
                    <a:lstStyle/>
                    <a:p>
                      <a:pPr marL="0" indent="0" algn="l">
                        <a:buNone/>
                      </a:pPr>
                      <a:r>
                        <a:rPr lang="en-US" sz="1400" b="1" dirty="0">
                          <a:solidFill>
                            <a:schemeClr val="bg1"/>
                          </a:solidFill>
                        </a:rPr>
                        <a:t>Year</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rgbClr val="3E7CB1"/>
                    </a:solidFill>
                  </a:tcPr>
                </a:tc>
                <a:tc>
                  <a:txBody>
                    <a:bodyPr/>
                    <a:lstStyle/>
                    <a:p>
                      <a:pPr marL="0" indent="0" algn="ctr">
                        <a:buNone/>
                      </a:pPr>
                      <a:r>
                        <a:rPr lang="en-US" sz="1400" b="1" dirty="0">
                          <a:solidFill>
                            <a:schemeClr val="bg1"/>
                          </a:solidFill>
                        </a:rPr>
                        <a:t>ROE (%)</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rgbClr val="3E7CB1"/>
                    </a:solidFill>
                  </a:tcPr>
                </a:tc>
                <a:tc>
                  <a:txBody>
                    <a:bodyPr/>
                    <a:lstStyle/>
                    <a:p>
                      <a:pPr marL="0" indent="0" algn="ctr">
                        <a:buNone/>
                      </a:pPr>
                      <a:r>
                        <a:rPr lang="en-US" sz="1400" b="1" dirty="0">
                          <a:solidFill>
                            <a:schemeClr val="bg1"/>
                          </a:solidFill>
                        </a:rPr>
                        <a:t>Profit margin (%)</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rgbClr val="3E7CB1"/>
                    </a:solidFill>
                  </a:tcPr>
                </a:tc>
                <a:tc>
                  <a:txBody>
                    <a:bodyPr/>
                    <a:lstStyle/>
                    <a:p>
                      <a:pPr marL="0" indent="0" algn="ctr">
                        <a:buNone/>
                      </a:pPr>
                      <a:r>
                        <a:rPr lang="en-US" sz="1400" b="1" dirty="0">
                          <a:solidFill>
                            <a:schemeClr val="bg1"/>
                          </a:solidFill>
                        </a:rPr>
                        <a:t>Asset turnover (×)</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rgbClr val="3E7CB1"/>
                    </a:solidFill>
                  </a:tcPr>
                </a:tc>
                <a:tc>
                  <a:txBody>
                    <a:bodyPr/>
                    <a:lstStyle/>
                    <a:p>
                      <a:pPr marL="0" indent="0" algn="ctr">
                        <a:buNone/>
                      </a:pPr>
                      <a:r>
                        <a:rPr lang="en-US" sz="1400" b="1" dirty="0">
                          <a:solidFill>
                            <a:schemeClr val="bg1"/>
                          </a:solidFill>
                        </a:rPr>
                        <a:t>Equity multiplier (×)</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rgbClr val="3E7CB1"/>
                    </a:solidFill>
                  </a:tcPr>
                </a:tc>
                <a:extLst>
                  <a:ext uri="{0D108BD9-81ED-4DB2-BD59-A6C34878D82A}">
                    <a16:rowId xmlns:a16="http://schemas.microsoft.com/office/drawing/2014/main" val="10000"/>
                  </a:ext>
                </a:extLst>
              </a:tr>
              <a:tr h="411480">
                <a:tc>
                  <a:txBody>
                    <a:bodyPr/>
                    <a:lstStyle/>
                    <a:p>
                      <a:pPr marL="0" indent="0" algn="l">
                        <a:buNone/>
                      </a:pPr>
                      <a:r>
                        <a:rPr lang="en-US" sz="1400" b="1" dirty="0">
                          <a:solidFill>
                            <a:schemeClr val="tx1"/>
                          </a:solidFill>
                        </a:rPr>
                        <a:t>2020</a:t>
                      </a:r>
                      <a:endParaRPr lang="en-US" sz="1400" dirty="0"/>
                    </a:p>
                  </a:txBody>
                  <a:tcPr marL="73152" marR="73152" marT="0" marB="0" anchor="ctr">
                    <a:lnL w="0" cap="flat" cmpd="sng" algn="ctr">
                      <a:noFill/>
                    </a:lnL>
                    <a:lnR w="0" cap="flat" cmpd="sng" algn="ctr">
                      <a:noFill/>
                    </a:lnR>
                    <a:lnT w="0" cap="flat" cmpd="sng" algn="ctr">
                      <a:noFill/>
                    </a:lnT>
                    <a:lnB w="9525" cap="flat" cmpd="sng" algn="ctr">
                      <a:solidFill>
                        <a:srgbClr val="7B8794"/>
                      </a:solidFill>
                      <a:prstDash val="solid"/>
                      <a:round/>
                      <a:headEnd type="none" w="med" len="med"/>
                      <a:tailEnd type="none" w="med" len="med"/>
                    </a:lnB>
                  </a:tcPr>
                </a:tc>
                <a:tc>
                  <a:txBody>
                    <a:bodyPr/>
                    <a:lstStyle/>
                    <a:p>
                      <a:pPr marL="0" indent="0" algn="ctr">
                        <a:buNone/>
                      </a:pPr>
                      <a:r>
                        <a:rPr lang="en-US" sz="1400" dirty="0">
                          <a:solidFill>
                            <a:schemeClr val="tx1"/>
                          </a:solidFill>
                        </a:rPr>
                        <a:t>15.72</a:t>
                      </a:r>
                      <a:endParaRPr lang="en-US" sz="1400" dirty="0"/>
                    </a:p>
                  </a:txBody>
                  <a:tcPr marL="73152" marR="73152" marT="0" marB="0" anchor="ctr">
                    <a:lnL w="0" cap="flat" cmpd="sng" algn="ctr">
                      <a:noFill/>
                    </a:lnL>
                    <a:lnR w="0" cap="flat" cmpd="sng" algn="ctr">
                      <a:noFill/>
                    </a:lnR>
                    <a:lnT w="0" cap="flat" cmpd="sng" algn="ctr">
                      <a:noFill/>
                    </a:lnT>
                    <a:lnB w="9525" cap="flat" cmpd="sng" algn="ctr">
                      <a:solidFill>
                        <a:srgbClr val="7B8794"/>
                      </a:solidFill>
                      <a:prstDash val="solid"/>
                      <a:round/>
                      <a:headEnd type="none" w="med" len="med"/>
                      <a:tailEnd type="none" w="med" len="med"/>
                    </a:lnB>
                  </a:tcPr>
                </a:tc>
                <a:tc>
                  <a:txBody>
                    <a:bodyPr/>
                    <a:lstStyle/>
                    <a:p>
                      <a:pPr marL="0" indent="0" algn="ctr">
                        <a:buNone/>
                      </a:pPr>
                      <a:r>
                        <a:rPr lang="en-US" sz="1400" dirty="0">
                          <a:solidFill>
                            <a:schemeClr val="tx1"/>
                          </a:solidFill>
                        </a:rPr>
                        <a:t>13.22</a:t>
                      </a:r>
                      <a:endParaRPr lang="en-US" sz="1400" dirty="0"/>
                    </a:p>
                  </a:txBody>
                  <a:tcPr marL="73152" marR="73152" marT="0" marB="0" anchor="ctr">
                    <a:lnL w="0" cap="flat" cmpd="sng" algn="ctr">
                      <a:noFill/>
                    </a:lnL>
                    <a:lnR w="0" cap="flat" cmpd="sng" algn="ctr">
                      <a:noFill/>
                    </a:lnR>
                    <a:lnT w="0" cap="flat" cmpd="sng" algn="ctr">
                      <a:noFill/>
                    </a:lnT>
                    <a:lnB w="9525" cap="flat" cmpd="sng" algn="ctr">
                      <a:solidFill>
                        <a:srgbClr val="7B8794"/>
                      </a:solidFill>
                      <a:prstDash val="solid"/>
                      <a:round/>
                      <a:headEnd type="none" w="med" len="med"/>
                      <a:tailEnd type="none" w="med" len="med"/>
                    </a:lnB>
                  </a:tcPr>
                </a:tc>
                <a:tc>
                  <a:txBody>
                    <a:bodyPr/>
                    <a:lstStyle/>
                    <a:p>
                      <a:pPr marL="0" indent="0" algn="ctr">
                        <a:buNone/>
                      </a:pPr>
                      <a:r>
                        <a:rPr lang="en-US" sz="1400" dirty="0">
                          <a:solidFill>
                            <a:schemeClr val="tx1"/>
                          </a:solidFill>
                        </a:rPr>
                        <a:t>0.50</a:t>
                      </a:r>
                      <a:endParaRPr lang="en-US" sz="1400" dirty="0"/>
                    </a:p>
                  </a:txBody>
                  <a:tcPr marL="73152" marR="73152" marT="0" marB="0" anchor="ctr">
                    <a:lnL w="0" cap="flat" cmpd="sng" algn="ctr">
                      <a:noFill/>
                    </a:lnL>
                    <a:lnR w="0" cap="flat" cmpd="sng" algn="ctr">
                      <a:noFill/>
                    </a:lnR>
                    <a:lnT w="0" cap="flat" cmpd="sng" algn="ctr">
                      <a:noFill/>
                    </a:lnT>
                    <a:lnB w="9525" cap="flat" cmpd="sng" algn="ctr">
                      <a:solidFill>
                        <a:srgbClr val="7B8794"/>
                      </a:solidFill>
                      <a:prstDash val="solid"/>
                      <a:round/>
                      <a:headEnd type="none" w="med" len="med"/>
                      <a:tailEnd type="none" w="med" len="med"/>
                    </a:lnB>
                  </a:tcPr>
                </a:tc>
                <a:tc>
                  <a:txBody>
                    <a:bodyPr/>
                    <a:lstStyle/>
                    <a:p>
                      <a:pPr marL="0" indent="0" algn="ctr">
                        <a:buNone/>
                      </a:pPr>
                      <a:r>
                        <a:rPr lang="en-US" sz="1400" dirty="0">
                          <a:solidFill>
                            <a:schemeClr val="tx1"/>
                          </a:solidFill>
                        </a:rPr>
                        <a:t>2.29</a:t>
                      </a:r>
                      <a:endParaRPr lang="en-US" sz="1400" dirty="0"/>
                    </a:p>
                  </a:txBody>
                  <a:tcPr marL="73152" marR="73152" marT="0" marB="0" anchor="ctr">
                    <a:lnL w="0" cap="flat" cmpd="sng" algn="ctr">
                      <a:noFill/>
                    </a:lnL>
                    <a:lnR w="0" cap="flat" cmpd="sng" algn="ctr">
                      <a:noFill/>
                    </a:lnR>
                    <a:lnT w="0" cap="flat" cmpd="sng" algn="ctr">
                      <a:noFill/>
                    </a:lnT>
                    <a:lnB w="9525" cap="flat" cmpd="sng" algn="ctr">
                      <a:solidFill>
                        <a:srgbClr val="7B8794"/>
                      </a:solidFill>
                      <a:prstDash val="solid"/>
                      <a:round/>
                      <a:headEnd type="none" w="med" len="med"/>
                      <a:tailEnd type="none" w="med" len="med"/>
                    </a:lnB>
                  </a:tcPr>
                </a:tc>
                <a:extLst>
                  <a:ext uri="{0D108BD9-81ED-4DB2-BD59-A6C34878D82A}">
                    <a16:rowId xmlns:a16="http://schemas.microsoft.com/office/drawing/2014/main" val="10001"/>
                  </a:ext>
                </a:extLst>
              </a:tr>
              <a:tr h="411480">
                <a:tc>
                  <a:txBody>
                    <a:bodyPr/>
                    <a:lstStyle/>
                    <a:p>
                      <a:pPr marL="0" indent="0" algn="l">
                        <a:buNone/>
                      </a:pPr>
                      <a:r>
                        <a:rPr lang="en-US" sz="1400" b="1" dirty="0">
                          <a:solidFill>
                            <a:schemeClr val="tx1"/>
                          </a:solidFill>
                        </a:rPr>
                        <a:t>2021</a:t>
                      </a:r>
                      <a:endParaRPr lang="en-US" sz="14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tc>
                  <a:txBody>
                    <a:bodyPr/>
                    <a:lstStyle/>
                    <a:p>
                      <a:pPr marL="0" indent="0" algn="ctr">
                        <a:buNone/>
                      </a:pPr>
                      <a:r>
                        <a:rPr lang="en-US" sz="1400" dirty="0">
                          <a:solidFill>
                            <a:schemeClr val="tx1"/>
                          </a:solidFill>
                        </a:rPr>
                        <a:t>18.68</a:t>
                      </a:r>
                      <a:endParaRPr lang="en-US" sz="14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tc>
                  <a:txBody>
                    <a:bodyPr/>
                    <a:lstStyle/>
                    <a:p>
                      <a:pPr marL="0" indent="0" algn="ctr">
                        <a:buNone/>
                      </a:pPr>
                      <a:r>
                        <a:rPr lang="en-US" sz="1400" dirty="0">
                          <a:solidFill>
                            <a:schemeClr val="tx1"/>
                          </a:solidFill>
                        </a:rPr>
                        <a:t>17.45</a:t>
                      </a:r>
                      <a:endParaRPr lang="en-US" sz="14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tc>
                  <a:txBody>
                    <a:bodyPr/>
                    <a:lstStyle/>
                    <a:p>
                      <a:pPr marL="0" indent="0" algn="ctr">
                        <a:buNone/>
                      </a:pPr>
                      <a:r>
                        <a:rPr lang="en-US" sz="1400" dirty="0">
                          <a:solidFill>
                            <a:schemeClr val="tx1"/>
                          </a:solidFill>
                        </a:rPr>
                        <a:t>0.56</a:t>
                      </a:r>
                      <a:endParaRPr lang="en-US" sz="14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tc>
                  <a:txBody>
                    <a:bodyPr/>
                    <a:lstStyle/>
                    <a:p>
                      <a:pPr marL="0" indent="0" algn="ctr">
                        <a:buNone/>
                      </a:pPr>
                      <a:r>
                        <a:rPr lang="en-US" sz="1400" dirty="0">
                          <a:solidFill>
                            <a:schemeClr val="tx1"/>
                          </a:solidFill>
                        </a:rPr>
                        <a:t>2.30</a:t>
                      </a:r>
                      <a:endParaRPr lang="en-US" sz="14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extLst>
                  <a:ext uri="{0D108BD9-81ED-4DB2-BD59-A6C34878D82A}">
                    <a16:rowId xmlns:a16="http://schemas.microsoft.com/office/drawing/2014/main" val="10002"/>
                  </a:ext>
                </a:extLst>
              </a:tr>
              <a:tr h="411480">
                <a:tc>
                  <a:txBody>
                    <a:bodyPr/>
                    <a:lstStyle/>
                    <a:p>
                      <a:pPr marL="0" indent="0" algn="l">
                        <a:buNone/>
                      </a:pPr>
                      <a:r>
                        <a:rPr lang="en-US" sz="1400" b="1" dirty="0">
                          <a:solidFill>
                            <a:schemeClr val="tx1"/>
                          </a:solidFill>
                        </a:rPr>
                        <a:t>2022</a:t>
                      </a:r>
                      <a:endParaRPr lang="en-US" sz="14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tc>
                  <a:txBody>
                    <a:bodyPr/>
                    <a:lstStyle/>
                    <a:p>
                      <a:pPr marL="0" indent="0" algn="ctr">
                        <a:buNone/>
                      </a:pPr>
                      <a:r>
                        <a:rPr lang="en-US" sz="1400" dirty="0">
                          <a:solidFill>
                            <a:schemeClr val="tx1"/>
                          </a:solidFill>
                        </a:rPr>
                        <a:t>15.90</a:t>
                      </a:r>
                      <a:endParaRPr lang="en-US" sz="14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tc>
                  <a:txBody>
                    <a:bodyPr/>
                    <a:lstStyle/>
                    <a:p>
                      <a:pPr marL="0" indent="0" algn="ctr">
                        <a:buNone/>
                      </a:pPr>
                      <a:r>
                        <a:rPr lang="en-US" sz="1400" dirty="0">
                          <a:solidFill>
                            <a:schemeClr val="tx1"/>
                          </a:solidFill>
                        </a:rPr>
                        <a:t>12.97</a:t>
                      </a:r>
                      <a:endParaRPr lang="en-US" sz="14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tc>
                  <a:txBody>
                    <a:bodyPr/>
                    <a:lstStyle/>
                    <a:p>
                      <a:pPr marL="0" indent="0" algn="ctr">
                        <a:buNone/>
                      </a:pPr>
                      <a:r>
                        <a:rPr lang="en-US" sz="1400" dirty="0">
                          <a:solidFill>
                            <a:schemeClr val="tx1"/>
                          </a:solidFill>
                        </a:rPr>
                        <a:t>0.54</a:t>
                      </a:r>
                      <a:endParaRPr lang="en-US" sz="14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tc>
                  <a:txBody>
                    <a:bodyPr/>
                    <a:lstStyle/>
                    <a:p>
                      <a:pPr marL="0" indent="0" algn="ctr">
                        <a:buNone/>
                      </a:pPr>
                      <a:r>
                        <a:rPr lang="en-US" sz="1400" dirty="0">
                          <a:solidFill>
                            <a:schemeClr val="tx1"/>
                          </a:solidFill>
                        </a:rPr>
                        <a:t>2.19</a:t>
                      </a:r>
                      <a:endParaRPr lang="en-US" sz="14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extLst>
                  <a:ext uri="{0D108BD9-81ED-4DB2-BD59-A6C34878D82A}">
                    <a16:rowId xmlns:a16="http://schemas.microsoft.com/office/drawing/2014/main" val="10003"/>
                  </a:ext>
                </a:extLst>
              </a:tr>
              <a:tr h="411480">
                <a:tc>
                  <a:txBody>
                    <a:bodyPr/>
                    <a:lstStyle/>
                    <a:p>
                      <a:pPr marL="0" indent="0" algn="l">
                        <a:buNone/>
                      </a:pPr>
                      <a:r>
                        <a:rPr lang="en-US" sz="1400" b="1" dirty="0">
                          <a:solidFill>
                            <a:schemeClr val="tx1"/>
                          </a:solidFill>
                        </a:rPr>
                        <a:t>2023</a:t>
                      </a:r>
                      <a:endParaRPr lang="en-US" sz="14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tc>
                  <a:txBody>
                    <a:bodyPr/>
                    <a:lstStyle/>
                    <a:p>
                      <a:pPr marL="0" indent="0" algn="ctr">
                        <a:buNone/>
                      </a:pPr>
                      <a:r>
                        <a:rPr lang="en-US" sz="1400" dirty="0">
                          <a:solidFill>
                            <a:schemeClr val="tx1"/>
                          </a:solidFill>
                        </a:rPr>
                        <a:t>13.16</a:t>
                      </a:r>
                      <a:endParaRPr lang="en-US" sz="14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tc>
                  <a:txBody>
                    <a:bodyPr/>
                    <a:lstStyle/>
                    <a:p>
                      <a:pPr marL="0" indent="0" algn="ctr">
                        <a:buNone/>
                      </a:pPr>
                      <a:r>
                        <a:rPr lang="en-US" sz="1400" dirty="0">
                          <a:solidFill>
                            <a:schemeClr val="tx1"/>
                          </a:solidFill>
                        </a:rPr>
                        <a:t>13.00</a:t>
                      </a:r>
                      <a:endParaRPr lang="en-US" sz="14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tc>
                  <a:txBody>
                    <a:bodyPr/>
                    <a:lstStyle/>
                    <a:p>
                      <a:pPr marL="0" indent="0" algn="ctr">
                        <a:buNone/>
                      </a:pPr>
                      <a:r>
                        <a:rPr lang="en-US" sz="1400" dirty="0">
                          <a:solidFill>
                            <a:schemeClr val="tx1"/>
                          </a:solidFill>
                        </a:rPr>
                        <a:t>0.54</a:t>
                      </a:r>
                      <a:endParaRPr lang="en-US" sz="14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tc>
                  <a:txBody>
                    <a:bodyPr/>
                    <a:lstStyle/>
                    <a:p>
                      <a:pPr marL="0" indent="0" algn="ctr">
                        <a:buNone/>
                      </a:pPr>
                      <a:r>
                        <a:rPr lang="en-US" sz="1400" dirty="0">
                          <a:solidFill>
                            <a:schemeClr val="tx1"/>
                          </a:solidFill>
                        </a:rPr>
                        <a:t>2.21</a:t>
                      </a:r>
                      <a:endParaRPr lang="en-US" sz="14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extLst>
                  <a:ext uri="{0D108BD9-81ED-4DB2-BD59-A6C34878D82A}">
                    <a16:rowId xmlns:a16="http://schemas.microsoft.com/office/drawing/2014/main" val="10004"/>
                  </a:ext>
                </a:extLst>
              </a:tr>
              <a:tr h="411480">
                <a:tc>
                  <a:txBody>
                    <a:bodyPr/>
                    <a:lstStyle/>
                    <a:p>
                      <a:pPr marL="0" indent="0" algn="l">
                        <a:buNone/>
                      </a:pPr>
                      <a:r>
                        <a:rPr lang="en-US" sz="1400" b="1" dirty="0">
                          <a:solidFill>
                            <a:schemeClr val="tx1"/>
                          </a:solidFill>
                        </a:rPr>
                        <a:t>2024</a:t>
                      </a:r>
                      <a:endParaRPr lang="en-US" sz="14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tc>
                  <a:txBody>
                    <a:bodyPr/>
                    <a:lstStyle/>
                    <a:p>
                      <a:pPr marL="0" indent="0" algn="ctr">
                        <a:buNone/>
                      </a:pPr>
                      <a:r>
                        <a:rPr lang="en-US" sz="1400" dirty="0">
                          <a:solidFill>
                            <a:schemeClr val="tx1"/>
                          </a:solidFill>
                        </a:rPr>
                        <a:t>11.13</a:t>
                      </a:r>
                      <a:endParaRPr lang="en-US" sz="14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tc>
                  <a:txBody>
                    <a:bodyPr/>
                    <a:lstStyle/>
                    <a:p>
                      <a:pPr marL="0" indent="0" algn="ctr">
                        <a:buNone/>
                      </a:pPr>
                      <a:r>
                        <a:rPr lang="en-US" sz="1400" dirty="0">
                          <a:solidFill>
                            <a:schemeClr val="tx1"/>
                          </a:solidFill>
                        </a:rPr>
                        <a:t>9.94</a:t>
                      </a:r>
                      <a:endParaRPr lang="en-US" sz="14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tc>
                  <a:txBody>
                    <a:bodyPr/>
                    <a:lstStyle/>
                    <a:p>
                      <a:pPr marL="0" indent="0" algn="ctr">
                        <a:buNone/>
                      </a:pPr>
                      <a:r>
                        <a:rPr lang="en-US" sz="1400" dirty="0">
                          <a:solidFill>
                            <a:schemeClr val="tx1"/>
                          </a:solidFill>
                        </a:rPr>
                        <a:t>0.54</a:t>
                      </a:r>
                      <a:endParaRPr lang="en-US" sz="14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tc>
                  <a:txBody>
                    <a:bodyPr/>
                    <a:lstStyle/>
                    <a:p>
                      <a:pPr marL="0" indent="0" algn="ctr">
                        <a:buNone/>
                      </a:pPr>
                      <a:r>
                        <a:rPr lang="en-US" sz="1400" dirty="0">
                          <a:solidFill>
                            <a:schemeClr val="tx1"/>
                          </a:solidFill>
                        </a:rPr>
                        <a:t>2.19</a:t>
                      </a:r>
                      <a:endParaRPr lang="en-US" sz="14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extLst>
                  <a:ext uri="{0D108BD9-81ED-4DB2-BD59-A6C34878D82A}">
                    <a16:rowId xmlns:a16="http://schemas.microsoft.com/office/drawing/2014/main" val="10005"/>
                  </a:ext>
                </a:extLst>
              </a:tr>
              <a:tr h="411480">
                <a:tc>
                  <a:txBody>
                    <a:bodyPr/>
                    <a:lstStyle/>
                    <a:p>
                      <a:pPr marL="0" indent="0" algn="l">
                        <a:buNone/>
                      </a:pPr>
                      <a:r>
                        <a:rPr lang="en-US" sz="1400" b="1" dirty="0">
                          <a:solidFill>
                            <a:schemeClr val="tx1"/>
                          </a:solidFill>
                        </a:rPr>
                        <a:t>2025</a:t>
                      </a:r>
                      <a:endParaRPr lang="en-US" sz="14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tc>
                  <a:txBody>
                    <a:bodyPr/>
                    <a:lstStyle/>
                    <a:p>
                      <a:pPr marL="0" indent="0" algn="ctr">
                        <a:buNone/>
                      </a:pPr>
                      <a:r>
                        <a:rPr lang="en-US" sz="1400" dirty="0">
                          <a:solidFill>
                            <a:schemeClr val="tx1"/>
                          </a:solidFill>
                        </a:rPr>
                        <a:t>12.68</a:t>
                      </a:r>
                      <a:endParaRPr lang="en-US" sz="14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tc>
                  <a:txBody>
                    <a:bodyPr/>
                    <a:lstStyle/>
                    <a:p>
                      <a:pPr marL="0" indent="0" algn="ctr">
                        <a:buNone/>
                      </a:pPr>
                      <a:r>
                        <a:rPr lang="en-US" sz="1400" dirty="0">
                          <a:solidFill>
                            <a:schemeClr val="tx1"/>
                          </a:solidFill>
                        </a:rPr>
                        <a:t>11.84</a:t>
                      </a:r>
                      <a:endParaRPr lang="en-US" sz="14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tc>
                  <a:txBody>
                    <a:bodyPr/>
                    <a:lstStyle/>
                    <a:p>
                      <a:pPr marL="0" indent="0" algn="ctr">
                        <a:buNone/>
                      </a:pPr>
                      <a:r>
                        <a:rPr lang="en-US" sz="1400" dirty="0">
                          <a:solidFill>
                            <a:schemeClr val="tx1"/>
                          </a:solidFill>
                        </a:rPr>
                        <a:t>0.56</a:t>
                      </a:r>
                      <a:endParaRPr lang="en-US" sz="14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tc>
                  <a:txBody>
                    <a:bodyPr/>
                    <a:lstStyle/>
                    <a:p>
                      <a:pPr marL="0" indent="0" algn="ctr">
                        <a:buNone/>
                      </a:pPr>
                      <a:r>
                        <a:rPr lang="en-US" sz="1400" dirty="0">
                          <a:solidFill>
                            <a:schemeClr val="tx1"/>
                          </a:solidFill>
                        </a:rPr>
                        <a:t>2.13</a:t>
                      </a:r>
                      <a:endParaRPr lang="en-US" sz="14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65760"/>
            <a:ext cx="8229600" cy="640080"/>
          </a:xfrm>
          <a:prstGeom prst="rect">
            <a:avLst/>
          </a:prstGeom>
          <a:noFill/>
          <a:ln/>
        </p:spPr>
        <p:txBody>
          <a:bodyPr wrap="square" lIns="0" tIns="0" rIns="0" bIns="0" rtlCol="0" anchor="t"/>
          <a:lstStyle/>
          <a:p>
            <a:pPr marL="0" indent="0">
              <a:buNone/>
            </a:pPr>
            <a:r>
              <a:rPr lang="en-US" sz="3400" b="1" dirty="0">
                <a:solidFill>
                  <a:schemeClr val="tx1"/>
                </a:solidFill>
              </a:rPr>
              <a:t>Equity base can amplify ROE</a:t>
            </a:r>
            <a:endParaRPr lang="en-US" sz="3400" dirty="0"/>
          </a:p>
        </p:txBody>
      </p:sp>
      <p:sp>
        <p:nvSpPr>
          <p:cNvPr id="3" name="Text 0"/>
          <p:cNvSpPr>
            <a:spLocks noGrp="1"/>
          </p:cNvSpPr>
          <p:nvPr>
            <p:ph type="body" idx="101" hasCustomPrompt="1"/>
          </p:nvPr>
        </p:nvSpPr>
        <p:spPr>
          <a:xfrm>
            <a:off x="457200" y="1005840"/>
            <a:ext cx="8229600" cy="365760"/>
          </a:xfrm>
          <a:prstGeom prst="rect">
            <a:avLst/>
          </a:prstGeom>
          <a:noFill/>
          <a:ln/>
        </p:spPr>
        <p:txBody>
          <a:bodyPr wrap="square" lIns="0" tIns="0" rIns="0" bIns="0" rtlCol="0" anchor="ctr"/>
          <a:lstStyle/>
          <a:p>
            <a:pPr marL="0" indent="0">
              <a:buNone/>
            </a:pPr>
            <a:r>
              <a:rPr lang="en-US" sz="1600" dirty="0">
                <a:solidFill>
                  <a:schemeClr val="tx2"/>
                </a:solidFill>
              </a:rPr>
              <a:t>Amgen's ROE is higher, but IDEXX earns more per dollar of assets</a:t>
            </a:r>
            <a:endParaRPr lang="en-US" sz="1600" dirty="0"/>
          </a:p>
        </p:txBody>
      </p:sp>
      <p:sp>
        <p:nvSpPr>
          <p:cNvPr id="4" name="Text 0"/>
          <p:cNvSpPr>
            <a:spLocks noGrp="1"/>
          </p:cNvSpPr>
          <p:nvPr>
            <p:ph type="body" idx="102" hasCustomPrompt="1"/>
          </p:nvPr>
        </p:nvSpPr>
        <p:spPr>
          <a:xfrm>
            <a:off x="457200" y="4663440"/>
            <a:ext cx="7589520" cy="274320"/>
          </a:xfrm>
          <a:prstGeom prst="rect">
            <a:avLst/>
          </a:prstGeom>
          <a:noFill/>
          <a:ln/>
        </p:spPr>
        <p:txBody>
          <a:bodyPr wrap="square" lIns="0" tIns="0" rIns="0" bIns="0" rtlCol="0" anchor="ctr"/>
          <a:lstStyle/>
          <a:p>
            <a:pPr marL="0" indent="0">
              <a:buNone/>
            </a:pPr>
            <a:r>
              <a:rPr lang="en-US" sz="1000" dirty="0">
                <a:solidFill>
                  <a:schemeClr val="tx2"/>
                </a:solidFill>
              </a:rPr>
              <a:t>Company-years from the eligible sample. Return on assets = margin × turnover. Illustrations, not causal estimates.</a:t>
            </a:r>
            <a:endParaRPr lang="en-US" sz="1000" dirty="0"/>
          </a:p>
        </p:txBody>
      </p:sp>
      <p:sp>
        <p:nvSpPr>
          <p:cNvPr id="6" name="Amgen card"/>
          <p:cNvSpPr/>
          <p:nvPr/>
        </p:nvSpPr>
        <p:spPr>
          <a:xfrm>
            <a:off x="457200" y="1554480"/>
            <a:ext cx="8229600" cy="1325880"/>
          </a:xfrm>
          <a:prstGeom prst="roundRect">
            <a:avLst>
              <a:gd name="adj" fmla="val 6897"/>
            </a:avLst>
          </a:prstGeom>
          <a:solidFill>
            <a:schemeClr val="bg2"/>
          </a:solidFill>
          <a:ln/>
        </p:spPr>
        <p:txBody>
          <a:bodyPr/>
          <a:lstStyle/>
          <a:p>
            <a:endParaRPr lang="en-US"/>
          </a:p>
        </p:txBody>
      </p:sp>
      <p:sp>
        <p:nvSpPr>
          <p:cNvPr id="7" name="Amgen name"/>
          <p:cNvSpPr txBox="1"/>
          <p:nvPr/>
        </p:nvSpPr>
        <p:spPr>
          <a:xfrm>
            <a:off x="685800" y="1874520"/>
            <a:ext cx="1280160" cy="731520"/>
          </a:xfrm>
          <a:prstGeom prst="rect">
            <a:avLst/>
          </a:prstGeom>
          <a:noFill/>
          <a:ln/>
        </p:spPr>
        <p:txBody>
          <a:bodyPr wrap="square" lIns="0" tIns="0" rIns="0" bIns="0" rtlCol="0" anchor="t"/>
          <a:lstStyle/>
          <a:p>
            <a:pPr marL="0" indent="0">
              <a:buNone/>
            </a:pPr>
            <a:r>
              <a:rPr lang="en-US" sz="2000" b="1" dirty="0">
                <a:solidFill>
                  <a:schemeClr val="accent2"/>
                </a:solidFill>
              </a:rPr>
              <a:t>Amgen</a:t>
            </a:r>
            <a:endParaRPr lang="en-US" sz="1400" dirty="0"/>
          </a:p>
          <a:p>
            <a:pPr marL="0" indent="0">
              <a:buNone/>
            </a:pPr>
            <a:r>
              <a:rPr lang="en-US" sz="1400" dirty="0">
                <a:solidFill>
                  <a:schemeClr val="tx2"/>
                </a:solidFill>
              </a:rPr>
              <a:t>FY2025</a:t>
            </a:r>
            <a:endParaRPr lang="en-US" sz="1400" dirty="0"/>
          </a:p>
        </p:txBody>
      </p:sp>
      <p:sp>
        <p:nvSpPr>
          <p:cNvPr id="8" name="Amgen margin"/>
          <p:cNvSpPr txBox="1"/>
          <p:nvPr/>
        </p:nvSpPr>
        <p:spPr>
          <a:xfrm>
            <a:off x="2011680" y="1920240"/>
            <a:ext cx="1051560" cy="731520"/>
          </a:xfrm>
          <a:prstGeom prst="rect">
            <a:avLst/>
          </a:prstGeom>
          <a:noFill/>
          <a:ln/>
        </p:spPr>
        <p:txBody>
          <a:bodyPr wrap="square" lIns="0" tIns="0" rIns="0" bIns="0" rtlCol="0" anchor="t"/>
          <a:lstStyle/>
          <a:p>
            <a:pPr marL="0" indent="0" algn="ctr">
              <a:buNone/>
            </a:pPr>
            <a:r>
              <a:rPr lang="en-US" sz="2000" b="1" dirty="0">
                <a:solidFill>
                  <a:schemeClr val="tx1"/>
                </a:solidFill>
              </a:rPr>
              <a:t>20.98%</a:t>
            </a:r>
            <a:endParaRPr lang="en-US" sz="1400" dirty="0"/>
          </a:p>
          <a:p>
            <a:pPr marL="0" indent="0" algn="ctr">
              <a:buNone/>
            </a:pPr>
            <a:r>
              <a:rPr lang="en-US" sz="1200" dirty="0">
                <a:solidFill>
                  <a:schemeClr val="tx2"/>
                </a:solidFill>
              </a:rPr>
              <a:t>margin</a:t>
            </a:r>
            <a:endParaRPr lang="en-US" sz="1400" dirty="0"/>
          </a:p>
        </p:txBody>
      </p:sp>
      <p:sp>
        <p:nvSpPr>
          <p:cNvPr id="9" name="Amgen operator 1"/>
          <p:cNvSpPr txBox="1"/>
          <p:nvPr/>
        </p:nvSpPr>
        <p:spPr>
          <a:xfrm>
            <a:off x="3063240" y="1920240"/>
            <a:ext cx="320040" cy="457200"/>
          </a:xfrm>
          <a:prstGeom prst="rect">
            <a:avLst/>
          </a:prstGeom>
          <a:noFill/>
          <a:ln/>
        </p:spPr>
        <p:txBody>
          <a:bodyPr wrap="square" lIns="0" tIns="0" rIns="0" bIns="0" rtlCol="0" anchor="ctr"/>
          <a:lstStyle/>
          <a:p>
            <a:pPr marL="0" indent="0" algn="ctr">
              <a:buNone/>
            </a:pPr>
            <a:r>
              <a:rPr lang="en-US" sz="2000" b="1" dirty="0">
                <a:solidFill>
                  <a:schemeClr val="tx2"/>
                </a:solidFill>
              </a:rPr>
              <a:t>×</a:t>
            </a:r>
            <a:endParaRPr lang="en-US" sz="2000" dirty="0"/>
          </a:p>
        </p:txBody>
      </p:sp>
      <p:sp>
        <p:nvSpPr>
          <p:cNvPr id="10" name="Amgen turnover"/>
          <p:cNvSpPr txBox="1"/>
          <p:nvPr/>
        </p:nvSpPr>
        <p:spPr>
          <a:xfrm>
            <a:off x="3383280" y="1920240"/>
            <a:ext cx="1051560" cy="731520"/>
          </a:xfrm>
          <a:prstGeom prst="rect">
            <a:avLst/>
          </a:prstGeom>
          <a:noFill/>
          <a:ln/>
        </p:spPr>
        <p:txBody>
          <a:bodyPr wrap="square" lIns="0" tIns="0" rIns="0" bIns="0" rtlCol="0" anchor="t"/>
          <a:lstStyle/>
          <a:p>
            <a:pPr marL="0" indent="0" algn="ctr">
              <a:buNone/>
            </a:pPr>
            <a:r>
              <a:rPr lang="en-US" sz="2000" b="1" dirty="0">
                <a:solidFill>
                  <a:schemeClr val="tx1"/>
                </a:solidFill>
              </a:rPr>
              <a:t>0.41×</a:t>
            </a:r>
            <a:endParaRPr lang="en-US" sz="1400" dirty="0"/>
          </a:p>
          <a:p>
            <a:pPr marL="0" indent="0" algn="ctr">
              <a:buNone/>
            </a:pPr>
            <a:r>
              <a:rPr lang="en-US" sz="1200" dirty="0">
                <a:solidFill>
                  <a:schemeClr val="tx2"/>
                </a:solidFill>
              </a:rPr>
              <a:t>turnover</a:t>
            </a:r>
            <a:endParaRPr lang="en-US" sz="1400" dirty="0"/>
          </a:p>
        </p:txBody>
      </p:sp>
      <p:sp>
        <p:nvSpPr>
          <p:cNvPr id="11" name="Amgen operator 2"/>
          <p:cNvSpPr txBox="1"/>
          <p:nvPr/>
        </p:nvSpPr>
        <p:spPr>
          <a:xfrm>
            <a:off x="4434840" y="1920240"/>
            <a:ext cx="320040" cy="457200"/>
          </a:xfrm>
          <a:prstGeom prst="rect">
            <a:avLst/>
          </a:prstGeom>
          <a:noFill/>
          <a:ln/>
        </p:spPr>
        <p:txBody>
          <a:bodyPr wrap="square" lIns="0" tIns="0" rIns="0" bIns="0" rtlCol="0" anchor="ctr"/>
          <a:lstStyle/>
          <a:p>
            <a:pPr marL="0" indent="0" algn="ctr">
              <a:buNone/>
            </a:pPr>
            <a:r>
              <a:rPr lang="en-US" sz="2000" b="1" dirty="0">
                <a:solidFill>
                  <a:schemeClr val="tx2"/>
                </a:solidFill>
              </a:rPr>
              <a:t>×</a:t>
            </a:r>
            <a:endParaRPr lang="en-US" sz="2000" dirty="0"/>
          </a:p>
        </p:txBody>
      </p:sp>
      <p:sp>
        <p:nvSpPr>
          <p:cNvPr id="12" name="Amgen multiplier"/>
          <p:cNvSpPr txBox="1"/>
          <p:nvPr/>
        </p:nvSpPr>
        <p:spPr>
          <a:xfrm>
            <a:off x="4754880" y="1920240"/>
            <a:ext cx="1051560" cy="731520"/>
          </a:xfrm>
          <a:prstGeom prst="rect">
            <a:avLst/>
          </a:prstGeom>
          <a:noFill/>
          <a:ln/>
        </p:spPr>
        <p:txBody>
          <a:bodyPr wrap="square" lIns="0" tIns="0" rIns="0" bIns="0" rtlCol="0" anchor="t"/>
          <a:lstStyle/>
          <a:p>
            <a:pPr marL="0" indent="0" algn="ctr">
              <a:buNone/>
            </a:pPr>
            <a:r>
              <a:rPr lang="en-US" sz="2000" b="1" dirty="0">
                <a:solidFill>
                  <a:schemeClr val="accent1"/>
                </a:solidFill>
              </a:rPr>
              <a:t>10.46×</a:t>
            </a:r>
            <a:endParaRPr lang="en-US" sz="1400" dirty="0"/>
          </a:p>
          <a:p>
            <a:pPr marL="0" indent="0" algn="ctr">
              <a:buNone/>
            </a:pPr>
            <a:r>
              <a:rPr lang="en-US" sz="1200" dirty="0">
                <a:solidFill>
                  <a:schemeClr val="tx2"/>
                </a:solidFill>
              </a:rPr>
              <a:t>multiplier</a:t>
            </a:r>
            <a:endParaRPr lang="en-US" sz="1400" dirty="0"/>
          </a:p>
        </p:txBody>
      </p:sp>
      <p:sp>
        <p:nvSpPr>
          <p:cNvPr id="13" name="Amgen operator 3"/>
          <p:cNvSpPr txBox="1"/>
          <p:nvPr/>
        </p:nvSpPr>
        <p:spPr>
          <a:xfrm>
            <a:off x="5806440" y="1920240"/>
            <a:ext cx="320040" cy="457200"/>
          </a:xfrm>
          <a:prstGeom prst="rect">
            <a:avLst/>
          </a:prstGeom>
          <a:noFill/>
          <a:ln/>
        </p:spPr>
        <p:txBody>
          <a:bodyPr wrap="square" lIns="0" tIns="0" rIns="0" bIns="0" rtlCol="0" anchor="ctr"/>
          <a:lstStyle/>
          <a:p>
            <a:pPr marL="0" indent="0" algn="ctr">
              <a:buNone/>
            </a:pPr>
            <a:r>
              <a:rPr lang="en-US" sz="2000" b="1" dirty="0">
                <a:solidFill>
                  <a:schemeClr val="tx2"/>
                </a:solidFill>
              </a:rPr>
              <a:t>=</a:t>
            </a:r>
            <a:endParaRPr lang="en-US" sz="2000" dirty="0"/>
          </a:p>
        </p:txBody>
      </p:sp>
      <p:sp>
        <p:nvSpPr>
          <p:cNvPr id="14" name="Amgen ROE"/>
          <p:cNvSpPr txBox="1"/>
          <p:nvPr/>
        </p:nvSpPr>
        <p:spPr>
          <a:xfrm>
            <a:off x="6126480" y="1920240"/>
            <a:ext cx="1051560" cy="731520"/>
          </a:xfrm>
          <a:prstGeom prst="rect">
            <a:avLst/>
          </a:prstGeom>
          <a:noFill/>
          <a:ln/>
        </p:spPr>
        <p:txBody>
          <a:bodyPr wrap="square" lIns="0" tIns="0" rIns="0" bIns="0" rtlCol="0" anchor="t"/>
          <a:lstStyle/>
          <a:p>
            <a:pPr marL="0" indent="0" algn="ctr">
              <a:buNone/>
            </a:pPr>
            <a:r>
              <a:rPr lang="en-US" sz="2000" b="1" dirty="0">
                <a:solidFill>
                  <a:schemeClr val="accent2"/>
                </a:solidFill>
              </a:rPr>
              <a:t>89.06%</a:t>
            </a:r>
            <a:endParaRPr lang="en-US" sz="1400" dirty="0"/>
          </a:p>
          <a:p>
            <a:pPr marL="0" indent="0" algn="ctr">
              <a:buNone/>
            </a:pPr>
            <a:r>
              <a:rPr lang="en-US" sz="1200" dirty="0">
                <a:solidFill>
                  <a:schemeClr val="tx2"/>
                </a:solidFill>
              </a:rPr>
              <a:t>ROE</a:t>
            </a:r>
            <a:endParaRPr lang="en-US" sz="1400" dirty="0"/>
          </a:p>
        </p:txBody>
      </p:sp>
      <p:sp>
        <p:nvSpPr>
          <p:cNvPr id="15" name="Amgen ROA"/>
          <p:cNvSpPr txBox="1"/>
          <p:nvPr/>
        </p:nvSpPr>
        <p:spPr>
          <a:xfrm>
            <a:off x="7360920" y="1920240"/>
            <a:ext cx="1234440" cy="731520"/>
          </a:xfrm>
          <a:prstGeom prst="rect">
            <a:avLst/>
          </a:prstGeom>
          <a:noFill/>
          <a:ln/>
        </p:spPr>
        <p:txBody>
          <a:bodyPr wrap="square" lIns="0" tIns="0" rIns="0" bIns="0" rtlCol="0" anchor="t"/>
          <a:lstStyle/>
          <a:p>
            <a:pPr marL="0" indent="0" algn="ctr">
              <a:buNone/>
            </a:pPr>
            <a:r>
              <a:rPr lang="en-US" sz="2000" b="1" dirty="0">
                <a:solidFill>
                  <a:schemeClr val="tx1"/>
                </a:solidFill>
              </a:rPr>
              <a:t>8.51%</a:t>
            </a:r>
            <a:endParaRPr lang="en-US" sz="1400" dirty="0"/>
          </a:p>
          <a:p>
            <a:pPr marL="0" indent="0" algn="ctr">
              <a:buNone/>
            </a:pPr>
            <a:r>
              <a:rPr lang="en-US" sz="1200" dirty="0">
                <a:solidFill>
                  <a:schemeClr val="tx2"/>
                </a:solidFill>
              </a:rPr>
              <a:t>return on assets</a:t>
            </a:r>
            <a:endParaRPr lang="en-US" sz="1400" dirty="0"/>
          </a:p>
        </p:txBody>
      </p:sp>
      <p:sp>
        <p:nvSpPr>
          <p:cNvPr id="16" name="IDEXX card"/>
          <p:cNvSpPr/>
          <p:nvPr/>
        </p:nvSpPr>
        <p:spPr>
          <a:xfrm>
            <a:off x="457200" y="3063240"/>
            <a:ext cx="8229600" cy="1325880"/>
          </a:xfrm>
          <a:prstGeom prst="roundRect">
            <a:avLst>
              <a:gd name="adj" fmla="val 6897"/>
            </a:avLst>
          </a:prstGeom>
          <a:solidFill>
            <a:schemeClr val="bg2"/>
          </a:solidFill>
          <a:ln/>
        </p:spPr>
        <p:txBody>
          <a:bodyPr/>
          <a:lstStyle/>
          <a:p>
            <a:endParaRPr lang="en-US"/>
          </a:p>
        </p:txBody>
      </p:sp>
      <p:sp>
        <p:nvSpPr>
          <p:cNvPr id="17" name="IDEXX name"/>
          <p:cNvSpPr txBox="1"/>
          <p:nvPr/>
        </p:nvSpPr>
        <p:spPr>
          <a:xfrm>
            <a:off x="685800" y="3383280"/>
            <a:ext cx="1280160" cy="731520"/>
          </a:xfrm>
          <a:prstGeom prst="rect">
            <a:avLst/>
          </a:prstGeom>
          <a:noFill/>
          <a:ln/>
        </p:spPr>
        <p:txBody>
          <a:bodyPr wrap="square" lIns="0" tIns="0" rIns="0" bIns="0" rtlCol="0" anchor="t"/>
          <a:lstStyle/>
          <a:p>
            <a:pPr marL="0" indent="0">
              <a:buNone/>
            </a:pPr>
            <a:r>
              <a:rPr lang="en-US" sz="2000" b="1" dirty="0">
                <a:solidFill>
                  <a:schemeClr val="accent2"/>
                </a:solidFill>
              </a:rPr>
              <a:t>IDEXX</a:t>
            </a:r>
            <a:endParaRPr lang="en-US" sz="1400" dirty="0"/>
          </a:p>
          <a:p>
            <a:pPr marL="0" indent="0">
              <a:buNone/>
            </a:pPr>
            <a:r>
              <a:rPr lang="en-US" sz="1400" dirty="0">
                <a:solidFill>
                  <a:schemeClr val="tx2"/>
                </a:solidFill>
              </a:rPr>
              <a:t>FY2025</a:t>
            </a:r>
            <a:endParaRPr lang="en-US" sz="1400" dirty="0"/>
          </a:p>
        </p:txBody>
      </p:sp>
      <p:sp>
        <p:nvSpPr>
          <p:cNvPr id="18" name="IDEXX margin"/>
          <p:cNvSpPr txBox="1"/>
          <p:nvPr/>
        </p:nvSpPr>
        <p:spPr>
          <a:xfrm>
            <a:off x="2011680" y="3429000"/>
            <a:ext cx="1051560" cy="731520"/>
          </a:xfrm>
          <a:prstGeom prst="rect">
            <a:avLst/>
          </a:prstGeom>
          <a:noFill/>
          <a:ln/>
        </p:spPr>
        <p:txBody>
          <a:bodyPr wrap="square" lIns="0" tIns="0" rIns="0" bIns="0" rtlCol="0" anchor="t"/>
          <a:lstStyle/>
          <a:p>
            <a:pPr marL="0" indent="0" algn="ctr">
              <a:buNone/>
            </a:pPr>
            <a:r>
              <a:rPr lang="en-US" sz="2000" b="1" dirty="0">
                <a:solidFill>
                  <a:schemeClr val="tx1"/>
                </a:solidFill>
              </a:rPr>
              <a:t>24.62%</a:t>
            </a:r>
            <a:endParaRPr lang="en-US" sz="1400" dirty="0"/>
          </a:p>
          <a:p>
            <a:pPr marL="0" indent="0" algn="ctr">
              <a:buNone/>
            </a:pPr>
            <a:r>
              <a:rPr lang="en-US" sz="1200" dirty="0">
                <a:solidFill>
                  <a:schemeClr val="tx2"/>
                </a:solidFill>
              </a:rPr>
              <a:t>margin</a:t>
            </a:r>
            <a:endParaRPr lang="en-US" sz="1400" dirty="0"/>
          </a:p>
        </p:txBody>
      </p:sp>
      <p:sp>
        <p:nvSpPr>
          <p:cNvPr id="19" name="IDEXX operator 1"/>
          <p:cNvSpPr txBox="1"/>
          <p:nvPr/>
        </p:nvSpPr>
        <p:spPr>
          <a:xfrm>
            <a:off x="3063240" y="3429000"/>
            <a:ext cx="320040" cy="457200"/>
          </a:xfrm>
          <a:prstGeom prst="rect">
            <a:avLst/>
          </a:prstGeom>
          <a:noFill/>
          <a:ln/>
        </p:spPr>
        <p:txBody>
          <a:bodyPr wrap="square" lIns="0" tIns="0" rIns="0" bIns="0" rtlCol="0" anchor="ctr"/>
          <a:lstStyle/>
          <a:p>
            <a:pPr marL="0" indent="0" algn="ctr">
              <a:buNone/>
            </a:pPr>
            <a:r>
              <a:rPr lang="en-US" sz="2000" b="1" dirty="0">
                <a:solidFill>
                  <a:schemeClr val="tx2"/>
                </a:solidFill>
              </a:rPr>
              <a:t>×</a:t>
            </a:r>
            <a:endParaRPr lang="en-US" sz="2000" dirty="0"/>
          </a:p>
        </p:txBody>
      </p:sp>
      <p:sp>
        <p:nvSpPr>
          <p:cNvPr id="20" name="IDEXX turnover"/>
          <p:cNvSpPr txBox="1"/>
          <p:nvPr/>
        </p:nvSpPr>
        <p:spPr>
          <a:xfrm>
            <a:off x="3383280" y="3429000"/>
            <a:ext cx="1051560" cy="731520"/>
          </a:xfrm>
          <a:prstGeom prst="rect">
            <a:avLst/>
          </a:prstGeom>
          <a:noFill/>
          <a:ln/>
        </p:spPr>
        <p:txBody>
          <a:bodyPr wrap="square" lIns="0" tIns="0" rIns="0" bIns="0" rtlCol="0" anchor="t"/>
          <a:lstStyle/>
          <a:p>
            <a:pPr marL="0" indent="0" algn="ctr">
              <a:buNone/>
            </a:pPr>
            <a:r>
              <a:rPr lang="en-US" sz="2000" b="1" dirty="0">
                <a:solidFill>
                  <a:schemeClr val="tx1"/>
                </a:solidFill>
              </a:rPr>
              <a:t>1.28×</a:t>
            </a:r>
            <a:endParaRPr lang="en-US" sz="1400" dirty="0"/>
          </a:p>
          <a:p>
            <a:pPr marL="0" indent="0" algn="ctr">
              <a:buNone/>
            </a:pPr>
            <a:r>
              <a:rPr lang="en-US" sz="1200" dirty="0">
                <a:solidFill>
                  <a:schemeClr val="tx2"/>
                </a:solidFill>
              </a:rPr>
              <a:t>turnover</a:t>
            </a:r>
            <a:endParaRPr lang="en-US" sz="1400" dirty="0"/>
          </a:p>
        </p:txBody>
      </p:sp>
      <p:sp>
        <p:nvSpPr>
          <p:cNvPr id="21" name="IDEXX operator 2"/>
          <p:cNvSpPr txBox="1"/>
          <p:nvPr/>
        </p:nvSpPr>
        <p:spPr>
          <a:xfrm>
            <a:off x="4434840" y="3429000"/>
            <a:ext cx="320040" cy="457200"/>
          </a:xfrm>
          <a:prstGeom prst="rect">
            <a:avLst/>
          </a:prstGeom>
          <a:noFill/>
          <a:ln/>
        </p:spPr>
        <p:txBody>
          <a:bodyPr wrap="square" lIns="0" tIns="0" rIns="0" bIns="0" rtlCol="0" anchor="ctr"/>
          <a:lstStyle/>
          <a:p>
            <a:pPr marL="0" indent="0" algn="ctr">
              <a:buNone/>
            </a:pPr>
            <a:r>
              <a:rPr lang="en-US" sz="2000" b="1" dirty="0">
                <a:solidFill>
                  <a:schemeClr val="tx2"/>
                </a:solidFill>
              </a:rPr>
              <a:t>×</a:t>
            </a:r>
            <a:endParaRPr lang="en-US" sz="2000" dirty="0"/>
          </a:p>
        </p:txBody>
      </p:sp>
      <p:sp>
        <p:nvSpPr>
          <p:cNvPr id="22" name="IDEXX multiplier"/>
          <p:cNvSpPr txBox="1"/>
          <p:nvPr/>
        </p:nvSpPr>
        <p:spPr>
          <a:xfrm>
            <a:off x="4754880" y="3429000"/>
            <a:ext cx="1051560" cy="731520"/>
          </a:xfrm>
          <a:prstGeom prst="rect">
            <a:avLst/>
          </a:prstGeom>
          <a:noFill/>
          <a:ln/>
        </p:spPr>
        <p:txBody>
          <a:bodyPr wrap="square" lIns="0" tIns="0" rIns="0" bIns="0" rtlCol="0" anchor="t"/>
          <a:lstStyle/>
          <a:p>
            <a:pPr marL="0" indent="0" algn="ctr">
              <a:buNone/>
            </a:pPr>
            <a:r>
              <a:rPr lang="en-US" sz="2000" b="1" dirty="0">
                <a:solidFill>
                  <a:schemeClr val="tx1"/>
                </a:solidFill>
              </a:rPr>
              <a:t>2.09×</a:t>
            </a:r>
            <a:endParaRPr lang="en-US" sz="1400" dirty="0"/>
          </a:p>
          <a:p>
            <a:pPr marL="0" indent="0" algn="ctr">
              <a:buNone/>
            </a:pPr>
            <a:r>
              <a:rPr lang="en-US" sz="1200" dirty="0">
                <a:solidFill>
                  <a:schemeClr val="tx2"/>
                </a:solidFill>
              </a:rPr>
              <a:t>multiplier</a:t>
            </a:r>
            <a:endParaRPr lang="en-US" sz="1400" dirty="0"/>
          </a:p>
        </p:txBody>
      </p:sp>
      <p:sp>
        <p:nvSpPr>
          <p:cNvPr id="23" name="IDEXX operator 3"/>
          <p:cNvSpPr txBox="1"/>
          <p:nvPr/>
        </p:nvSpPr>
        <p:spPr>
          <a:xfrm>
            <a:off x="5806440" y="3429000"/>
            <a:ext cx="320040" cy="457200"/>
          </a:xfrm>
          <a:prstGeom prst="rect">
            <a:avLst/>
          </a:prstGeom>
          <a:noFill/>
          <a:ln/>
        </p:spPr>
        <p:txBody>
          <a:bodyPr wrap="square" lIns="0" tIns="0" rIns="0" bIns="0" rtlCol="0" anchor="ctr"/>
          <a:lstStyle/>
          <a:p>
            <a:pPr marL="0" indent="0" algn="ctr">
              <a:buNone/>
            </a:pPr>
            <a:r>
              <a:rPr lang="en-US" sz="2000" b="1" dirty="0">
                <a:solidFill>
                  <a:schemeClr val="tx2"/>
                </a:solidFill>
              </a:rPr>
              <a:t>=</a:t>
            </a:r>
            <a:endParaRPr lang="en-US" sz="2000" dirty="0"/>
          </a:p>
        </p:txBody>
      </p:sp>
      <p:sp>
        <p:nvSpPr>
          <p:cNvPr id="24" name="IDEXX ROE"/>
          <p:cNvSpPr txBox="1"/>
          <p:nvPr/>
        </p:nvSpPr>
        <p:spPr>
          <a:xfrm>
            <a:off x="6126480" y="3429000"/>
            <a:ext cx="1051560" cy="731520"/>
          </a:xfrm>
          <a:prstGeom prst="rect">
            <a:avLst/>
          </a:prstGeom>
          <a:noFill/>
          <a:ln/>
        </p:spPr>
        <p:txBody>
          <a:bodyPr wrap="square" lIns="0" tIns="0" rIns="0" bIns="0" rtlCol="0" anchor="t"/>
          <a:lstStyle/>
          <a:p>
            <a:pPr marL="0" indent="0" algn="ctr">
              <a:buNone/>
            </a:pPr>
            <a:r>
              <a:rPr lang="en-US" sz="2000" b="1" dirty="0">
                <a:solidFill>
                  <a:schemeClr val="accent2"/>
                </a:solidFill>
              </a:rPr>
              <a:t>65.99%</a:t>
            </a:r>
            <a:endParaRPr lang="en-US" sz="1400" dirty="0"/>
          </a:p>
          <a:p>
            <a:pPr marL="0" indent="0" algn="ctr">
              <a:buNone/>
            </a:pPr>
            <a:r>
              <a:rPr lang="en-US" sz="1200" dirty="0">
                <a:solidFill>
                  <a:schemeClr val="tx2"/>
                </a:solidFill>
              </a:rPr>
              <a:t>ROE</a:t>
            </a:r>
            <a:endParaRPr lang="en-US" sz="1400" dirty="0"/>
          </a:p>
        </p:txBody>
      </p:sp>
      <p:sp>
        <p:nvSpPr>
          <p:cNvPr id="25" name="IDEXX ROA"/>
          <p:cNvSpPr txBox="1"/>
          <p:nvPr/>
        </p:nvSpPr>
        <p:spPr>
          <a:xfrm>
            <a:off x="7360920" y="3429000"/>
            <a:ext cx="1234440" cy="731520"/>
          </a:xfrm>
          <a:prstGeom prst="rect">
            <a:avLst/>
          </a:prstGeom>
          <a:noFill/>
          <a:ln/>
        </p:spPr>
        <p:txBody>
          <a:bodyPr wrap="square" lIns="0" tIns="0" rIns="0" bIns="0" rtlCol="0" anchor="t"/>
          <a:lstStyle/>
          <a:p>
            <a:pPr marL="0" indent="0" algn="ctr">
              <a:buNone/>
            </a:pPr>
            <a:r>
              <a:rPr lang="en-US" sz="2000" b="1" dirty="0">
                <a:solidFill>
                  <a:schemeClr val="accent4"/>
                </a:solidFill>
              </a:rPr>
              <a:t>31.62%</a:t>
            </a:r>
            <a:endParaRPr lang="en-US" sz="1400" dirty="0"/>
          </a:p>
          <a:p>
            <a:pPr marL="0" indent="0" algn="ctr">
              <a:buNone/>
            </a:pPr>
            <a:r>
              <a:rPr lang="en-US" sz="1200" dirty="0">
                <a:solidFill>
                  <a:schemeClr val="tx2"/>
                </a:solidFill>
              </a:rPr>
              <a:t>return on assets</a:t>
            </a:r>
            <a:endParaRPr lang="en-US" sz="1400" dirty="0"/>
          </a:p>
        </p:txBody>
      </p:sp>
      <p:sp>
        <p:nvSpPr>
          <p:cNvPr id="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65760"/>
            <a:ext cx="8229600" cy="640080"/>
          </a:xfrm>
          <a:prstGeom prst="rect">
            <a:avLst/>
          </a:prstGeom>
          <a:noFill/>
          <a:ln/>
        </p:spPr>
        <p:txBody>
          <a:bodyPr wrap="square" lIns="0" tIns="0" rIns="0" bIns="0" rtlCol="0" anchor="t"/>
          <a:lstStyle/>
          <a:p>
            <a:pPr marL="0" indent="0">
              <a:buNone/>
            </a:pPr>
            <a:r>
              <a:rPr lang="en-US" sz="3400" b="1" dirty="0">
                <a:solidFill>
                  <a:schemeClr val="tx1"/>
                </a:solidFill>
              </a:rPr>
              <a:t>What lifted the 2025 rebound</a:t>
            </a:r>
            <a:endParaRPr lang="en-US" sz="3400" dirty="0"/>
          </a:p>
        </p:txBody>
      </p:sp>
      <p:sp>
        <p:nvSpPr>
          <p:cNvPr id="3" name="Text 0"/>
          <p:cNvSpPr>
            <a:spLocks noGrp="1"/>
          </p:cNvSpPr>
          <p:nvPr>
            <p:ph type="body" idx="101" hasCustomPrompt="1"/>
          </p:nvPr>
        </p:nvSpPr>
        <p:spPr>
          <a:xfrm>
            <a:off x="457200" y="1005840"/>
            <a:ext cx="8229600" cy="365760"/>
          </a:xfrm>
          <a:prstGeom prst="rect">
            <a:avLst/>
          </a:prstGeom>
          <a:noFill/>
          <a:ln/>
        </p:spPr>
        <p:txBody>
          <a:bodyPr wrap="square" lIns="0" tIns="0" rIns="0" bIns="0" rtlCol="0" anchor="ctr"/>
          <a:lstStyle/>
          <a:p>
            <a:pPr marL="0" indent="0">
              <a:buNone/>
            </a:pPr>
            <a:r>
              <a:rPr lang="en-US" sz="1600" dirty="0">
                <a:solidFill>
                  <a:schemeClr val="tx2"/>
                </a:solidFill>
              </a:rPr>
              <a:t>Margin added 4.34 points to the 3.85-point rise in mean ROE</a:t>
            </a:r>
            <a:endParaRPr lang="en-US" sz="1600" dirty="0"/>
          </a:p>
        </p:txBody>
      </p:sp>
      <p:sp>
        <p:nvSpPr>
          <p:cNvPr id="4" name="Text 0"/>
          <p:cNvSpPr>
            <a:spLocks noGrp="1"/>
          </p:cNvSpPr>
          <p:nvPr>
            <p:ph type="body" idx="102" hasCustomPrompt="1"/>
          </p:nvPr>
        </p:nvSpPr>
        <p:spPr>
          <a:xfrm>
            <a:off x="457200" y="4663440"/>
            <a:ext cx="7589520" cy="274320"/>
          </a:xfrm>
          <a:prstGeom prst="rect">
            <a:avLst/>
          </a:prstGeom>
          <a:noFill/>
          <a:ln/>
        </p:spPr>
        <p:txBody>
          <a:bodyPr wrap="square" lIns="0" tIns="0" rIns="0" bIns="0" rtlCol="0" anchor="ctr"/>
          <a:lstStyle/>
          <a:p>
            <a:pPr marL="0" indent="0">
              <a:buNone/>
            </a:pPr>
            <a:r>
              <a:rPr lang="en-US" sz="1000" dirty="0">
                <a:solidFill>
                  <a:schemeClr val="tx2"/>
                </a:solidFill>
              </a:rPr>
              <a:t>Mean of firm-level symmetric DuPont contributions, same 40 firms. Accounting arithmetic, not business causes.</a:t>
            </a:r>
            <a:endParaRPr lang="en-US" sz="1000" dirty="0"/>
          </a:p>
        </p:txBody>
      </p:sp>
      <p:graphicFrame>
        <p:nvGraphicFramePr>
          <p:cNvPr id="6" name="Chart 0"/>
          <p:cNvGraphicFramePr/>
          <p:nvPr/>
        </p:nvGraphicFramePr>
        <p:xfrm>
          <a:off x="457200" y="1554480"/>
          <a:ext cx="539496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7" name="Callout card"/>
          <p:cNvSpPr/>
          <p:nvPr/>
        </p:nvSpPr>
        <p:spPr>
          <a:xfrm>
            <a:off x="6309360" y="1828800"/>
            <a:ext cx="2377440" cy="2377440"/>
          </a:xfrm>
          <a:prstGeom prst="roundRect">
            <a:avLst>
              <a:gd name="adj" fmla="val 3846"/>
            </a:avLst>
          </a:prstGeom>
          <a:solidFill>
            <a:schemeClr val="bg2"/>
          </a:solidFill>
          <a:ln/>
        </p:spPr>
        <p:txBody>
          <a:bodyPr/>
          <a:lstStyle/>
          <a:p>
            <a:endParaRPr lang="en-US"/>
          </a:p>
        </p:txBody>
      </p:sp>
      <p:sp>
        <p:nvSpPr>
          <p:cNvPr id="8" name="Callout value"/>
          <p:cNvSpPr txBox="1"/>
          <p:nvPr/>
        </p:nvSpPr>
        <p:spPr>
          <a:xfrm>
            <a:off x="6309360" y="2057400"/>
            <a:ext cx="2377440" cy="822960"/>
          </a:xfrm>
          <a:prstGeom prst="rect">
            <a:avLst/>
          </a:prstGeom>
          <a:noFill/>
          <a:ln/>
        </p:spPr>
        <p:txBody>
          <a:bodyPr wrap="square" lIns="0" tIns="0" rIns="0" bIns="0" rtlCol="0" anchor="ctr"/>
          <a:lstStyle/>
          <a:p>
            <a:pPr marL="0" indent="0" algn="ctr">
              <a:buNone/>
            </a:pPr>
            <a:r>
              <a:rPr lang="en-US" sz="4400" b="1" dirty="0">
                <a:solidFill>
                  <a:schemeClr val="accent2"/>
                </a:solidFill>
              </a:rPr>
              <a:t>+3.85</a:t>
            </a:r>
            <a:endParaRPr lang="en-US" sz="4400" dirty="0"/>
          </a:p>
        </p:txBody>
      </p:sp>
      <p:sp>
        <p:nvSpPr>
          <p:cNvPr id="9" name="Callout label"/>
          <p:cNvSpPr txBox="1"/>
          <p:nvPr/>
        </p:nvSpPr>
        <p:spPr>
          <a:xfrm>
            <a:off x="6492240" y="2926080"/>
            <a:ext cx="2011680" cy="1188720"/>
          </a:xfrm>
          <a:prstGeom prst="rect">
            <a:avLst/>
          </a:prstGeom>
          <a:noFill/>
          <a:ln/>
        </p:spPr>
        <p:txBody>
          <a:bodyPr wrap="square" lIns="0" tIns="0" rIns="0" bIns="0" rtlCol="0" anchor="t"/>
          <a:lstStyle/>
          <a:p>
            <a:pPr marL="0" indent="0" algn="ctr">
              <a:buNone/>
            </a:pPr>
            <a:r>
              <a:rPr lang="en-US" sz="1400" dirty="0">
                <a:solidFill>
                  <a:schemeClr val="tx1"/>
                </a:solidFill>
              </a:rPr>
              <a:t>pts: mean ROE change, 2024 to 2025. In 2021 the rise was +6.10, with margin +6.24.</a:t>
            </a:r>
            <a:endParaRPr lang="en-US" sz="14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65760"/>
            <a:ext cx="8229600" cy="640080"/>
          </a:xfrm>
          <a:prstGeom prst="rect">
            <a:avLst/>
          </a:prstGeom>
          <a:noFill/>
          <a:ln/>
        </p:spPr>
        <p:txBody>
          <a:bodyPr wrap="square" lIns="0" tIns="0" rIns="0" bIns="0" rtlCol="0" anchor="t"/>
          <a:lstStyle/>
          <a:p>
            <a:pPr marL="0" indent="0">
              <a:buNone/>
            </a:pPr>
            <a:r>
              <a:rPr lang="en-US" sz="3400" b="1" dirty="0">
                <a:solidFill>
                  <a:schemeClr val="tx1"/>
                </a:solidFill>
              </a:rPr>
              <a:t>Extreme firms lift the average</a:t>
            </a:r>
            <a:endParaRPr lang="en-US" sz="3400" dirty="0"/>
          </a:p>
        </p:txBody>
      </p:sp>
      <p:sp>
        <p:nvSpPr>
          <p:cNvPr id="3" name="Text 0"/>
          <p:cNvSpPr>
            <a:spLocks noGrp="1"/>
          </p:cNvSpPr>
          <p:nvPr>
            <p:ph type="body" idx="101" hasCustomPrompt="1"/>
          </p:nvPr>
        </p:nvSpPr>
        <p:spPr>
          <a:xfrm>
            <a:off x="457200" y="1005840"/>
            <a:ext cx="8229600" cy="365760"/>
          </a:xfrm>
          <a:prstGeom prst="rect">
            <a:avLst/>
          </a:prstGeom>
          <a:noFill/>
          <a:ln/>
        </p:spPr>
        <p:txBody>
          <a:bodyPr wrap="square" lIns="0" tIns="0" rIns="0" bIns="0" rtlCol="0" anchor="ctr"/>
          <a:lstStyle/>
          <a:p>
            <a:pPr marL="0" indent="0">
              <a:buNone/>
            </a:pPr>
            <a:r>
              <a:rPr lang="en-US" sz="1600" dirty="0">
                <a:solidFill>
                  <a:schemeClr val="tx2"/>
                </a:solidFill>
              </a:rPr>
              <a:t>Five flagged firms add about 7 points to the mean company-average ROE</a:t>
            </a:r>
            <a:endParaRPr lang="en-US" sz="1600" dirty="0"/>
          </a:p>
        </p:txBody>
      </p:sp>
      <p:sp>
        <p:nvSpPr>
          <p:cNvPr id="4" name="Text 0"/>
          <p:cNvSpPr>
            <a:spLocks noGrp="1"/>
          </p:cNvSpPr>
          <p:nvPr>
            <p:ph type="body" idx="102" hasCustomPrompt="1"/>
          </p:nvPr>
        </p:nvSpPr>
        <p:spPr>
          <a:xfrm>
            <a:off x="457200" y="4663440"/>
            <a:ext cx="7589520" cy="274320"/>
          </a:xfrm>
          <a:prstGeom prst="rect">
            <a:avLst/>
          </a:prstGeom>
          <a:noFill/>
          <a:ln/>
        </p:spPr>
        <p:txBody>
          <a:bodyPr wrap="square" lIns="0" tIns="0" rIns="0" bIns="0" rtlCol="0" anchor="ctr"/>
          <a:lstStyle/>
          <a:p>
            <a:pPr marL="0" indent="0">
              <a:buNone/>
            </a:pPr>
            <a:r>
              <a:rPr lang="en-US" sz="1000" dirty="0">
                <a:solidFill>
                  <a:schemeClr val="tx2"/>
                </a:solidFill>
              </a:rPr>
              <a:t>Sensitivity analysis only, not a recommendation to delete valid companies. Outlier does not mean error.</a:t>
            </a:r>
            <a:endParaRPr lang="en-US" sz="1000" dirty="0"/>
          </a:p>
        </p:txBody>
      </p:sp>
      <p:graphicFrame>
        <p:nvGraphicFramePr>
          <p:cNvPr id="6" name="Chart 0"/>
          <p:cNvGraphicFramePr/>
          <p:nvPr/>
        </p:nvGraphicFramePr>
        <p:xfrm>
          <a:off x="457200" y="1554480"/>
          <a:ext cx="548640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7" name="Median card"/>
          <p:cNvSpPr/>
          <p:nvPr/>
        </p:nvSpPr>
        <p:spPr>
          <a:xfrm>
            <a:off x="6217920" y="1645920"/>
            <a:ext cx="2468880" cy="2743200"/>
          </a:xfrm>
          <a:prstGeom prst="roundRect">
            <a:avLst>
              <a:gd name="adj" fmla="val 3704"/>
            </a:avLst>
          </a:prstGeom>
          <a:solidFill>
            <a:schemeClr val="bg2"/>
          </a:solidFill>
          <a:ln/>
        </p:spPr>
        <p:txBody>
          <a:bodyPr/>
          <a:lstStyle/>
          <a:p>
            <a:endParaRPr lang="en-US"/>
          </a:p>
        </p:txBody>
      </p:sp>
      <p:sp>
        <p:nvSpPr>
          <p:cNvPr id="8" name="Median text"/>
          <p:cNvSpPr txBox="1"/>
          <p:nvPr/>
        </p:nvSpPr>
        <p:spPr>
          <a:xfrm>
            <a:off x="6400800" y="1783080"/>
            <a:ext cx="2103120" cy="2468880"/>
          </a:xfrm>
          <a:prstGeom prst="rect">
            <a:avLst/>
          </a:prstGeom>
          <a:noFill/>
          <a:ln/>
        </p:spPr>
        <p:txBody>
          <a:bodyPr wrap="square" lIns="0" tIns="0" rIns="0" bIns="0" rtlCol="0" anchor="t"/>
          <a:lstStyle/>
          <a:p>
            <a:pPr marL="0" indent="0">
              <a:buNone/>
            </a:pPr>
            <a:r>
              <a:rPr lang="en-US" sz="3200" b="1" dirty="0">
                <a:solidFill>
                  <a:schemeClr val="accent2"/>
                </a:solidFill>
              </a:rPr>
              <a:t>14.93%</a:t>
            </a:r>
            <a:endParaRPr lang="en-US" sz="1400" dirty="0"/>
          </a:p>
          <a:p>
            <a:pPr marL="0" indent="0">
              <a:buNone/>
            </a:pPr>
            <a:r>
              <a:rPr lang="en-US" sz="1400" dirty="0">
                <a:solidFill>
                  <a:schemeClr val="tx1"/>
                </a:solidFill>
              </a:rPr>
              <a:t>untrimmed median</a:t>
            </a:r>
            <a:endParaRPr lang="en-US" sz="1400" dirty="0"/>
          </a:p>
          <a:p>
            <a:pPr marL="0" indent="0">
              <a:buNone/>
            </a:pPr>
            <a:r>
              <a:rPr lang="en-US" sz="600" dirty="0">
                <a:solidFill>
                  <a:schemeClr val="tx1"/>
                </a:solidFill>
              </a:rPr>
              <a:t> </a:t>
            </a:r>
            <a:endParaRPr lang="en-US" sz="1400" dirty="0"/>
          </a:p>
          <a:p>
            <a:pPr marL="0" indent="0">
              <a:buNone/>
            </a:pPr>
            <a:r>
              <a:rPr lang="en-US" sz="1400" dirty="0">
                <a:solidFill>
                  <a:schemeClr val="tx1"/>
                </a:solidFill>
              </a:rPr>
              <a:t>IQR flags: ABBV, AMGN, IDXX, LLY, ZTS</a:t>
            </a:r>
            <a:endParaRPr lang="en-US" sz="14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65760"/>
            <a:ext cx="8229600" cy="640080"/>
          </a:xfrm>
          <a:prstGeom prst="rect">
            <a:avLst/>
          </a:prstGeom>
          <a:noFill/>
          <a:ln/>
        </p:spPr>
        <p:txBody>
          <a:bodyPr wrap="square" lIns="0" tIns="0" rIns="0" bIns="0" rtlCol="0" anchor="t"/>
          <a:lstStyle/>
          <a:p>
            <a:pPr marL="0" indent="0">
              <a:buNone/>
            </a:pPr>
            <a:r>
              <a:rPr lang="en-US" sz="3400" b="1" dirty="0">
                <a:solidFill>
                  <a:schemeClr val="tx1"/>
                </a:solidFill>
              </a:rPr>
              <a:t>Pfizer: ROE fell from 33% to 2%</a:t>
            </a:r>
            <a:endParaRPr lang="en-US" sz="3400" dirty="0"/>
          </a:p>
        </p:txBody>
      </p:sp>
      <p:sp>
        <p:nvSpPr>
          <p:cNvPr id="3" name="Text 0"/>
          <p:cNvSpPr>
            <a:spLocks noGrp="1"/>
          </p:cNvSpPr>
          <p:nvPr>
            <p:ph type="body" idx="101" hasCustomPrompt="1"/>
          </p:nvPr>
        </p:nvSpPr>
        <p:spPr>
          <a:xfrm>
            <a:off x="457200" y="1005840"/>
            <a:ext cx="8229600" cy="365760"/>
          </a:xfrm>
          <a:prstGeom prst="rect">
            <a:avLst/>
          </a:prstGeom>
          <a:noFill/>
          <a:ln/>
        </p:spPr>
        <p:txBody>
          <a:bodyPr wrap="square" lIns="0" tIns="0" rIns="0" bIns="0" rtlCol="0" anchor="ctr"/>
          <a:lstStyle/>
          <a:p>
            <a:pPr marL="0" indent="0">
              <a:buNone/>
            </a:pPr>
            <a:r>
              <a:rPr lang="en-US" sz="1600" dirty="0">
                <a:solidFill>
                  <a:schemeClr val="tx2"/>
                </a:solidFill>
              </a:rPr>
              <a:t>Margin and turnover drove the drop; the 2023 10-K cites lower COVID-product demand</a:t>
            </a:r>
            <a:endParaRPr lang="en-US" sz="1600" dirty="0"/>
          </a:p>
        </p:txBody>
      </p:sp>
      <p:sp>
        <p:nvSpPr>
          <p:cNvPr id="4" name="Text 0"/>
          <p:cNvSpPr>
            <a:spLocks noGrp="1"/>
          </p:cNvSpPr>
          <p:nvPr>
            <p:ph type="body" idx="102" hasCustomPrompt="1"/>
          </p:nvPr>
        </p:nvSpPr>
        <p:spPr>
          <a:xfrm>
            <a:off x="457200" y="4663440"/>
            <a:ext cx="7589520" cy="274320"/>
          </a:xfrm>
          <a:prstGeom prst="rect">
            <a:avLst/>
          </a:prstGeom>
          <a:noFill/>
          <a:ln/>
        </p:spPr>
        <p:txBody>
          <a:bodyPr wrap="square" lIns="0" tIns="0" rIns="0" bIns="0" rtlCol="0" anchor="ctr"/>
          <a:lstStyle/>
          <a:p>
            <a:pPr marL="0" indent="0">
              <a:buNone/>
            </a:pPr>
            <a:r>
              <a:rPr lang="en-US" sz="1000" dirty="0">
                <a:solidFill>
                  <a:schemeClr val="tx2"/>
                </a:solidFill>
              </a:rPr>
              <a:t>Pfizer 2023 10-K and financial panel. One verified case, not a sector explanation or a causal estimate.</a:t>
            </a:r>
            <a:endParaRPr lang="en-US" sz="1000" dirty="0"/>
          </a:p>
        </p:txBody>
      </p:sp>
      <p:graphicFrame>
        <p:nvGraphicFramePr>
          <p:cNvPr id="6" name="Chart 0"/>
          <p:cNvGraphicFramePr/>
          <p:nvPr/>
        </p:nvGraphicFramePr>
        <p:xfrm>
          <a:off x="457200" y="1554480"/>
          <a:ext cx="548640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7" name="Context card"/>
          <p:cNvSpPr/>
          <p:nvPr/>
        </p:nvSpPr>
        <p:spPr>
          <a:xfrm>
            <a:off x="6217920" y="1645920"/>
            <a:ext cx="2468880" cy="2743200"/>
          </a:xfrm>
          <a:prstGeom prst="roundRect">
            <a:avLst>
              <a:gd name="adj" fmla="val 3704"/>
            </a:avLst>
          </a:prstGeom>
          <a:solidFill>
            <a:schemeClr val="bg2"/>
          </a:solidFill>
          <a:ln/>
        </p:spPr>
        <p:txBody>
          <a:bodyPr/>
          <a:lstStyle/>
          <a:p>
            <a:endParaRPr lang="en-US"/>
          </a:p>
        </p:txBody>
      </p:sp>
      <p:sp>
        <p:nvSpPr>
          <p:cNvPr id="8" name="Context text"/>
          <p:cNvSpPr txBox="1"/>
          <p:nvPr/>
        </p:nvSpPr>
        <p:spPr>
          <a:xfrm>
            <a:off x="6400800" y="1783080"/>
            <a:ext cx="2103120" cy="2468880"/>
          </a:xfrm>
          <a:prstGeom prst="rect">
            <a:avLst/>
          </a:prstGeom>
          <a:noFill/>
          <a:ln/>
        </p:spPr>
        <p:txBody>
          <a:bodyPr wrap="square" lIns="0" tIns="0" rIns="0" bIns="0" rtlCol="0" anchor="t"/>
          <a:lstStyle/>
          <a:p>
            <a:pPr marL="0" indent="0">
              <a:buNone/>
            </a:pPr>
            <a:r>
              <a:rPr lang="en-US" sz="1400" b="1" dirty="0">
                <a:solidFill>
                  <a:schemeClr val="tx1"/>
                </a:solidFill>
              </a:rPr>
              <a:t>Business context</a:t>
            </a:r>
            <a:endParaRPr lang="en-US" sz="1400" dirty="0"/>
          </a:p>
          <a:p>
            <a:pPr marL="0" indent="0">
              <a:buNone/>
            </a:pPr>
            <a:r>
              <a:rPr lang="en-US" sz="1400" dirty="0">
                <a:solidFill>
                  <a:schemeClr val="tx1"/>
                </a:solidFill>
              </a:rPr>
              <a:t>Lower COVID-product demand and large inventory write-offs.</a:t>
            </a:r>
            <a:endParaRPr lang="en-US" sz="1400" dirty="0"/>
          </a:p>
          <a:p>
            <a:pPr marL="0" indent="0">
              <a:buNone/>
            </a:pPr>
            <a:r>
              <a:rPr lang="en-US" sz="600" dirty="0">
                <a:solidFill>
                  <a:schemeClr val="tx1"/>
                </a:solidFill>
              </a:rPr>
              <a:t> </a:t>
            </a:r>
            <a:endParaRPr lang="en-US" sz="1400" dirty="0"/>
          </a:p>
          <a:p>
            <a:pPr marL="0" indent="0">
              <a:buNone/>
            </a:pPr>
            <a:r>
              <a:rPr lang="en-US" sz="1400" dirty="0">
                <a:solidFill>
                  <a:schemeClr val="tx1"/>
                </a:solidFill>
              </a:rPr>
              <a:t>The Seagen acquisition also changed the asset base.</a:t>
            </a:r>
            <a:endParaRPr lang="en-US" sz="14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097280"/>
            <a:ext cx="5394960" cy="1828800"/>
          </a:xfrm>
          <a:prstGeom prst="rect">
            <a:avLst/>
          </a:prstGeom>
          <a:noFill/>
          <a:ln/>
        </p:spPr>
        <p:txBody>
          <a:bodyPr wrap="square" lIns="0" tIns="0" rIns="0" bIns="0" rtlCol="0" anchor="t"/>
          <a:lstStyle/>
          <a:p>
            <a:pPr marL="0" indent="0">
              <a:buNone/>
            </a:pPr>
            <a:r>
              <a:rPr lang="en-US" sz="3600" b="1" dirty="0">
                <a:solidFill>
                  <a:schemeClr val="bg1"/>
                </a:solidFill>
              </a:rPr>
              <a:t>Intra-sector analysis</a:t>
            </a:r>
            <a:endParaRPr lang="en-US" sz="3600" dirty="0"/>
          </a:p>
        </p:txBody>
      </p:sp>
      <p:sp>
        <p:nvSpPr>
          <p:cNvPr id="3" name="Text 0"/>
          <p:cNvSpPr>
            <a:spLocks noGrp="1"/>
          </p:cNvSpPr>
          <p:nvPr>
            <p:ph type="body" idx="101" hasCustomPrompt="1"/>
          </p:nvPr>
        </p:nvSpPr>
        <p:spPr>
          <a:xfrm>
            <a:off x="548640" y="3108960"/>
            <a:ext cx="5394960" cy="731520"/>
          </a:xfrm>
          <a:prstGeom prst="rect">
            <a:avLst/>
          </a:prstGeom>
          <a:noFill/>
          <a:ln/>
        </p:spPr>
        <p:txBody>
          <a:bodyPr wrap="square" lIns="0" tIns="0" rIns="0" bIns="0" rtlCol="0" anchor="t"/>
          <a:lstStyle/>
          <a:p>
            <a:pPr marL="0" indent="0">
              <a:buNone/>
            </a:pPr>
            <a:r>
              <a:rPr lang="en-US" sz="1800" dirty="0">
                <a:solidFill>
                  <a:schemeClr val="bg2"/>
                </a:solidFill>
              </a:rPr>
              <a:t>Industrials versus healthcare: returns, leverage, risk evidence</a:t>
            </a:r>
            <a:endParaRPr lang="en-US" sz="1800" dirty="0"/>
          </a:p>
        </p:txBody>
      </p:sp>
      <p:sp>
        <p:nvSpPr>
          <p:cNvPr id="4" name="Section circle"/>
          <p:cNvSpPr/>
          <p:nvPr/>
        </p:nvSpPr>
        <p:spPr>
          <a:xfrm>
            <a:off x="6309360" y="1371600"/>
            <a:ext cx="2011680" cy="2011680"/>
          </a:xfrm>
          <a:prstGeom prst="ellipse">
            <a:avLst/>
          </a:prstGeom>
          <a:solidFill>
            <a:schemeClr val="accent1"/>
          </a:solidFill>
          <a:ln/>
        </p:spPr>
        <p:txBody>
          <a:bodyPr/>
          <a:lstStyle/>
          <a:p>
            <a:endParaRPr lang="en-US"/>
          </a:p>
        </p:txBody>
      </p:sp>
      <p:sp>
        <p:nvSpPr>
          <p:cNvPr id="5" name="Section number"/>
          <p:cNvSpPr txBox="1"/>
          <p:nvPr/>
        </p:nvSpPr>
        <p:spPr>
          <a:xfrm>
            <a:off x="6309360" y="1371600"/>
            <a:ext cx="2011680" cy="2011680"/>
          </a:xfrm>
          <a:prstGeom prst="rect">
            <a:avLst/>
          </a:prstGeom>
          <a:noFill/>
          <a:ln/>
        </p:spPr>
        <p:txBody>
          <a:bodyPr wrap="square" lIns="0" tIns="0" rIns="0" bIns="0" rtlCol="0" anchor="ctr"/>
          <a:lstStyle/>
          <a:p>
            <a:pPr marL="0" indent="0" algn="ctr">
              <a:buNone/>
            </a:pPr>
            <a:r>
              <a:rPr lang="en-US" sz="7200" b="1" dirty="0">
                <a:solidFill>
                  <a:schemeClr val="bg1"/>
                </a:solidFill>
              </a:rPr>
              <a:t>3</a:t>
            </a:r>
            <a:endParaRPr lang="en-US" sz="7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65760"/>
            <a:ext cx="8229600" cy="640080"/>
          </a:xfrm>
          <a:prstGeom prst="rect">
            <a:avLst/>
          </a:prstGeom>
          <a:noFill/>
          <a:ln/>
        </p:spPr>
        <p:txBody>
          <a:bodyPr wrap="square" lIns="0" tIns="0" rIns="0" bIns="0" rtlCol="0" anchor="t"/>
          <a:lstStyle/>
          <a:p>
            <a:pPr marL="0" indent="0">
              <a:buNone/>
            </a:pPr>
            <a:r>
              <a:rPr lang="en-US" sz="3400" b="1" dirty="0">
                <a:solidFill>
                  <a:schemeClr val="tx1"/>
                </a:solidFill>
              </a:rPr>
              <a:t>Industrials vs healthcare</a:t>
            </a:r>
            <a:endParaRPr lang="en-US" sz="3400" dirty="0"/>
          </a:p>
        </p:txBody>
      </p:sp>
      <p:sp>
        <p:nvSpPr>
          <p:cNvPr id="3" name="Text 0"/>
          <p:cNvSpPr>
            <a:spLocks noGrp="1"/>
          </p:cNvSpPr>
          <p:nvPr>
            <p:ph type="body" idx="101" hasCustomPrompt="1"/>
          </p:nvPr>
        </p:nvSpPr>
        <p:spPr>
          <a:xfrm>
            <a:off x="457200" y="1005840"/>
            <a:ext cx="8229600" cy="365760"/>
          </a:xfrm>
          <a:prstGeom prst="rect">
            <a:avLst/>
          </a:prstGeom>
          <a:noFill/>
          <a:ln/>
        </p:spPr>
        <p:txBody>
          <a:bodyPr wrap="square" lIns="0" tIns="0" rIns="0" bIns="0" rtlCol="0" anchor="ctr"/>
          <a:lstStyle/>
          <a:p>
            <a:pPr marL="0" indent="0">
              <a:buNone/>
            </a:pPr>
            <a:r>
              <a:rPr lang="en-US" sz="1600" dirty="0">
                <a:solidFill>
                  <a:schemeClr val="tx2"/>
                </a:solidFill>
              </a:rPr>
              <a:t>Industrials ended FY2025 higher and rising; healthcare sits lower after a 2021 peak</a:t>
            </a:r>
            <a:endParaRPr lang="en-US" sz="1600" dirty="0"/>
          </a:p>
        </p:txBody>
      </p:sp>
      <p:sp>
        <p:nvSpPr>
          <p:cNvPr id="4" name="Text 0"/>
          <p:cNvSpPr>
            <a:spLocks noGrp="1"/>
          </p:cNvSpPr>
          <p:nvPr>
            <p:ph type="body" idx="102" hasCustomPrompt="1"/>
          </p:nvPr>
        </p:nvSpPr>
        <p:spPr>
          <a:xfrm>
            <a:off x="457200" y="4663440"/>
            <a:ext cx="7589520" cy="274320"/>
          </a:xfrm>
          <a:prstGeom prst="rect">
            <a:avLst/>
          </a:prstGeom>
          <a:noFill/>
          <a:ln/>
        </p:spPr>
        <p:txBody>
          <a:bodyPr wrap="square" lIns="0" tIns="0" rIns="0" bIns="0" rtlCol="0" anchor="ctr"/>
          <a:lstStyle/>
          <a:p>
            <a:pPr marL="0" indent="0">
              <a:buNone/>
            </a:pPr>
            <a:r>
              <a:rPr lang="en-US" sz="1000" dirty="0">
                <a:solidFill>
                  <a:schemeClr val="tx2"/>
                </a:solidFill>
              </a:rPr>
              <a:t>Industrial medians use 58–65 companies per year; healthcare uses a fixed 40-firm panel.</a:t>
            </a:r>
            <a:endParaRPr lang="en-US" sz="1000" dirty="0"/>
          </a:p>
        </p:txBody>
      </p:sp>
      <p:graphicFrame>
        <p:nvGraphicFramePr>
          <p:cNvPr id="28" name="Data table"/>
          <p:cNvGraphicFramePr>
            <a:graphicFrameLocks noGrp="1"/>
          </p:cNvGraphicFramePr>
          <p:nvPr>
            <p:extLst>
              <p:ext uri="{D42A27DB-BD31-4B8C-83A1-F6EECF244321}">
                <p14:modId xmlns:p14="http://schemas.microsoft.com/office/powerpoint/2010/main" val="1579011935"/>
              </p:ext>
            </p:extLst>
          </p:nvPr>
        </p:nvGraphicFramePr>
        <p:xfrm>
          <a:off x="457200" y="1508760"/>
          <a:ext cx="8229600" cy="2560320"/>
        </p:xfrm>
        <a:graphic>
          <a:graphicData uri="http://schemas.openxmlformats.org/drawingml/2006/table">
            <a:tbl>
              <a:tblPr/>
              <a:tblGrid>
                <a:gridCol w="219456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tblGrid>
              <a:tr h="365760">
                <a:tc>
                  <a:txBody>
                    <a:bodyPr/>
                    <a:lstStyle/>
                    <a:p>
                      <a:pPr marL="0" indent="0" algn="l">
                        <a:buNone/>
                      </a:pP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1F2933"/>
                    </a:solidFill>
                  </a:tcPr>
                </a:tc>
                <a:tc>
                  <a:txBody>
                    <a:bodyPr/>
                    <a:lstStyle/>
                    <a:p>
                      <a:pPr marL="0" indent="0" algn="l">
                        <a:buNone/>
                      </a:pPr>
                      <a:r>
                        <a:rPr lang="en-US" sz="1300" b="1" dirty="0">
                          <a:solidFill>
                            <a:schemeClr val="bg1"/>
                          </a:solidFill>
                        </a:rPr>
                        <a:t>Industrials</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D9480F"/>
                    </a:solidFill>
                  </a:tcPr>
                </a:tc>
                <a:tc>
                  <a:txBody>
                    <a:bodyPr/>
                    <a:lstStyle/>
                    <a:p>
                      <a:pPr marL="0" indent="0" algn="l">
                        <a:buNone/>
                      </a:pPr>
                      <a:r>
                        <a:rPr lang="en-US" sz="1300" b="1" dirty="0">
                          <a:solidFill>
                            <a:schemeClr val="bg1"/>
                          </a:solidFill>
                        </a:rPr>
                        <a:t>Healthcare</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3E7CB1"/>
                    </a:solidFill>
                  </a:tcPr>
                </a:tc>
                <a:extLst>
                  <a:ext uri="{0D108BD9-81ED-4DB2-BD59-A6C34878D82A}">
                    <a16:rowId xmlns:a16="http://schemas.microsoft.com/office/drawing/2014/main" val="10000"/>
                  </a:ext>
                </a:extLst>
              </a:tr>
              <a:tr h="365760">
                <a:tc>
                  <a:txBody>
                    <a:bodyPr/>
                    <a:lstStyle/>
                    <a:p>
                      <a:pPr marL="0" indent="0" algn="l">
                        <a:buNone/>
                      </a:pPr>
                      <a:r>
                        <a:rPr lang="en-US" sz="1300" b="1" dirty="0">
                          <a:solidFill>
                            <a:schemeClr val="tx1"/>
                          </a:solidFill>
                        </a:rPr>
                        <a:t>Sample</a:t>
                      </a:r>
                      <a:endParaRPr lang="en-US" sz="1300" dirty="0"/>
                    </a:p>
                  </a:txBody>
                  <a:tcPr marL="73152" marR="73152" marT="0" marB="0" anchor="ctr">
                    <a:lnL w="0" cap="flat" cmpd="sng" algn="ctr">
                      <a:noFill/>
                    </a:lnL>
                    <a:lnR w="0" cap="flat" cmpd="sng" algn="ctr">
                      <a:noFill/>
                    </a:lnR>
                    <a:lnT w="0" cap="flat" cmpd="sng" algn="ctr">
                      <a:noFill/>
                    </a:lnT>
                    <a:lnB w="9525" cap="flat" cmpd="sng" algn="ctr">
                      <a:solidFill>
                        <a:srgbClr val="7B8794"/>
                      </a:solidFill>
                      <a:prstDash val="solid"/>
                      <a:round/>
                      <a:headEnd type="none" w="med" len="med"/>
                      <a:tailEnd type="none" w="med" len="med"/>
                    </a:lnB>
                  </a:tcPr>
                </a:tc>
                <a:tc>
                  <a:txBody>
                    <a:bodyPr/>
                    <a:lstStyle/>
                    <a:p>
                      <a:pPr marL="0" indent="0" algn="l">
                        <a:buNone/>
                      </a:pPr>
                      <a:r>
                        <a:rPr lang="en-US" sz="1300" dirty="0">
                          <a:solidFill>
                            <a:schemeClr val="tx1"/>
                          </a:solidFill>
                        </a:rPr>
                        <a:t>81 companies, 472 filings</a:t>
                      </a:r>
                      <a:endParaRPr lang="en-US" sz="1300" dirty="0"/>
                    </a:p>
                  </a:txBody>
                  <a:tcPr marL="73152" marR="73152" marT="0" marB="0" anchor="ctr">
                    <a:lnL w="0" cap="flat" cmpd="sng" algn="ctr">
                      <a:noFill/>
                    </a:lnL>
                    <a:lnR w="0" cap="flat" cmpd="sng" algn="ctr">
                      <a:noFill/>
                    </a:lnR>
                    <a:lnT w="0" cap="flat" cmpd="sng" algn="ctr">
                      <a:noFill/>
                    </a:lnT>
                    <a:lnB w="9525" cap="flat" cmpd="sng" algn="ctr">
                      <a:solidFill>
                        <a:srgbClr val="7B8794"/>
                      </a:solidFill>
                      <a:prstDash val="solid"/>
                      <a:round/>
                      <a:headEnd type="none" w="med" len="med"/>
                      <a:tailEnd type="none" w="med" len="med"/>
                    </a:lnB>
                  </a:tcPr>
                </a:tc>
                <a:tc>
                  <a:txBody>
                    <a:bodyPr/>
                    <a:lstStyle/>
                    <a:p>
                      <a:pPr marL="0" indent="0" algn="l">
                        <a:buNone/>
                      </a:pPr>
                      <a:r>
                        <a:rPr lang="en-US" sz="1300" dirty="0">
                          <a:solidFill>
                            <a:schemeClr val="tx1"/>
                          </a:solidFill>
                        </a:rPr>
                        <a:t>43 firms, 255 company-years</a:t>
                      </a:r>
                      <a:endParaRPr lang="en-US" sz="1300" dirty="0"/>
                    </a:p>
                  </a:txBody>
                  <a:tcPr marL="73152" marR="73152" marT="0" marB="0" anchor="ctr">
                    <a:lnL w="0" cap="flat" cmpd="sng" algn="ctr">
                      <a:noFill/>
                    </a:lnL>
                    <a:lnR w="0" cap="flat" cmpd="sng" algn="ctr">
                      <a:noFill/>
                    </a:lnR>
                    <a:lnT w="0" cap="flat" cmpd="sng" algn="ctr">
                      <a:noFill/>
                    </a:lnT>
                    <a:lnB w="9525" cap="flat" cmpd="sng" algn="ctr">
                      <a:solidFill>
                        <a:srgbClr val="7B8794"/>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lgn="l">
                        <a:buNone/>
                      </a:pPr>
                      <a:r>
                        <a:rPr lang="en-US" sz="1300" b="1" dirty="0">
                          <a:solidFill>
                            <a:schemeClr val="tx1"/>
                          </a:solidFill>
                        </a:rPr>
                        <a:t>Median ROE, FY2020</a:t>
                      </a:r>
                      <a:endParaRPr lang="en-US" sz="13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tc>
                  <a:txBody>
                    <a:bodyPr/>
                    <a:lstStyle/>
                    <a:p>
                      <a:pPr marL="0" indent="0" algn="l">
                        <a:buNone/>
                      </a:pPr>
                      <a:r>
                        <a:rPr lang="en-US" sz="1300" dirty="0">
                          <a:solidFill>
                            <a:schemeClr val="tx1"/>
                          </a:solidFill>
                        </a:rPr>
                        <a:t>19.4%</a:t>
                      </a:r>
                      <a:endParaRPr lang="en-US" sz="13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tc>
                  <a:txBody>
                    <a:bodyPr/>
                    <a:lstStyle/>
                    <a:p>
                      <a:pPr marL="0" indent="0" algn="l">
                        <a:buNone/>
                      </a:pPr>
                      <a:r>
                        <a:rPr lang="en-US" sz="1300" dirty="0">
                          <a:solidFill>
                            <a:schemeClr val="tx1"/>
                          </a:solidFill>
                        </a:rPr>
                        <a:t>15.7%</a:t>
                      </a:r>
                      <a:endParaRPr lang="en-US" sz="13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lgn="l">
                        <a:buNone/>
                      </a:pPr>
                      <a:r>
                        <a:rPr lang="en-US" sz="1300" b="1" dirty="0">
                          <a:solidFill>
                            <a:schemeClr val="tx1"/>
                          </a:solidFill>
                        </a:rPr>
                        <a:t>Median ROE, FY2025</a:t>
                      </a:r>
                      <a:endParaRPr lang="en-US" sz="13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tc>
                  <a:txBody>
                    <a:bodyPr/>
                    <a:lstStyle/>
                    <a:p>
                      <a:pPr marL="0" indent="0" algn="l">
                        <a:buNone/>
                      </a:pPr>
                      <a:r>
                        <a:rPr lang="en-US" sz="1300" dirty="0">
                          <a:solidFill>
                            <a:schemeClr val="tx1"/>
                          </a:solidFill>
                        </a:rPr>
                        <a:t>25.5%</a:t>
                      </a:r>
                      <a:endParaRPr lang="en-US" sz="13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tc>
                  <a:txBody>
                    <a:bodyPr/>
                    <a:lstStyle/>
                    <a:p>
                      <a:pPr marL="0" indent="0" algn="l">
                        <a:buNone/>
                      </a:pPr>
                      <a:r>
                        <a:rPr lang="en-US" sz="1300" dirty="0">
                          <a:solidFill>
                            <a:schemeClr val="tx1"/>
                          </a:solidFill>
                        </a:rPr>
                        <a:t>12.7%</a:t>
                      </a:r>
                      <a:endParaRPr lang="en-US" sz="13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lgn="l">
                        <a:buNone/>
                      </a:pPr>
                      <a:r>
                        <a:rPr lang="en-US" sz="1300" b="1" dirty="0">
                          <a:solidFill>
                            <a:schemeClr val="tx1"/>
                          </a:solidFill>
                        </a:rPr>
                        <a:t>Change, FY2020–25</a:t>
                      </a:r>
                      <a:endParaRPr lang="en-US" sz="13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tc>
                  <a:txBody>
                    <a:bodyPr/>
                    <a:lstStyle/>
                    <a:p>
                      <a:pPr marL="0" indent="0" algn="l">
                        <a:buNone/>
                      </a:pPr>
                      <a:r>
                        <a:rPr lang="en-US" sz="1300" dirty="0">
                          <a:solidFill>
                            <a:schemeClr val="tx1"/>
                          </a:solidFill>
                        </a:rPr>
                        <a:t>+6.1 pts</a:t>
                      </a:r>
                      <a:endParaRPr lang="en-US" sz="13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tc>
                  <a:txBody>
                    <a:bodyPr/>
                    <a:lstStyle/>
                    <a:p>
                      <a:pPr marL="0" indent="0" algn="l">
                        <a:buNone/>
                      </a:pPr>
                      <a:r>
                        <a:rPr lang="en-US" sz="1300" dirty="0">
                          <a:solidFill>
                            <a:schemeClr val="tx1"/>
                          </a:solidFill>
                        </a:rPr>
                        <a:t>−3.0 pts</a:t>
                      </a:r>
                      <a:endParaRPr lang="en-US" sz="13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extLst>
                  <a:ext uri="{0D108BD9-81ED-4DB2-BD59-A6C34878D82A}">
                    <a16:rowId xmlns:a16="http://schemas.microsoft.com/office/drawing/2014/main" val="10004"/>
                  </a:ext>
                </a:extLst>
              </a:tr>
              <a:tr h="365760">
                <a:tc>
                  <a:txBody>
                    <a:bodyPr/>
                    <a:lstStyle/>
                    <a:p>
                      <a:pPr marL="0" indent="0" algn="l">
                        <a:buNone/>
                      </a:pPr>
                      <a:r>
                        <a:rPr lang="en-US" sz="1300" b="1" dirty="0">
                          <a:solidFill>
                            <a:schemeClr val="tx1"/>
                          </a:solidFill>
                        </a:rPr>
                        <a:t>Peak and trough</a:t>
                      </a:r>
                      <a:endParaRPr lang="en-US" sz="13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tc>
                  <a:txBody>
                    <a:bodyPr/>
                    <a:lstStyle/>
                    <a:p>
                      <a:pPr marL="0" indent="0" algn="l">
                        <a:buNone/>
                      </a:pPr>
                      <a:r>
                        <a:rPr lang="en-US" sz="1300" dirty="0">
                          <a:solidFill>
                            <a:schemeClr val="tx1"/>
                          </a:solidFill>
                        </a:rPr>
                        <a:t>Peak FY2025, trough FY2020</a:t>
                      </a:r>
                      <a:endParaRPr lang="en-US" sz="13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tc>
                  <a:txBody>
                    <a:bodyPr/>
                    <a:lstStyle/>
                    <a:p>
                      <a:pPr marL="0" indent="0" algn="l">
                        <a:buNone/>
                      </a:pPr>
                      <a:r>
                        <a:rPr lang="en-US" sz="1300" dirty="0">
                          <a:solidFill>
                            <a:schemeClr val="tx1"/>
                          </a:solidFill>
                        </a:rPr>
                        <a:t>Peak 2021 (18.7%), trough 2024 (11.1%)</a:t>
                      </a:r>
                      <a:endParaRPr lang="en-US" sz="13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extLst>
                  <a:ext uri="{0D108BD9-81ED-4DB2-BD59-A6C34878D82A}">
                    <a16:rowId xmlns:a16="http://schemas.microsoft.com/office/drawing/2014/main" val="10005"/>
                  </a:ext>
                </a:extLst>
              </a:tr>
              <a:tr h="365760">
                <a:tc>
                  <a:txBody>
                    <a:bodyPr/>
                    <a:lstStyle/>
                    <a:p>
                      <a:pPr marL="0" indent="0" algn="l">
                        <a:buNone/>
                      </a:pPr>
                      <a:r>
                        <a:rPr lang="en-US" sz="1300" b="1" dirty="0">
                          <a:solidFill>
                            <a:schemeClr val="tx1"/>
                          </a:solidFill>
                        </a:rPr>
                        <a:t>Lead ROE driver</a:t>
                      </a:r>
                      <a:endParaRPr lang="en-US" sz="13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tc>
                  <a:txBody>
                    <a:bodyPr/>
                    <a:lstStyle/>
                    <a:p>
                      <a:pPr marL="0" indent="0" algn="l">
                        <a:buNone/>
                      </a:pPr>
                      <a:r>
                        <a:rPr lang="en-US" sz="1300" dirty="0">
                          <a:solidFill>
                            <a:schemeClr val="tx1"/>
                          </a:solidFill>
                        </a:rPr>
                        <a:t>Margin, in 59% of filings</a:t>
                      </a:r>
                      <a:endParaRPr lang="en-US" sz="13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tc>
                  <a:txBody>
                    <a:bodyPr/>
                    <a:lstStyle/>
                    <a:p>
                      <a:pPr marL="0" indent="0" algn="l">
                        <a:buNone/>
                      </a:pPr>
                      <a:r>
                        <a:rPr lang="en-US" sz="1300" dirty="0">
                          <a:solidFill>
                            <a:schemeClr val="tx1"/>
                          </a:solidFill>
                        </a:rPr>
                        <a:t>Margin, +4.34 of the +3.85 pt 2025 rise</a:t>
                      </a:r>
                      <a:endParaRPr lang="en-US" sz="13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65760"/>
            <a:ext cx="8229600" cy="640080"/>
          </a:xfrm>
          <a:prstGeom prst="rect">
            <a:avLst/>
          </a:prstGeom>
          <a:noFill/>
          <a:ln/>
        </p:spPr>
        <p:txBody>
          <a:bodyPr wrap="square" lIns="0" tIns="0" rIns="0" bIns="0" rtlCol="0" anchor="t"/>
          <a:lstStyle/>
          <a:p>
            <a:pPr marL="0" indent="0">
              <a:buNone/>
            </a:pPr>
            <a:r>
              <a:rPr lang="en-US" sz="3400" b="1" dirty="0">
                <a:solidFill>
                  <a:schemeClr val="tx1"/>
                </a:solidFill>
              </a:rPr>
              <a:t>ROE paths diverged</a:t>
            </a:r>
            <a:endParaRPr lang="en-US" sz="3400" dirty="0"/>
          </a:p>
        </p:txBody>
      </p:sp>
      <p:sp>
        <p:nvSpPr>
          <p:cNvPr id="3" name="Text 0"/>
          <p:cNvSpPr>
            <a:spLocks noGrp="1"/>
          </p:cNvSpPr>
          <p:nvPr>
            <p:ph type="body" idx="101" hasCustomPrompt="1"/>
          </p:nvPr>
        </p:nvSpPr>
        <p:spPr>
          <a:xfrm>
            <a:off x="457200" y="1005840"/>
            <a:ext cx="8229600" cy="365760"/>
          </a:xfrm>
          <a:prstGeom prst="rect">
            <a:avLst/>
          </a:prstGeom>
          <a:noFill/>
          <a:ln/>
        </p:spPr>
        <p:txBody>
          <a:bodyPr wrap="square" lIns="0" tIns="0" rIns="0" bIns="0" rtlCol="0" anchor="ctr"/>
          <a:lstStyle/>
          <a:p>
            <a:pPr marL="0" indent="0">
              <a:buNone/>
            </a:pPr>
            <a:r>
              <a:rPr lang="en-US" sz="1600" dirty="0">
                <a:solidFill>
                  <a:schemeClr val="tx2"/>
                </a:solidFill>
              </a:rPr>
              <a:t>The gap in median ROE widened from 3.7 points in 2020 to 12.8 in 2025</a:t>
            </a:r>
            <a:endParaRPr lang="en-US" sz="1600" dirty="0"/>
          </a:p>
        </p:txBody>
      </p:sp>
      <p:sp>
        <p:nvSpPr>
          <p:cNvPr id="4" name="Text 0"/>
          <p:cNvSpPr>
            <a:spLocks noGrp="1"/>
          </p:cNvSpPr>
          <p:nvPr>
            <p:ph type="body" idx="102" hasCustomPrompt="1"/>
          </p:nvPr>
        </p:nvSpPr>
        <p:spPr>
          <a:xfrm>
            <a:off x="457200" y="4663440"/>
            <a:ext cx="7589520" cy="274320"/>
          </a:xfrm>
          <a:prstGeom prst="rect">
            <a:avLst/>
          </a:prstGeom>
          <a:noFill/>
          <a:ln/>
        </p:spPr>
        <p:txBody>
          <a:bodyPr wrap="square" lIns="0" tIns="0" rIns="0" bIns="0" rtlCol="0" anchor="ctr"/>
          <a:lstStyle/>
          <a:p>
            <a:pPr marL="0" indent="0">
              <a:buNone/>
            </a:pPr>
            <a:r>
              <a:rPr lang="en-US" sz="1000" dirty="0">
                <a:solidFill>
                  <a:schemeClr val="tx2"/>
                </a:solidFill>
              </a:rPr>
              <a:t>Industrials: median of 58–65 companies per year. Healthcare: fixed 40-firm panel. Samples and methods differ.</a:t>
            </a:r>
            <a:endParaRPr lang="en-US" sz="1000" dirty="0"/>
          </a:p>
        </p:txBody>
      </p:sp>
      <p:graphicFrame>
        <p:nvGraphicFramePr>
          <p:cNvPr id="6" name="Chart 0"/>
          <p:cNvGraphicFramePr/>
          <p:nvPr/>
        </p:nvGraphicFramePr>
        <p:xfrm>
          <a:off x="457200" y="1508760"/>
          <a:ext cx="566928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7" name="Gap card"/>
          <p:cNvSpPr/>
          <p:nvPr/>
        </p:nvSpPr>
        <p:spPr>
          <a:xfrm>
            <a:off x="6400800" y="1737360"/>
            <a:ext cx="2286000" cy="2468880"/>
          </a:xfrm>
          <a:prstGeom prst="roundRect">
            <a:avLst>
              <a:gd name="adj" fmla="val 4000"/>
            </a:avLst>
          </a:prstGeom>
          <a:solidFill>
            <a:schemeClr val="bg2"/>
          </a:solidFill>
          <a:ln/>
        </p:spPr>
        <p:txBody>
          <a:bodyPr/>
          <a:lstStyle/>
          <a:p>
            <a:endParaRPr lang="en-US"/>
          </a:p>
        </p:txBody>
      </p:sp>
      <p:sp>
        <p:nvSpPr>
          <p:cNvPr id="8" name="Gap value"/>
          <p:cNvSpPr txBox="1"/>
          <p:nvPr/>
        </p:nvSpPr>
        <p:spPr>
          <a:xfrm>
            <a:off x="6400800" y="1920240"/>
            <a:ext cx="2286000" cy="731520"/>
          </a:xfrm>
          <a:prstGeom prst="rect">
            <a:avLst/>
          </a:prstGeom>
          <a:noFill/>
          <a:ln/>
        </p:spPr>
        <p:txBody>
          <a:bodyPr wrap="square" lIns="0" tIns="0" rIns="0" bIns="0" rtlCol="0" anchor="ctr"/>
          <a:lstStyle/>
          <a:p>
            <a:pPr marL="0" indent="0" algn="ctr">
              <a:buNone/>
            </a:pPr>
            <a:r>
              <a:rPr lang="en-US" sz="3600" b="1" dirty="0">
                <a:solidFill>
                  <a:schemeClr val="accent1"/>
                </a:solidFill>
              </a:rPr>
              <a:t>12.8 pts</a:t>
            </a:r>
            <a:endParaRPr lang="en-US" sz="3600" dirty="0"/>
          </a:p>
        </p:txBody>
      </p:sp>
      <p:sp>
        <p:nvSpPr>
          <p:cNvPr id="9" name="Gap label"/>
          <p:cNvSpPr txBox="1"/>
          <p:nvPr/>
        </p:nvSpPr>
        <p:spPr>
          <a:xfrm>
            <a:off x="6583680" y="2743200"/>
            <a:ext cx="1920240" cy="914400"/>
          </a:xfrm>
          <a:prstGeom prst="rect">
            <a:avLst/>
          </a:prstGeom>
          <a:noFill/>
          <a:ln/>
        </p:spPr>
        <p:txBody>
          <a:bodyPr wrap="square" lIns="0" tIns="0" rIns="0" bIns="0" rtlCol="0" anchor="t"/>
          <a:lstStyle/>
          <a:p>
            <a:pPr marL="0" indent="0" algn="ctr">
              <a:buNone/>
            </a:pPr>
            <a:r>
              <a:rPr lang="en-US" sz="1400" dirty="0">
                <a:solidFill>
                  <a:schemeClr val="tx1"/>
                </a:solidFill>
              </a:rPr>
              <a:t>Industrial lead in median ROE, FY2025 (3.7 pts in FY2020)</a:t>
            </a:r>
            <a:endParaRPr lang="en-US" sz="1400" dirty="0"/>
          </a:p>
        </p:txBody>
      </p:sp>
      <p:sp>
        <p:nvSpPr>
          <p:cNvPr id="10" name="Gap values"/>
          <p:cNvSpPr txBox="1"/>
          <p:nvPr/>
        </p:nvSpPr>
        <p:spPr>
          <a:xfrm>
            <a:off x="6583680" y="3657600"/>
            <a:ext cx="1920240" cy="365760"/>
          </a:xfrm>
          <a:prstGeom prst="rect">
            <a:avLst/>
          </a:prstGeom>
          <a:noFill/>
          <a:ln/>
        </p:spPr>
        <p:txBody>
          <a:bodyPr wrap="square" lIns="0" tIns="0" rIns="0" bIns="0" rtlCol="0" anchor="t"/>
          <a:lstStyle/>
          <a:p>
            <a:pPr marL="0" indent="0" algn="ctr">
              <a:buNone/>
            </a:pPr>
            <a:r>
              <a:rPr lang="en-US" sz="1400" b="1" dirty="0">
                <a:solidFill>
                  <a:schemeClr val="tx1"/>
                </a:solidFill>
              </a:rPr>
              <a:t>25.5% vs 12.7%</a:t>
            </a:r>
            <a:endParaRPr lang="en-US" sz="14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65760"/>
            <a:ext cx="8229600" cy="640080"/>
          </a:xfrm>
          <a:prstGeom prst="rect">
            <a:avLst/>
          </a:prstGeom>
          <a:noFill/>
          <a:ln/>
        </p:spPr>
        <p:txBody>
          <a:bodyPr wrap="square" lIns="0" tIns="0" rIns="0" bIns="0" rtlCol="0" anchor="t"/>
          <a:lstStyle/>
          <a:p>
            <a:pPr marL="0" indent="0">
              <a:buNone/>
            </a:pPr>
            <a:r>
              <a:rPr lang="en-US" sz="3400" b="1" dirty="0">
                <a:solidFill>
                  <a:schemeClr val="tx1"/>
                </a:solidFill>
              </a:rPr>
              <a:t>Same years, different cycles</a:t>
            </a:r>
            <a:endParaRPr lang="en-US" sz="3400" dirty="0"/>
          </a:p>
        </p:txBody>
      </p:sp>
      <p:sp>
        <p:nvSpPr>
          <p:cNvPr id="3" name="Text 0"/>
          <p:cNvSpPr>
            <a:spLocks noGrp="1"/>
          </p:cNvSpPr>
          <p:nvPr>
            <p:ph type="body" idx="101" hasCustomPrompt="1"/>
          </p:nvPr>
        </p:nvSpPr>
        <p:spPr>
          <a:xfrm>
            <a:off x="457200" y="1005840"/>
            <a:ext cx="8229600" cy="365760"/>
          </a:xfrm>
          <a:prstGeom prst="rect">
            <a:avLst/>
          </a:prstGeom>
          <a:noFill/>
          <a:ln/>
        </p:spPr>
        <p:txBody>
          <a:bodyPr wrap="square" lIns="0" tIns="0" rIns="0" bIns="0" rtlCol="0" anchor="ctr"/>
          <a:lstStyle/>
          <a:p>
            <a:pPr marL="0" indent="0">
              <a:buNone/>
            </a:pPr>
            <a:r>
              <a:rPr lang="en-US" sz="1600" dirty="0">
                <a:solidFill>
                  <a:schemeClr val="tx2"/>
                </a:solidFill>
              </a:rPr>
              <a:t>Industrial ROE climbed through shock, cost and trade phases; healthcare peaked early</a:t>
            </a:r>
            <a:endParaRPr lang="en-US" sz="1600" dirty="0"/>
          </a:p>
        </p:txBody>
      </p:sp>
      <p:sp>
        <p:nvSpPr>
          <p:cNvPr id="4" name="Text 0"/>
          <p:cNvSpPr>
            <a:spLocks noGrp="1"/>
          </p:cNvSpPr>
          <p:nvPr>
            <p:ph type="body" idx="102" hasCustomPrompt="1"/>
          </p:nvPr>
        </p:nvSpPr>
        <p:spPr>
          <a:xfrm>
            <a:off x="457200" y="4663440"/>
            <a:ext cx="7589520" cy="274320"/>
          </a:xfrm>
          <a:prstGeom prst="rect">
            <a:avLst/>
          </a:prstGeom>
          <a:noFill/>
          <a:ln/>
        </p:spPr>
        <p:txBody>
          <a:bodyPr wrap="square" lIns="0" tIns="0" rIns="0" bIns="0" rtlCol="0" anchor="ctr"/>
          <a:lstStyle/>
          <a:p>
            <a:pPr marL="0" indent="0">
              <a:buNone/>
            </a:pPr>
            <a:r>
              <a:rPr lang="en-US" sz="1000" dirty="0">
                <a:solidFill>
                  <a:schemeClr val="tx2"/>
                </a:solidFill>
              </a:rPr>
              <a:t>Median ROE at the start and end of each phase. Industrial themes: share of filings. Healthcare: fixed 40-firm panel.</a:t>
            </a:r>
            <a:endParaRPr lang="en-US" sz="1000" dirty="0"/>
          </a:p>
        </p:txBody>
      </p:sp>
      <p:sp>
        <p:nvSpPr>
          <p:cNvPr id="6" name="Phase header 1"/>
          <p:cNvSpPr txBox="1"/>
          <p:nvPr/>
        </p:nvSpPr>
        <p:spPr>
          <a:xfrm>
            <a:off x="1691640" y="1463040"/>
            <a:ext cx="2240280" cy="320040"/>
          </a:xfrm>
          <a:prstGeom prst="rect">
            <a:avLst/>
          </a:prstGeom>
          <a:noFill/>
          <a:ln/>
        </p:spPr>
        <p:txBody>
          <a:bodyPr wrap="square" lIns="0" tIns="0" rIns="0" bIns="0" rtlCol="0" anchor="t"/>
          <a:lstStyle/>
          <a:p>
            <a:pPr marL="0" indent="0">
              <a:buNone/>
            </a:pPr>
            <a:r>
              <a:rPr lang="en-US" sz="1400" b="1" dirty="0">
                <a:solidFill>
                  <a:schemeClr val="tx2"/>
                </a:solidFill>
              </a:rPr>
              <a:t>FY2020–21</a:t>
            </a:r>
            <a:endParaRPr lang="en-US" sz="1400" dirty="0"/>
          </a:p>
        </p:txBody>
      </p:sp>
      <p:sp>
        <p:nvSpPr>
          <p:cNvPr id="7" name="Phase header 2"/>
          <p:cNvSpPr txBox="1"/>
          <p:nvPr/>
        </p:nvSpPr>
        <p:spPr>
          <a:xfrm>
            <a:off x="4041648" y="1463040"/>
            <a:ext cx="2240280" cy="320040"/>
          </a:xfrm>
          <a:prstGeom prst="rect">
            <a:avLst/>
          </a:prstGeom>
          <a:noFill/>
          <a:ln/>
        </p:spPr>
        <p:txBody>
          <a:bodyPr wrap="square" lIns="0" tIns="0" rIns="0" bIns="0" rtlCol="0" anchor="t"/>
          <a:lstStyle/>
          <a:p>
            <a:pPr marL="0" indent="0">
              <a:buNone/>
            </a:pPr>
            <a:r>
              <a:rPr lang="en-US" sz="1400" b="1" dirty="0">
                <a:solidFill>
                  <a:schemeClr val="tx2"/>
                </a:solidFill>
              </a:rPr>
              <a:t>FY2022–23</a:t>
            </a:r>
            <a:endParaRPr lang="en-US" sz="1400" dirty="0"/>
          </a:p>
        </p:txBody>
      </p:sp>
      <p:sp>
        <p:nvSpPr>
          <p:cNvPr id="8" name="Phase header 3"/>
          <p:cNvSpPr txBox="1"/>
          <p:nvPr/>
        </p:nvSpPr>
        <p:spPr>
          <a:xfrm>
            <a:off x="6391656" y="1463040"/>
            <a:ext cx="2240280" cy="320040"/>
          </a:xfrm>
          <a:prstGeom prst="rect">
            <a:avLst/>
          </a:prstGeom>
          <a:noFill/>
          <a:ln/>
        </p:spPr>
        <p:txBody>
          <a:bodyPr wrap="square" lIns="0" tIns="0" rIns="0" bIns="0" rtlCol="0" anchor="t"/>
          <a:lstStyle/>
          <a:p>
            <a:pPr marL="0" indent="0">
              <a:buNone/>
            </a:pPr>
            <a:r>
              <a:rPr lang="en-US" sz="1400" b="1" dirty="0">
                <a:solidFill>
                  <a:schemeClr val="tx2"/>
                </a:solidFill>
              </a:rPr>
              <a:t>FY2024–25</a:t>
            </a:r>
            <a:endParaRPr lang="en-US" sz="1400" dirty="0"/>
          </a:p>
        </p:txBody>
      </p:sp>
      <p:sp>
        <p:nvSpPr>
          <p:cNvPr id="9" name="Industrials label card"/>
          <p:cNvSpPr/>
          <p:nvPr/>
        </p:nvSpPr>
        <p:spPr>
          <a:xfrm>
            <a:off x="457200" y="1828800"/>
            <a:ext cx="1143000" cy="1280160"/>
          </a:xfrm>
          <a:prstGeom prst="roundRect">
            <a:avLst>
              <a:gd name="adj" fmla="val 8000"/>
            </a:avLst>
          </a:prstGeom>
          <a:solidFill>
            <a:schemeClr val="accent1"/>
          </a:solidFill>
          <a:ln/>
        </p:spPr>
        <p:txBody>
          <a:bodyPr/>
          <a:lstStyle/>
          <a:p>
            <a:endParaRPr lang="en-US"/>
          </a:p>
        </p:txBody>
      </p:sp>
      <p:sp>
        <p:nvSpPr>
          <p:cNvPr id="10" name="Industrials row label"/>
          <p:cNvSpPr txBox="1"/>
          <p:nvPr/>
        </p:nvSpPr>
        <p:spPr>
          <a:xfrm>
            <a:off x="457200" y="1828800"/>
            <a:ext cx="1143000" cy="1280160"/>
          </a:xfrm>
          <a:prstGeom prst="rect">
            <a:avLst/>
          </a:prstGeom>
          <a:noFill/>
          <a:ln/>
        </p:spPr>
        <p:txBody>
          <a:bodyPr wrap="square" lIns="0" tIns="0" rIns="0" bIns="0" rtlCol="0" anchor="ctr"/>
          <a:lstStyle/>
          <a:p>
            <a:pPr marL="0" indent="0" algn="ctr">
              <a:buNone/>
            </a:pPr>
            <a:r>
              <a:rPr lang="en-US" sz="1400" b="1" dirty="0">
                <a:solidFill>
                  <a:schemeClr val="bg1"/>
                </a:solidFill>
              </a:rPr>
              <a:t>Industrials</a:t>
            </a:r>
            <a:endParaRPr lang="en-US" sz="1400" dirty="0"/>
          </a:p>
        </p:txBody>
      </p:sp>
      <p:sp>
        <p:nvSpPr>
          <p:cNvPr id="11" name="Industrials cell 1"/>
          <p:cNvSpPr/>
          <p:nvPr/>
        </p:nvSpPr>
        <p:spPr>
          <a:xfrm>
            <a:off x="1691640" y="1828800"/>
            <a:ext cx="2240280" cy="1280160"/>
          </a:xfrm>
          <a:prstGeom prst="roundRect">
            <a:avLst>
              <a:gd name="adj" fmla="val 7143"/>
            </a:avLst>
          </a:prstGeom>
          <a:solidFill>
            <a:schemeClr val="bg2"/>
          </a:solidFill>
          <a:ln/>
        </p:spPr>
        <p:txBody>
          <a:bodyPr/>
          <a:lstStyle/>
          <a:p>
            <a:endParaRPr lang="en-US"/>
          </a:p>
        </p:txBody>
      </p:sp>
      <p:sp>
        <p:nvSpPr>
          <p:cNvPr id="12" name="Industrials cell text 1"/>
          <p:cNvSpPr txBox="1"/>
          <p:nvPr/>
        </p:nvSpPr>
        <p:spPr>
          <a:xfrm>
            <a:off x="1801368" y="1920240"/>
            <a:ext cx="2020824" cy="1115568"/>
          </a:xfrm>
          <a:prstGeom prst="rect">
            <a:avLst/>
          </a:prstGeom>
          <a:noFill/>
          <a:ln/>
        </p:spPr>
        <p:txBody>
          <a:bodyPr wrap="square" lIns="0" tIns="0" rIns="0" bIns="0" rtlCol="0" anchor="t"/>
          <a:lstStyle/>
          <a:p>
            <a:pPr marL="0" indent="0">
              <a:buNone/>
            </a:pPr>
            <a:r>
              <a:rPr lang="en-US" sz="1800" b="1" dirty="0">
                <a:solidFill>
                  <a:schemeClr val="accent1"/>
                </a:solidFill>
              </a:rPr>
              <a:t>19.4% → 20.8%</a:t>
            </a:r>
            <a:endParaRPr lang="en-US" sz="1400" dirty="0"/>
          </a:p>
          <a:p>
            <a:pPr marL="0" indent="0">
              <a:buNone/>
            </a:pPr>
            <a:r>
              <a:rPr lang="en-US" sz="1300" dirty="0">
                <a:solidFill>
                  <a:schemeClr val="tx1"/>
                </a:solidFill>
              </a:rPr>
              <a:t>COVID named in 74%, then 66%, of filings</a:t>
            </a:r>
            <a:endParaRPr lang="en-US" sz="1400" dirty="0"/>
          </a:p>
        </p:txBody>
      </p:sp>
      <p:sp>
        <p:nvSpPr>
          <p:cNvPr id="13" name="Industrials cell 2"/>
          <p:cNvSpPr/>
          <p:nvPr/>
        </p:nvSpPr>
        <p:spPr>
          <a:xfrm>
            <a:off x="4041648" y="1828800"/>
            <a:ext cx="2240280" cy="1280160"/>
          </a:xfrm>
          <a:prstGeom prst="roundRect">
            <a:avLst>
              <a:gd name="adj" fmla="val 7143"/>
            </a:avLst>
          </a:prstGeom>
          <a:solidFill>
            <a:schemeClr val="bg2"/>
          </a:solidFill>
          <a:ln/>
        </p:spPr>
        <p:txBody>
          <a:bodyPr/>
          <a:lstStyle/>
          <a:p>
            <a:endParaRPr lang="en-US"/>
          </a:p>
        </p:txBody>
      </p:sp>
      <p:sp>
        <p:nvSpPr>
          <p:cNvPr id="14" name="Industrials cell text 2"/>
          <p:cNvSpPr txBox="1"/>
          <p:nvPr/>
        </p:nvSpPr>
        <p:spPr>
          <a:xfrm>
            <a:off x="4151376" y="1920240"/>
            <a:ext cx="2020824" cy="1115568"/>
          </a:xfrm>
          <a:prstGeom prst="rect">
            <a:avLst/>
          </a:prstGeom>
          <a:noFill/>
          <a:ln/>
        </p:spPr>
        <p:txBody>
          <a:bodyPr wrap="square" lIns="0" tIns="0" rIns="0" bIns="0" rtlCol="0" anchor="t"/>
          <a:lstStyle/>
          <a:p>
            <a:pPr marL="0" indent="0">
              <a:buNone/>
            </a:pPr>
            <a:r>
              <a:rPr lang="en-US" sz="1800" b="1" dirty="0">
                <a:solidFill>
                  <a:schemeClr val="accent1"/>
                </a:solidFill>
              </a:rPr>
              <a:t>20.0% → 21.8%</a:t>
            </a:r>
            <a:endParaRPr lang="en-US" sz="1400" dirty="0"/>
          </a:p>
          <a:p>
            <a:pPr marL="0" indent="0">
              <a:buNone/>
            </a:pPr>
            <a:r>
              <a:rPr lang="en-US" sz="1300" dirty="0">
                <a:solidFill>
                  <a:schemeClr val="tx1"/>
                </a:solidFill>
              </a:rPr>
              <a:t>Raw materials and inflation in about half of filings</a:t>
            </a:r>
            <a:endParaRPr lang="en-US" sz="1400" dirty="0"/>
          </a:p>
        </p:txBody>
      </p:sp>
      <p:sp>
        <p:nvSpPr>
          <p:cNvPr id="15" name="Industrials cell 3"/>
          <p:cNvSpPr/>
          <p:nvPr/>
        </p:nvSpPr>
        <p:spPr>
          <a:xfrm>
            <a:off x="6391656" y="1828800"/>
            <a:ext cx="2240280" cy="1280160"/>
          </a:xfrm>
          <a:prstGeom prst="roundRect">
            <a:avLst>
              <a:gd name="adj" fmla="val 7143"/>
            </a:avLst>
          </a:prstGeom>
          <a:solidFill>
            <a:schemeClr val="bg2"/>
          </a:solidFill>
          <a:ln/>
        </p:spPr>
        <p:txBody>
          <a:bodyPr/>
          <a:lstStyle/>
          <a:p>
            <a:endParaRPr lang="en-US"/>
          </a:p>
        </p:txBody>
      </p:sp>
      <p:sp>
        <p:nvSpPr>
          <p:cNvPr id="16" name="Industrials cell text 3"/>
          <p:cNvSpPr txBox="1"/>
          <p:nvPr/>
        </p:nvSpPr>
        <p:spPr>
          <a:xfrm>
            <a:off x="6501384" y="1920240"/>
            <a:ext cx="2020824" cy="1115568"/>
          </a:xfrm>
          <a:prstGeom prst="rect">
            <a:avLst/>
          </a:prstGeom>
          <a:noFill/>
          <a:ln/>
        </p:spPr>
        <p:txBody>
          <a:bodyPr wrap="square" lIns="0" tIns="0" rIns="0" bIns="0" rtlCol="0" anchor="t"/>
          <a:lstStyle/>
          <a:p>
            <a:pPr marL="0" indent="0">
              <a:buNone/>
            </a:pPr>
            <a:r>
              <a:rPr lang="en-US" sz="1800" b="1" dirty="0">
                <a:solidFill>
                  <a:schemeClr val="accent1"/>
                </a:solidFill>
              </a:rPr>
              <a:t>25.0% → 25.5%</a:t>
            </a:r>
            <a:endParaRPr lang="en-US" sz="1400" dirty="0"/>
          </a:p>
          <a:p>
            <a:pPr marL="0" indent="0">
              <a:buNone/>
            </a:pPr>
            <a:r>
              <a:rPr lang="en-US" sz="1300" dirty="0">
                <a:solidFill>
                  <a:schemeClr val="tx1"/>
                </a:solidFill>
              </a:rPr>
              <a:t>Geopolitics and trade rising, 33% to 41%</a:t>
            </a:r>
            <a:endParaRPr lang="en-US" sz="1400" dirty="0"/>
          </a:p>
        </p:txBody>
      </p:sp>
      <p:sp>
        <p:nvSpPr>
          <p:cNvPr id="17" name="Healthcare label card"/>
          <p:cNvSpPr/>
          <p:nvPr/>
        </p:nvSpPr>
        <p:spPr>
          <a:xfrm>
            <a:off x="457200" y="3246120"/>
            <a:ext cx="1143000" cy="1280160"/>
          </a:xfrm>
          <a:prstGeom prst="roundRect">
            <a:avLst>
              <a:gd name="adj" fmla="val 8000"/>
            </a:avLst>
          </a:prstGeom>
          <a:solidFill>
            <a:schemeClr val="accent2"/>
          </a:solidFill>
          <a:ln/>
        </p:spPr>
        <p:txBody>
          <a:bodyPr/>
          <a:lstStyle/>
          <a:p>
            <a:endParaRPr lang="en-US"/>
          </a:p>
        </p:txBody>
      </p:sp>
      <p:sp>
        <p:nvSpPr>
          <p:cNvPr id="18" name="Healthcare row label"/>
          <p:cNvSpPr txBox="1"/>
          <p:nvPr/>
        </p:nvSpPr>
        <p:spPr>
          <a:xfrm>
            <a:off x="457200" y="3246120"/>
            <a:ext cx="1143000" cy="1280160"/>
          </a:xfrm>
          <a:prstGeom prst="rect">
            <a:avLst/>
          </a:prstGeom>
          <a:noFill/>
          <a:ln/>
        </p:spPr>
        <p:txBody>
          <a:bodyPr wrap="square" lIns="0" tIns="0" rIns="0" bIns="0" rtlCol="0" anchor="ctr"/>
          <a:lstStyle/>
          <a:p>
            <a:pPr marL="0" indent="0" algn="ctr">
              <a:buNone/>
            </a:pPr>
            <a:r>
              <a:rPr lang="en-US" sz="1400" b="1" dirty="0">
                <a:solidFill>
                  <a:schemeClr val="bg1"/>
                </a:solidFill>
              </a:rPr>
              <a:t>Healthcare</a:t>
            </a:r>
            <a:endParaRPr lang="en-US" sz="1400" dirty="0"/>
          </a:p>
        </p:txBody>
      </p:sp>
      <p:sp>
        <p:nvSpPr>
          <p:cNvPr id="19" name="Healthcare cell 1"/>
          <p:cNvSpPr/>
          <p:nvPr/>
        </p:nvSpPr>
        <p:spPr>
          <a:xfrm>
            <a:off x="1691640" y="3246120"/>
            <a:ext cx="2240280" cy="1280160"/>
          </a:xfrm>
          <a:prstGeom prst="roundRect">
            <a:avLst>
              <a:gd name="adj" fmla="val 7143"/>
            </a:avLst>
          </a:prstGeom>
          <a:solidFill>
            <a:schemeClr val="bg2"/>
          </a:solidFill>
          <a:ln/>
        </p:spPr>
        <p:txBody>
          <a:bodyPr/>
          <a:lstStyle/>
          <a:p>
            <a:endParaRPr lang="en-US"/>
          </a:p>
        </p:txBody>
      </p:sp>
      <p:sp>
        <p:nvSpPr>
          <p:cNvPr id="20" name="Healthcare cell text 1"/>
          <p:cNvSpPr txBox="1"/>
          <p:nvPr/>
        </p:nvSpPr>
        <p:spPr>
          <a:xfrm>
            <a:off x="1801368" y="3337560"/>
            <a:ext cx="2020824" cy="1115568"/>
          </a:xfrm>
          <a:prstGeom prst="rect">
            <a:avLst/>
          </a:prstGeom>
          <a:noFill/>
          <a:ln/>
        </p:spPr>
        <p:txBody>
          <a:bodyPr wrap="square" lIns="0" tIns="0" rIns="0" bIns="0" rtlCol="0" anchor="t"/>
          <a:lstStyle/>
          <a:p>
            <a:pPr marL="0" indent="0">
              <a:buNone/>
            </a:pPr>
            <a:r>
              <a:rPr lang="en-US" sz="1800" b="1" dirty="0">
                <a:solidFill>
                  <a:schemeClr val="accent2"/>
                </a:solidFill>
              </a:rPr>
              <a:t>15.7% → 18.7%</a:t>
            </a:r>
            <a:endParaRPr lang="en-US" sz="1400" dirty="0"/>
          </a:p>
          <a:p>
            <a:pPr marL="0" indent="0">
              <a:buNone/>
            </a:pPr>
            <a:r>
              <a:rPr lang="en-US" sz="1300" dirty="0">
                <a:solidFill>
                  <a:schemeClr val="tx1"/>
                </a:solidFill>
              </a:rPr>
              <a:t>Peak year: median margin reached 17.45% in 2021</a:t>
            </a:r>
            <a:endParaRPr lang="en-US" sz="1400" dirty="0"/>
          </a:p>
        </p:txBody>
      </p:sp>
      <p:sp>
        <p:nvSpPr>
          <p:cNvPr id="21" name="Healthcare cell 2"/>
          <p:cNvSpPr/>
          <p:nvPr/>
        </p:nvSpPr>
        <p:spPr>
          <a:xfrm>
            <a:off x="4041648" y="3246120"/>
            <a:ext cx="2240280" cy="1280160"/>
          </a:xfrm>
          <a:prstGeom prst="roundRect">
            <a:avLst>
              <a:gd name="adj" fmla="val 7143"/>
            </a:avLst>
          </a:prstGeom>
          <a:solidFill>
            <a:schemeClr val="bg2"/>
          </a:solidFill>
          <a:ln/>
        </p:spPr>
        <p:txBody>
          <a:bodyPr/>
          <a:lstStyle/>
          <a:p>
            <a:endParaRPr lang="en-US"/>
          </a:p>
        </p:txBody>
      </p:sp>
      <p:sp>
        <p:nvSpPr>
          <p:cNvPr id="22" name="Healthcare cell text 2"/>
          <p:cNvSpPr txBox="1"/>
          <p:nvPr/>
        </p:nvSpPr>
        <p:spPr>
          <a:xfrm>
            <a:off x="4151376" y="3337560"/>
            <a:ext cx="2020824" cy="1115568"/>
          </a:xfrm>
          <a:prstGeom prst="rect">
            <a:avLst/>
          </a:prstGeom>
          <a:noFill/>
          <a:ln/>
        </p:spPr>
        <p:txBody>
          <a:bodyPr wrap="square" lIns="0" tIns="0" rIns="0" bIns="0" rtlCol="0" anchor="t"/>
          <a:lstStyle/>
          <a:p>
            <a:pPr marL="0" indent="0">
              <a:buNone/>
            </a:pPr>
            <a:r>
              <a:rPr lang="en-US" sz="1800" b="1" dirty="0">
                <a:solidFill>
                  <a:schemeClr val="accent2"/>
                </a:solidFill>
              </a:rPr>
              <a:t>15.9% → 13.2%</a:t>
            </a:r>
            <a:endParaRPr lang="en-US" sz="1400" dirty="0"/>
          </a:p>
          <a:p>
            <a:pPr marL="0" indent="0">
              <a:buNone/>
            </a:pPr>
            <a:r>
              <a:rPr lang="en-US" sz="1300" dirty="0">
                <a:solidFill>
                  <a:schemeClr val="tx1"/>
                </a:solidFill>
              </a:rPr>
              <a:t>All three DuPont drivers weighed on mean ROE in 2023</a:t>
            </a:r>
            <a:endParaRPr lang="en-US" sz="1400" dirty="0"/>
          </a:p>
        </p:txBody>
      </p:sp>
      <p:sp>
        <p:nvSpPr>
          <p:cNvPr id="23" name="Healthcare cell 3"/>
          <p:cNvSpPr/>
          <p:nvPr/>
        </p:nvSpPr>
        <p:spPr>
          <a:xfrm>
            <a:off x="6391656" y="3246120"/>
            <a:ext cx="2240280" cy="1280160"/>
          </a:xfrm>
          <a:prstGeom prst="roundRect">
            <a:avLst>
              <a:gd name="adj" fmla="val 7143"/>
            </a:avLst>
          </a:prstGeom>
          <a:solidFill>
            <a:schemeClr val="bg2"/>
          </a:solidFill>
          <a:ln/>
        </p:spPr>
        <p:txBody>
          <a:bodyPr/>
          <a:lstStyle/>
          <a:p>
            <a:endParaRPr lang="en-US"/>
          </a:p>
        </p:txBody>
      </p:sp>
      <p:sp>
        <p:nvSpPr>
          <p:cNvPr id="24" name="Healthcare cell text 3"/>
          <p:cNvSpPr txBox="1"/>
          <p:nvPr/>
        </p:nvSpPr>
        <p:spPr>
          <a:xfrm>
            <a:off x="6501384" y="3337560"/>
            <a:ext cx="2020824" cy="1115568"/>
          </a:xfrm>
          <a:prstGeom prst="rect">
            <a:avLst/>
          </a:prstGeom>
          <a:noFill/>
          <a:ln/>
        </p:spPr>
        <p:txBody>
          <a:bodyPr wrap="square" lIns="0" tIns="0" rIns="0" bIns="0" rtlCol="0" anchor="t"/>
          <a:lstStyle/>
          <a:p>
            <a:pPr marL="0" indent="0">
              <a:buNone/>
            </a:pPr>
            <a:r>
              <a:rPr lang="en-US" sz="1800" b="1" dirty="0">
                <a:solidFill>
                  <a:schemeClr val="accent2"/>
                </a:solidFill>
              </a:rPr>
              <a:t>11.1% → 12.7%</a:t>
            </a:r>
            <a:endParaRPr lang="en-US" sz="1400" dirty="0"/>
          </a:p>
          <a:p>
            <a:pPr marL="0" indent="0">
              <a:buNone/>
            </a:pPr>
            <a:r>
              <a:rPr lang="en-US" sz="1300" dirty="0">
                <a:solidFill>
                  <a:schemeClr val="tx1"/>
                </a:solidFill>
              </a:rPr>
              <a:t>Partial recovery, led by margin (+4.34 pts)</a:t>
            </a:r>
            <a:endParaRPr lang="en-US" sz="14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65760"/>
            <a:ext cx="8229600" cy="640080"/>
          </a:xfrm>
          <a:prstGeom prst="rect">
            <a:avLst/>
          </a:prstGeom>
          <a:noFill/>
          <a:ln/>
        </p:spPr>
        <p:txBody>
          <a:bodyPr wrap="square" lIns="0" tIns="0" rIns="0" bIns="0" rtlCol="0" anchor="t"/>
          <a:lstStyle/>
          <a:p>
            <a:pPr marL="0" indent="0">
              <a:buNone/>
            </a:pPr>
            <a:r>
              <a:rPr lang="en-US" sz="3400" b="1" dirty="0">
                <a:solidFill>
                  <a:schemeClr val="tx1"/>
                </a:solidFill>
              </a:rPr>
              <a:t>Thin equity lifts ROE</a:t>
            </a:r>
            <a:endParaRPr lang="en-US" sz="3400" dirty="0"/>
          </a:p>
        </p:txBody>
      </p:sp>
      <p:sp>
        <p:nvSpPr>
          <p:cNvPr id="3" name="Text 0"/>
          <p:cNvSpPr>
            <a:spLocks noGrp="1"/>
          </p:cNvSpPr>
          <p:nvPr>
            <p:ph type="body" idx="101" hasCustomPrompt="1"/>
          </p:nvPr>
        </p:nvSpPr>
        <p:spPr>
          <a:xfrm>
            <a:off x="457200" y="1005840"/>
            <a:ext cx="8229600" cy="365760"/>
          </a:xfrm>
          <a:prstGeom prst="rect">
            <a:avLst/>
          </a:prstGeom>
          <a:noFill/>
          <a:ln/>
        </p:spPr>
        <p:txBody>
          <a:bodyPr wrap="square" lIns="0" tIns="0" rIns="0" bIns="0" rtlCol="0" anchor="ctr"/>
          <a:lstStyle/>
          <a:p>
            <a:pPr marL="0" indent="0">
              <a:buNone/>
            </a:pPr>
            <a:r>
              <a:rPr lang="en-US" sz="1600" dirty="0">
                <a:solidFill>
                  <a:schemeClr val="tx2"/>
                </a:solidFill>
              </a:rPr>
              <a:t>Industrial outliers and Amgen carry multipliers of 9–10×; IDEXX does not</a:t>
            </a:r>
            <a:endParaRPr lang="en-US" sz="1600" dirty="0"/>
          </a:p>
        </p:txBody>
      </p:sp>
      <p:sp>
        <p:nvSpPr>
          <p:cNvPr id="4" name="Text 0"/>
          <p:cNvSpPr>
            <a:spLocks noGrp="1"/>
          </p:cNvSpPr>
          <p:nvPr>
            <p:ph type="body" idx="102" hasCustomPrompt="1"/>
          </p:nvPr>
        </p:nvSpPr>
        <p:spPr>
          <a:xfrm>
            <a:off x="457200" y="4663440"/>
            <a:ext cx="7589520" cy="274320"/>
          </a:xfrm>
          <a:prstGeom prst="rect">
            <a:avLst/>
          </a:prstGeom>
          <a:noFill/>
          <a:ln/>
        </p:spPr>
        <p:txBody>
          <a:bodyPr wrap="square" lIns="0" tIns="0" rIns="0" bIns="0" rtlCol="0" anchor="ctr"/>
          <a:lstStyle/>
          <a:p>
            <a:pPr marL="0" indent="0">
              <a:buNone/>
            </a:pPr>
            <a:r>
              <a:rPr lang="en-US" sz="1000" dirty="0">
                <a:solidFill>
                  <a:schemeClr val="tx2"/>
                </a:solidFill>
              </a:rPr>
              <a:t>Industrial multipliers parsed from DuPont write-ups (19 of 20 high outliers). Healthcare from the SEC-derived panel. Medians vs single firms.</a:t>
            </a:r>
            <a:endParaRPr lang="en-US" sz="1000" dirty="0"/>
          </a:p>
        </p:txBody>
      </p:sp>
      <p:graphicFrame>
        <p:nvGraphicFramePr>
          <p:cNvPr id="6" name="Chart 0"/>
          <p:cNvGraphicFramePr/>
          <p:nvPr/>
        </p:nvGraphicFramePr>
        <p:xfrm>
          <a:off x="457200" y="1554480"/>
          <a:ext cx="530352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7" name="Leverage card"/>
          <p:cNvSpPr/>
          <p:nvPr/>
        </p:nvSpPr>
        <p:spPr>
          <a:xfrm>
            <a:off x="6035040" y="1645920"/>
            <a:ext cx="2651760" cy="2743200"/>
          </a:xfrm>
          <a:prstGeom prst="roundRect">
            <a:avLst>
              <a:gd name="adj" fmla="val 3448"/>
            </a:avLst>
          </a:prstGeom>
          <a:solidFill>
            <a:schemeClr val="bg2"/>
          </a:solidFill>
          <a:ln/>
        </p:spPr>
        <p:txBody>
          <a:bodyPr/>
          <a:lstStyle/>
          <a:p>
            <a:endParaRPr lang="en-US"/>
          </a:p>
        </p:txBody>
      </p:sp>
      <p:sp>
        <p:nvSpPr>
          <p:cNvPr id="8" name="Leverage text"/>
          <p:cNvSpPr txBox="1"/>
          <p:nvPr/>
        </p:nvSpPr>
        <p:spPr>
          <a:xfrm>
            <a:off x="6217920" y="1783080"/>
            <a:ext cx="2286000" cy="2468880"/>
          </a:xfrm>
          <a:prstGeom prst="rect">
            <a:avLst/>
          </a:prstGeom>
          <a:noFill/>
          <a:ln/>
        </p:spPr>
        <p:txBody>
          <a:bodyPr wrap="square" lIns="0" tIns="0" rIns="0" bIns="0" rtlCol="0" anchor="t"/>
          <a:lstStyle/>
          <a:p>
            <a:pPr marL="0" indent="0">
              <a:buNone/>
            </a:pPr>
            <a:r>
              <a:rPr lang="en-US" sz="1600" b="1" dirty="0">
                <a:solidFill>
                  <a:schemeClr val="tx1"/>
                </a:solidFill>
              </a:rPr>
              <a:t>Two routes to high ROE</a:t>
            </a:r>
            <a:endParaRPr lang="en-US" sz="1400" dirty="0"/>
          </a:p>
          <a:p>
            <a:pPr marL="0" indent="0">
              <a:buNone/>
            </a:pPr>
            <a:r>
              <a:rPr lang="en-US" sz="1400" dirty="0">
                <a:solidFill>
                  <a:schemeClr val="tx1"/>
                </a:solidFill>
              </a:rPr>
              <a:t>Leverage: industrial outliers and Amgen.</a:t>
            </a:r>
            <a:endParaRPr lang="en-US" sz="1400" dirty="0"/>
          </a:p>
          <a:p>
            <a:pPr marL="0" indent="0">
              <a:buNone/>
            </a:pPr>
            <a:r>
              <a:rPr lang="en-US" sz="600" dirty="0">
                <a:solidFill>
                  <a:schemeClr val="tx1"/>
                </a:solidFill>
              </a:rPr>
              <a:t> </a:t>
            </a:r>
            <a:endParaRPr lang="en-US" sz="1400" dirty="0"/>
          </a:p>
          <a:p>
            <a:pPr marL="0" indent="0">
              <a:buNone/>
            </a:pPr>
            <a:r>
              <a:rPr lang="en-US" sz="1400" dirty="0">
                <a:solidFill>
                  <a:schemeClr val="tx1"/>
                </a:solidFill>
              </a:rPr>
              <a:t>Asset returns: IDEXX earns 66% ROE on a 2.1× multiplier.</a:t>
            </a:r>
            <a:endParaRPr lang="en-US" sz="14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65760"/>
            <a:ext cx="8229600" cy="640080"/>
          </a:xfrm>
          <a:prstGeom prst="rect">
            <a:avLst/>
          </a:prstGeom>
          <a:noFill/>
          <a:ln/>
        </p:spPr>
        <p:txBody>
          <a:bodyPr wrap="square" lIns="0" tIns="0" rIns="0" bIns="0" rtlCol="0" anchor="t"/>
          <a:lstStyle/>
          <a:p>
            <a:pPr marL="0" indent="0">
              <a:buNone/>
            </a:pPr>
            <a:r>
              <a:rPr lang="en-US" sz="3400" b="1" dirty="0">
                <a:solidFill>
                  <a:schemeClr val="tx1"/>
                </a:solidFill>
              </a:rPr>
              <a:t>What moves ROE in each sector</a:t>
            </a:r>
            <a:endParaRPr lang="en-US" sz="3400" dirty="0"/>
          </a:p>
        </p:txBody>
      </p:sp>
      <p:sp>
        <p:nvSpPr>
          <p:cNvPr id="3" name="Text 0"/>
          <p:cNvSpPr>
            <a:spLocks noGrp="1"/>
          </p:cNvSpPr>
          <p:nvPr>
            <p:ph type="body" idx="101" hasCustomPrompt="1"/>
          </p:nvPr>
        </p:nvSpPr>
        <p:spPr>
          <a:xfrm>
            <a:off x="457200" y="1005840"/>
            <a:ext cx="8229600" cy="365760"/>
          </a:xfrm>
          <a:prstGeom prst="rect">
            <a:avLst/>
          </a:prstGeom>
          <a:noFill/>
          <a:ln/>
        </p:spPr>
        <p:txBody>
          <a:bodyPr wrap="square" lIns="0" tIns="0" rIns="0" bIns="0" rtlCol="0" anchor="ctr"/>
          <a:lstStyle/>
          <a:p>
            <a:pPr marL="0" indent="0">
              <a:buNone/>
            </a:pPr>
            <a:r>
              <a:rPr lang="en-US" sz="1600" dirty="0">
                <a:solidFill>
                  <a:schemeClr val="tx2"/>
                </a:solidFill>
              </a:rPr>
              <a:t>Margin leads in both sectors; leverage matters most in the industrial tails</a:t>
            </a:r>
            <a:endParaRPr lang="en-US" sz="1600" dirty="0"/>
          </a:p>
        </p:txBody>
      </p:sp>
      <p:sp>
        <p:nvSpPr>
          <p:cNvPr id="4" name="Text 0"/>
          <p:cNvSpPr>
            <a:spLocks noGrp="1"/>
          </p:cNvSpPr>
          <p:nvPr>
            <p:ph type="body" idx="102" hasCustomPrompt="1"/>
          </p:nvPr>
        </p:nvSpPr>
        <p:spPr>
          <a:xfrm>
            <a:off x="457200" y="4663440"/>
            <a:ext cx="7589520" cy="274320"/>
          </a:xfrm>
          <a:prstGeom prst="rect">
            <a:avLst/>
          </a:prstGeom>
          <a:noFill/>
          <a:ln/>
        </p:spPr>
        <p:txBody>
          <a:bodyPr wrap="square" lIns="0" tIns="0" rIns="0" bIns="0" rtlCol="0" anchor="ctr"/>
          <a:lstStyle/>
          <a:p>
            <a:pPr marL="0" indent="0">
              <a:buNone/>
            </a:pPr>
            <a:r>
              <a:rPr lang="en-US" sz="1000" dirty="0">
                <a:solidFill>
                  <a:schemeClr val="tx2"/>
                </a:solidFill>
              </a:rPr>
              <a:t>Industrial shares: AI write-ups (467 of 472 filings). Healthcare: mean DuPont bridges for 40 firms. Methods differ.</a:t>
            </a:r>
            <a:endParaRPr lang="en-US" sz="1000" dirty="0"/>
          </a:p>
        </p:txBody>
      </p:sp>
      <p:graphicFrame>
        <p:nvGraphicFramePr>
          <p:cNvPr id="32" name="Data table"/>
          <p:cNvGraphicFramePr>
            <a:graphicFrameLocks noGrp="1"/>
          </p:cNvGraphicFramePr>
          <p:nvPr>
            <p:extLst>
              <p:ext uri="{D42A27DB-BD31-4B8C-83A1-F6EECF244321}">
                <p14:modId xmlns:p14="http://schemas.microsoft.com/office/powerpoint/2010/main" val="1579011935"/>
              </p:ext>
            </p:extLst>
          </p:nvPr>
        </p:nvGraphicFramePr>
        <p:xfrm>
          <a:off x="457200" y="1554480"/>
          <a:ext cx="8229600" cy="2926080"/>
        </p:xfrm>
        <a:graphic>
          <a:graphicData uri="http://schemas.openxmlformats.org/drawingml/2006/table">
            <a:tbl>
              <a:tblPr/>
              <a:tblGrid>
                <a:gridCol w="1737360">
                  <a:extLst>
                    <a:ext uri="{9D8B030D-6E8A-4147-A177-3AD203B41FA5}">
                      <a16:colId xmlns:a16="http://schemas.microsoft.com/office/drawing/2014/main" val="20000"/>
                    </a:ext>
                  </a:extLst>
                </a:gridCol>
                <a:gridCol w="3246120">
                  <a:extLst>
                    <a:ext uri="{9D8B030D-6E8A-4147-A177-3AD203B41FA5}">
                      <a16:colId xmlns:a16="http://schemas.microsoft.com/office/drawing/2014/main" val="20001"/>
                    </a:ext>
                  </a:extLst>
                </a:gridCol>
                <a:gridCol w="3246120">
                  <a:extLst>
                    <a:ext uri="{9D8B030D-6E8A-4147-A177-3AD203B41FA5}">
                      <a16:colId xmlns:a16="http://schemas.microsoft.com/office/drawing/2014/main" val="20002"/>
                    </a:ext>
                  </a:extLst>
                </a:gridCol>
              </a:tblGrid>
              <a:tr h="731520">
                <a:tc>
                  <a:txBody>
                    <a:bodyPr/>
                    <a:lstStyle/>
                    <a:p>
                      <a:pPr marL="0" indent="0" algn="l">
                        <a:buNone/>
                      </a:pPr>
                      <a:r>
                        <a:rPr lang="en-US" sz="1300" b="1" dirty="0">
                          <a:solidFill>
                            <a:schemeClr val="bg1"/>
                          </a:solidFill>
                        </a:rPr>
                        <a:t>Driver</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1F2933"/>
                    </a:solidFill>
                  </a:tcPr>
                </a:tc>
                <a:tc>
                  <a:txBody>
                    <a:bodyPr/>
                    <a:lstStyle/>
                    <a:p>
                      <a:pPr marL="0" indent="0" algn="l">
                        <a:buNone/>
                      </a:pPr>
                      <a:r>
                        <a:rPr lang="en-US" sz="1300" b="1" dirty="0">
                          <a:solidFill>
                            <a:schemeClr val="bg1"/>
                          </a:solidFill>
                        </a:rPr>
                        <a:t>Industrials</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D9480F"/>
                    </a:solidFill>
                  </a:tcPr>
                </a:tc>
                <a:tc>
                  <a:txBody>
                    <a:bodyPr/>
                    <a:lstStyle/>
                    <a:p>
                      <a:pPr marL="0" indent="0" algn="l">
                        <a:buNone/>
                      </a:pPr>
                      <a:r>
                        <a:rPr lang="en-US" sz="1300" b="1" dirty="0">
                          <a:solidFill>
                            <a:schemeClr val="bg1"/>
                          </a:solidFill>
                        </a:rPr>
                        <a:t>Healthcare</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3E7CB1"/>
                    </a:solidFill>
                  </a:tcPr>
                </a:tc>
                <a:extLst>
                  <a:ext uri="{0D108BD9-81ED-4DB2-BD59-A6C34878D82A}">
                    <a16:rowId xmlns:a16="http://schemas.microsoft.com/office/drawing/2014/main" val="10000"/>
                  </a:ext>
                </a:extLst>
              </a:tr>
              <a:tr h="731520">
                <a:tc>
                  <a:txBody>
                    <a:bodyPr/>
                    <a:lstStyle/>
                    <a:p>
                      <a:pPr marL="0" indent="0" algn="l">
                        <a:buNone/>
                      </a:pPr>
                      <a:r>
                        <a:rPr lang="en-US" sz="1300" b="1" dirty="0">
                          <a:solidFill>
                            <a:schemeClr val="tx1"/>
                          </a:solidFill>
                        </a:rPr>
                        <a:t>Profit margin</a:t>
                      </a:r>
                      <a:endParaRPr lang="en-US" sz="1300" dirty="0"/>
                    </a:p>
                  </a:txBody>
                  <a:tcPr marL="73152" marR="73152" marT="0" marB="0" anchor="ctr">
                    <a:lnL w="0" cap="flat" cmpd="sng" algn="ctr">
                      <a:noFill/>
                    </a:lnL>
                    <a:lnR w="0" cap="flat" cmpd="sng" algn="ctr">
                      <a:noFill/>
                    </a:lnR>
                    <a:lnT w="0" cap="flat" cmpd="sng" algn="ctr">
                      <a:noFill/>
                    </a:lnT>
                    <a:lnB w="9525" cap="flat" cmpd="sng" algn="ctr">
                      <a:solidFill>
                        <a:srgbClr val="7B8794"/>
                      </a:solidFill>
                      <a:prstDash val="solid"/>
                      <a:round/>
                      <a:headEnd type="none" w="med" len="med"/>
                      <a:tailEnd type="none" w="med" len="med"/>
                    </a:lnB>
                  </a:tcPr>
                </a:tc>
                <a:tc>
                  <a:txBody>
                    <a:bodyPr/>
                    <a:lstStyle/>
                    <a:p>
                      <a:pPr marL="0" indent="0" algn="l">
                        <a:buNone/>
                      </a:pPr>
                      <a:r>
                        <a:rPr lang="en-US" sz="1300" dirty="0">
                          <a:solidFill>
                            <a:schemeClr val="tx1"/>
                          </a:solidFill>
                        </a:rPr>
                        <a:t>Lead driver in 59% of filings. High outliers' margin is only ~5 pts above typical (15.5% vs 10.4%).</a:t>
                      </a:r>
                      <a:endParaRPr lang="en-US" sz="1300" dirty="0"/>
                    </a:p>
                  </a:txBody>
                  <a:tcPr marL="73152" marR="73152" marT="0" marB="0" anchor="ctr">
                    <a:lnL w="0" cap="flat" cmpd="sng" algn="ctr">
                      <a:noFill/>
                    </a:lnL>
                    <a:lnR w="0" cap="flat" cmpd="sng" algn="ctr">
                      <a:noFill/>
                    </a:lnR>
                    <a:lnT w="0" cap="flat" cmpd="sng" algn="ctr">
                      <a:noFill/>
                    </a:lnT>
                    <a:lnB w="9525" cap="flat" cmpd="sng" algn="ctr">
                      <a:solidFill>
                        <a:srgbClr val="7B8794"/>
                      </a:solidFill>
                      <a:prstDash val="solid"/>
                      <a:round/>
                      <a:headEnd type="none" w="med" len="med"/>
                      <a:tailEnd type="none" w="med" len="med"/>
                    </a:lnB>
                  </a:tcPr>
                </a:tc>
                <a:tc>
                  <a:txBody>
                    <a:bodyPr/>
                    <a:lstStyle/>
                    <a:p>
                      <a:pPr marL="0" indent="0" algn="l">
                        <a:buNone/>
                      </a:pPr>
                      <a:r>
                        <a:rPr lang="en-US" sz="1300" dirty="0">
                          <a:solidFill>
                            <a:schemeClr val="tx1"/>
                          </a:solidFill>
                        </a:rPr>
                        <a:t>Largest part of the 2025 rebound (+4.34 of +3.85 pts). Median margin ranged 9.94% to 17.45%.</a:t>
                      </a:r>
                      <a:endParaRPr lang="en-US" sz="1300" dirty="0"/>
                    </a:p>
                  </a:txBody>
                  <a:tcPr marL="73152" marR="73152" marT="0" marB="0" anchor="ctr">
                    <a:lnL w="0" cap="flat" cmpd="sng" algn="ctr">
                      <a:noFill/>
                    </a:lnL>
                    <a:lnR w="0" cap="flat" cmpd="sng" algn="ctr">
                      <a:noFill/>
                    </a:lnR>
                    <a:lnT w="0" cap="flat" cmpd="sng" algn="ctr">
                      <a:noFill/>
                    </a:lnT>
                    <a:lnB w="9525" cap="flat" cmpd="sng" algn="ctr">
                      <a:solidFill>
                        <a:srgbClr val="7B8794"/>
                      </a:solidFill>
                      <a:prstDash val="solid"/>
                      <a:round/>
                      <a:headEnd type="none" w="med" len="med"/>
                      <a:tailEnd type="none" w="med" len="med"/>
                    </a:lnB>
                  </a:tcPr>
                </a:tc>
                <a:extLst>
                  <a:ext uri="{0D108BD9-81ED-4DB2-BD59-A6C34878D82A}">
                    <a16:rowId xmlns:a16="http://schemas.microsoft.com/office/drawing/2014/main" val="10001"/>
                  </a:ext>
                </a:extLst>
              </a:tr>
              <a:tr h="731520">
                <a:tc>
                  <a:txBody>
                    <a:bodyPr/>
                    <a:lstStyle/>
                    <a:p>
                      <a:pPr marL="0" indent="0" algn="l">
                        <a:buNone/>
                      </a:pPr>
                      <a:r>
                        <a:rPr lang="en-US" sz="1300" b="1" dirty="0">
                          <a:solidFill>
                            <a:schemeClr val="tx1"/>
                          </a:solidFill>
                        </a:rPr>
                        <a:t>Asset turnover</a:t>
                      </a:r>
                      <a:endParaRPr lang="en-US" sz="13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tc>
                  <a:txBody>
                    <a:bodyPr/>
                    <a:lstStyle/>
                    <a:p>
                      <a:pPr marL="0" indent="0" algn="l">
                        <a:buNone/>
                      </a:pPr>
                      <a:r>
                        <a:rPr lang="en-US" sz="1300" dirty="0">
                          <a:solidFill>
                            <a:schemeClr val="tx1"/>
                          </a:solidFill>
                        </a:rPr>
                        <a:t>Never named as the lead driver.</a:t>
                      </a:r>
                      <a:endParaRPr lang="en-US" sz="13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tc>
                  <a:txBody>
                    <a:bodyPr/>
                    <a:lstStyle/>
                    <a:p>
                      <a:pPr marL="0" indent="0" algn="l">
                        <a:buNone/>
                      </a:pPr>
                      <a:r>
                        <a:rPr lang="en-US" sz="1300" dirty="0">
                          <a:solidFill>
                            <a:schemeClr val="tx1"/>
                          </a:solidFill>
                        </a:rPr>
                        <a:t>Small and steady: median 0.50× to 0.56×; +0.65 pts in 2025.</a:t>
                      </a:r>
                      <a:endParaRPr lang="en-US" sz="13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extLst>
                  <a:ext uri="{0D108BD9-81ED-4DB2-BD59-A6C34878D82A}">
                    <a16:rowId xmlns:a16="http://schemas.microsoft.com/office/drawing/2014/main" val="10002"/>
                  </a:ext>
                </a:extLst>
              </a:tr>
              <a:tr h="731520">
                <a:tc>
                  <a:txBody>
                    <a:bodyPr/>
                    <a:lstStyle/>
                    <a:p>
                      <a:pPr marL="0" indent="0" algn="l">
                        <a:buNone/>
                      </a:pPr>
                      <a:r>
                        <a:rPr lang="en-US" sz="1300" b="1" dirty="0">
                          <a:solidFill>
                            <a:schemeClr val="tx1"/>
                          </a:solidFill>
                        </a:rPr>
                        <a:t>Equity multiplier</a:t>
                      </a:r>
                      <a:endParaRPr lang="en-US" sz="13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tc>
                  <a:txBody>
                    <a:bodyPr/>
                    <a:lstStyle/>
                    <a:p>
                      <a:pPr marL="0" indent="0" algn="l">
                        <a:buNone/>
                      </a:pPr>
                      <a:r>
                        <a:rPr lang="en-US" sz="1300" dirty="0">
                          <a:solidFill>
                            <a:schemeClr val="tx1"/>
                          </a:solidFill>
                        </a:rPr>
                        <a:t>Lead driver in 41% of filings; median 8.9× among high outliers.</a:t>
                      </a:r>
                      <a:endParaRPr lang="en-US" sz="13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tc>
                  <a:txBody>
                    <a:bodyPr/>
                    <a:lstStyle/>
                    <a:p>
                      <a:pPr marL="0" indent="0" algn="l">
                        <a:buNone/>
                      </a:pPr>
                      <a:r>
                        <a:rPr lang="en-US" sz="1300" dirty="0">
                          <a:solidFill>
                            <a:schemeClr val="tx1"/>
                          </a:solidFill>
                        </a:rPr>
                        <a:t>Median drifted down from 2.29× to 2.13×; −1.14 pts in 2025.</a:t>
                      </a:r>
                      <a:endParaRPr lang="en-US" sz="1300" dirty="0"/>
                    </a:p>
                  </a:txBody>
                  <a:tcPr marL="73152" marR="73152" marT="0" marB="0" anchor="ctr">
                    <a:lnL w="0" cap="flat" cmpd="sng" algn="ctr">
                      <a:noFill/>
                    </a:lnL>
                    <a:lnR w="0" cap="flat" cmpd="sng" algn="ctr">
                      <a:noFill/>
                    </a:lnR>
                    <a:lnT w="9525" cap="flat" cmpd="sng" algn="ctr">
                      <a:solidFill>
                        <a:srgbClr val="7B8794"/>
                      </a:solidFill>
                      <a:prstDash val="solid"/>
                      <a:round/>
                      <a:headEnd type="none" w="med" len="med"/>
                      <a:tailEnd type="none" w="med" len="med"/>
                    </a:lnT>
                    <a:lnB w="9525" cap="flat" cmpd="sng" algn="ctr">
                      <a:solidFill>
                        <a:srgbClr val="7B8794"/>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65760"/>
            <a:ext cx="8229600" cy="640080"/>
          </a:xfrm>
          <a:prstGeom prst="rect">
            <a:avLst/>
          </a:prstGeom>
          <a:noFill/>
          <a:ln/>
        </p:spPr>
        <p:txBody>
          <a:bodyPr wrap="square" lIns="0" tIns="0" rIns="0" bIns="0" rtlCol="0" anchor="t"/>
          <a:lstStyle/>
          <a:p>
            <a:pPr marL="0" indent="0">
              <a:buNone/>
            </a:pPr>
            <a:r>
              <a:rPr lang="en-US" sz="3400" b="1" dirty="0">
                <a:solidFill>
                  <a:schemeClr val="tx1"/>
                </a:solidFill>
              </a:rPr>
              <a:t>Outliers and the average</a:t>
            </a:r>
            <a:endParaRPr lang="en-US" sz="3400" dirty="0"/>
          </a:p>
        </p:txBody>
      </p:sp>
      <p:sp>
        <p:nvSpPr>
          <p:cNvPr id="3" name="Text 0"/>
          <p:cNvSpPr>
            <a:spLocks noGrp="1"/>
          </p:cNvSpPr>
          <p:nvPr>
            <p:ph type="body" idx="101" hasCustomPrompt="1"/>
          </p:nvPr>
        </p:nvSpPr>
        <p:spPr>
          <a:xfrm>
            <a:off x="457200" y="1005840"/>
            <a:ext cx="8229600" cy="365760"/>
          </a:xfrm>
          <a:prstGeom prst="rect">
            <a:avLst/>
          </a:prstGeom>
          <a:noFill/>
          <a:ln/>
        </p:spPr>
        <p:txBody>
          <a:bodyPr wrap="square" lIns="0" tIns="0" rIns="0" bIns="0" rtlCol="0" anchor="ctr"/>
          <a:lstStyle/>
          <a:p>
            <a:pPr marL="0" indent="0">
              <a:buNone/>
            </a:pPr>
            <a:r>
              <a:rPr lang="en-US" sz="1600" dirty="0">
                <a:solidFill>
                  <a:schemeClr val="tx2"/>
                </a:solidFill>
              </a:rPr>
              <a:t>Both sectors have a few extreme firms that pull the average</a:t>
            </a:r>
            <a:endParaRPr lang="en-US" sz="1600" dirty="0"/>
          </a:p>
        </p:txBody>
      </p:sp>
      <p:sp>
        <p:nvSpPr>
          <p:cNvPr id="4" name="Text 0"/>
          <p:cNvSpPr>
            <a:spLocks noGrp="1"/>
          </p:cNvSpPr>
          <p:nvPr>
            <p:ph type="body" idx="102" hasCustomPrompt="1"/>
          </p:nvPr>
        </p:nvSpPr>
        <p:spPr>
          <a:xfrm>
            <a:off x="457200" y="4663440"/>
            <a:ext cx="7589520" cy="274320"/>
          </a:xfrm>
          <a:prstGeom prst="rect">
            <a:avLst/>
          </a:prstGeom>
          <a:noFill/>
          <a:ln/>
        </p:spPr>
        <p:txBody>
          <a:bodyPr wrap="square" lIns="0" tIns="0" rIns="0" bIns="0" rtlCol="0" anchor="ctr"/>
          <a:lstStyle/>
          <a:p>
            <a:pPr marL="0" indent="0">
              <a:buNone/>
            </a:pPr>
            <a:r>
              <a:rPr lang="en-US" sz="1000" dirty="0">
                <a:solidFill>
                  <a:schemeClr val="tx2"/>
                </a:solidFill>
              </a:rPr>
              <a:t>Units differ: industrials count filings, healthcare counts company averages. Outliers are flagged by IQR rules in both.</a:t>
            </a:r>
            <a:endParaRPr lang="en-US" sz="1000" dirty="0"/>
          </a:p>
        </p:txBody>
      </p:sp>
      <p:sp>
        <p:nvSpPr>
          <p:cNvPr id="6" name="Industrials heading"/>
          <p:cNvSpPr txBox="1"/>
          <p:nvPr/>
        </p:nvSpPr>
        <p:spPr>
          <a:xfrm>
            <a:off x="457200" y="1463040"/>
            <a:ext cx="4023360" cy="320040"/>
          </a:xfrm>
          <a:prstGeom prst="rect">
            <a:avLst/>
          </a:prstGeom>
          <a:noFill/>
          <a:ln/>
        </p:spPr>
        <p:txBody>
          <a:bodyPr wrap="square" lIns="0" tIns="0" rIns="0" bIns="0" rtlCol="0" anchor="t"/>
          <a:lstStyle/>
          <a:p>
            <a:pPr marL="0" indent="0">
              <a:buNone/>
            </a:pPr>
            <a:r>
              <a:rPr lang="en-US" sz="2000" b="1" dirty="0">
                <a:solidFill>
                  <a:schemeClr val="accent1"/>
                </a:solidFill>
              </a:rPr>
              <a:t>Industrials</a:t>
            </a:r>
            <a:endParaRPr lang="en-US" sz="2000" dirty="0"/>
          </a:p>
        </p:txBody>
      </p:sp>
      <p:sp>
        <p:nvSpPr>
          <p:cNvPr id="7" name="Industrials outlier card 1"/>
          <p:cNvSpPr/>
          <p:nvPr/>
        </p:nvSpPr>
        <p:spPr>
          <a:xfrm>
            <a:off x="457200" y="1874520"/>
            <a:ext cx="4023360" cy="1188720"/>
          </a:xfrm>
          <a:prstGeom prst="roundRect">
            <a:avLst>
              <a:gd name="adj" fmla="val 7692"/>
            </a:avLst>
          </a:prstGeom>
          <a:solidFill>
            <a:schemeClr val="bg2"/>
          </a:solidFill>
          <a:ln/>
        </p:spPr>
        <p:txBody>
          <a:bodyPr/>
          <a:lstStyle/>
          <a:p>
            <a:endParaRPr lang="en-US"/>
          </a:p>
        </p:txBody>
      </p:sp>
      <p:sp>
        <p:nvSpPr>
          <p:cNvPr id="8" name="Industrials outlier value 1"/>
          <p:cNvSpPr txBox="1"/>
          <p:nvPr/>
        </p:nvSpPr>
        <p:spPr>
          <a:xfrm>
            <a:off x="594360" y="1874520"/>
            <a:ext cx="1600200" cy="1188720"/>
          </a:xfrm>
          <a:prstGeom prst="rect">
            <a:avLst/>
          </a:prstGeom>
          <a:noFill/>
          <a:ln/>
        </p:spPr>
        <p:txBody>
          <a:bodyPr wrap="square" lIns="0" tIns="0" rIns="0" bIns="0" rtlCol="0" anchor="ctr"/>
          <a:lstStyle/>
          <a:p>
            <a:pPr marL="0" indent="0" algn="ctr">
              <a:buNone/>
            </a:pPr>
            <a:r>
              <a:rPr lang="en-US" sz="3000" b="1" dirty="0">
                <a:solidFill>
                  <a:schemeClr val="accent1"/>
                </a:solidFill>
              </a:rPr>
              <a:t>28</a:t>
            </a:r>
            <a:endParaRPr lang="en-US" sz="3000" dirty="0"/>
          </a:p>
        </p:txBody>
      </p:sp>
      <p:sp>
        <p:nvSpPr>
          <p:cNvPr id="9" name="Industrials outlier label 1"/>
          <p:cNvSpPr txBox="1"/>
          <p:nvPr/>
        </p:nvSpPr>
        <p:spPr>
          <a:xfrm>
            <a:off x="2286000" y="1874520"/>
            <a:ext cx="2011680" cy="1188720"/>
          </a:xfrm>
          <a:prstGeom prst="rect">
            <a:avLst/>
          </a:prstGeom>
          <a:noFill/>
          <a:ln/>
        </p:spPr>
        <p:txBody>
          <a:bodyPr wrap="square" lIns="0" tIns="0" rIns="0" bIns="0" rtlCol="0" anchor="ctr"/>
          <a:lstStyle/>
          <a:p>
            <a:pPr marL="0" indent="0">
              <a:buNone/>
            </a:pPr>
            <a:r>
              <a:rPr lang="en-US" sz="1400" dirty="0">
                <a:solidFill>
                  <a:schemeClr val="tx1"/>
                </a:solidFill>
              </a:rPr>
              <a:t>outlier filings across 14 companies (7% of 376)</a:t>
            </a:r>
            <a:endParaRPr lang="en-US" sz="1400" dirty="0"/>
          </a:p>
        </p:txBody>
      </p:sp>
      <p:sp>
        <p:nvSpPr>
          <p:cNvPr id="10" name="Industrials outlier card 2"/>
          <p:cNvSpPr/>
          <p:nvPr/>
        </p:nvSpPr>
        <p:spPr>
          <a:xfrm>
            <a:off x="457200" y="3246120"/>
            <a:ext cx="4023360" cy="1188720"/>
          </a:xfrm>
          <a:prstGeom prst="roundRect">
            <a:avLst>
              <a:gd name="adj" fmla="val 7692"/>
            </a:avLst>
          </a:prstGeom>
          <a:solidFill>
            <a:schemeClr val="bg2"/>
          </a:solidFill>
          <a:ln/>
        </p:spPr>
        <p:txBody>
          <a:bodyPr/>
          <a:lstStyle/>
          <a:p>
            <a:endParaRPr lang="en-US"/>
          </a:p>
        </p:txBody>
      </p:sp>
      <p:sp>
        <p:nvSpPr>
          <p:cNvPr id="11" name="Industrials outlier value 2"/>
          <p:cNvSpPr txBox="1"/>
          <p:nvPr/>
        </p:nvSpPr>
        <p:spPr>
          <a:xfrm>
            <a:off x="594360" y="3246120"/>
            <a:ext cx="1600200" cy="1188720"/>
          </a:xfrm>
          <a:prstGeom prst="rect">
            <a:avLst/>
          </a:prstGeom>
          <a:noFill/>
          <a:ln/>
        </p:spPr>
        <p:txBody>
          <a:bodyPr wrap="square" lIns="0" tIns="0" rIns="0" bIns="0" rtlCol="0" anchor="ctr"/>
          <a:lstStyle/>
          <a:p>
            <a:pPr marL="0" indent="0" algn="ctr">
              <a:buNone/>
            </a:pPr>
            <a:r>
              <a:rPr lang="en-US" sz="3000" b="1" dirty="0">
                <a:solidFill>
                  <a:schemeClr val="accent1"/>
                </a:solidFill>
              </a:rPr>
              <a:t>17 of 20</a:t>
            </a:r>
            <a:endParaRPr lang="en-US" sz="3000" dirty="0"/>
          </a:p>
        </p:txBody>
      </p:sp>
      <p:sp>
        <p:nvSpPr>
          <p:cNvPr id="12" name="Industrials outlier label 2"/>
          <p:cNvSpPr txBox="1"/>
          <p:nvPr/>
        </p:nvSpPr>
        <p:spPr>
          <a:xfrm>
            <a:off x="2286000" y="3246120"/>
            <a:ext cx="2011680" cy="1188720"/>
          </a:xfrm>
          <a:prstGeom prst="rect">
            <a:avLst/>
          </a:prstGeom>
          <a:noFill/>
          <a:ln/>
        </p:spPr>
        <p:txBody>
          <a:bodyPr wrap="square" lIns="0" tIns="0" rIns="0" bIns="0" rtlCol="0" anchor="ctr"/>
          <a:lstStyle/>
          <a:p>
            <a:pPr marL="0" indent="0">
              <a:buNone/>
            </a:pPr>
            <a:r>
              <a:rPr lang="en-US" sz="1400" dirty="0">
                <a:solidFill>
                  <a:schemeClr val="tx1"/>
                </a:solidFill>
              </a:rPr>
              <a:t>high outliers come from six companies</a:t>
            </a:r>
            <a:endParaRPr lang="en-US" sz="1400" dirty="0"/>
          </a:p>
        </p:txBody>
      </p:sp>
      <p:sp>
        <p:nvSpPr>
          <p:cNvPr id="13" name="Healthcare heading"/>
          <p:cNvSpPr txBox="1"/>
          <p:nvPr/>
        </p:nvSpPr>
        <p:spPr>
          <a:xfrm>
            <a:off x="4663440" y="1463040"/>
            <a:ext cx="4023360" cy="320040"/>
          </a:xfrm>
          <a:prstGeom prst="rect">
            <a:avLst/>
          </a:prstGeom>
          <a:noFill/>
          <a:ln/>
        </p:spPr>
        <p:txBody>
          <a:bodyPr wrap="square" lIns="0" tIns="0" rIns="0" bIns="0" rtlCol="0" anchor="t"/>
          <a:lstStyle/>
          <a:p>
            <a:pPr marL="0" indent="0">
              <a:buNone/>
            </a:pPr>
            <a:r>
              <a:rPr lang="en-US" sz="2000" b="1" dirty="0">
                <a:solidFill>
                  <a:schemeClr val="accent2"/>
                </a:solidFill>
              </a:rPr>
              <a:t>Healthcare</a:t>
            </a:r>
            <a:endParaRPr lang="en-US" sz="2000" dirty="0"/>
          </a:p>
        </p:txBody>
      </p:sp>
      <p:sp>
        <p:nvSpPr>
          <p:cNvPr id="14" name="Healthcare outlier card 1"/>
          <p:cNvSpPr/>
          <p:nvPr/>
        </p:nvSpPr>
        <p:spPr>
          <a:xfrm>
            <a:off x="4663440" y="1874520"/>
            <a:ext cx="4023360" cy="1188720"/>
          </a:xfrm>
          <a:prstGeom prst="roundRect">
            <a:avLst>
              <a:gd name="adj" fmla="val 7692"/>
            </a:avLst>
          </a:prstGeom>
          <a:solidFill>
            <a:schemeClr val="bg2"/>
          </a:solidFill>
          <a:ln/>
        </p:spPr>
        <p:txBody>
          <a:bodyPr/>
          <a:lstStyle/>
          <a:p>
            <a:endParaRPr lang="en-US"/>
          </a:p>
        </p:txBody>
      </p:sp>
      <p:sp>
        <p:nvSpPr>
          <p:cNvPr id="15" name="Healthcare outlier value 1"/>
          <p:cNvSpPr txBox="1"/>
          <p:nvPr/>
        </p:nvSpPr>
        <p:spPr>
          <a:xfrm>
            <a:off x="4800600" y="1874520"/>
            <a:ext cx="1600200" cy="1188720"/>
          </a:xfrm>
          <a:prstGeom prst="rect">
            <a:avLst/>
          </a:prstGeom>
          <a:noFill/>
          <a:ln/>
        </p:spPr>
        <p:txBody>
          <a:bodyPr wrap="square" lIns="0" tIns="0" rIns="0" bIns="0" rtlCol="0" anchor="ctr"/>
          <a:lstStyle/>
          <a:p>
            <a:pPr marL="0" indent="0" algn="ctr">
              <a:buNone/>
            </a:pPr>
            <a:r>
              <a:rPr lang="en-US" sz="3000" b="1" dirty="0">
                <a:solidFill>
                  <a:schemeClr val="accent2"/>
                </a:solidFill>
              </a:rPr>
              <a:t>5 of 43</a:t>
            </a:r>
            <a:endParaRPr lang="en-US" sz="3000" dirty="0"/>
          </a:p>
        </p:txBody>
      </p:sp>
      <p:sp>
        <p:nvSpPr>
          <p:cNvPr id="16" name="Healthcare outlier label 1"/>
          <p:cNvSpPr txBox="1"/>
          <p:nvPr/>
        </p:nvSpPr>
        <p:spPr>
          <a:xfrm>
            <a:off x="6492240" y="1874520"/>
            <a:ext cx="2011680" cy="1188720"/>
          </a:xfrm>
          <a:prstGeom prst="rect">
            <a:avLst/>
          </a:prstGeom>
          <a:noFill/>
          <a:ln/>
        </p:spPr>
        <p:txBody>
          <a:bodyPr wrap="square" lIns="0" tIns="0" rIns="0" bIns="0" rtlCol="0" anchor="ctr"/>
          <a:lstStyle/>
          <a:p>
            <a:pPr marL="0" indent="0">
              <a:buNone/>
            </a:pPr>
            <a:r>
              <a:rPr lang="en-US" sz="1400" dirty="0">
                <a:solidFill>
                  <a:schemeClr val="tx1"/>
                </a:solidFill>
              </a:rPr>
              <a:t>companies flagged by the ROE IQR rule</a:t>
            </a:r>
            <a:endParaRPr lang="en-US" sz="1400" dirty="0"/>
          </a:p>
        </p:txBody>
      </p:sp>
      <p:sp>
        <p:nvSpPr>
          <p:cNvPr id="17" name="Healthcare outlier card 2"/>
          <p:cNvSpPr/>
          <p:nvPr/>
        </p:nvSpPr>
        <p:spPr>
          <a:xfrm>
            <a:off x="4663440" y="3246120"/>
            <a:ext cx="4023360" cy="1188720"/>
          </a:xfrm>
          <a:prstGeom prst="roundRect">
            <a:avLst>
              <a:gd name="adj" fmla="val 7692"/>
            </a:avLst>
          </a:prstGeom>
          <a:solidFill>
            <a:schemeClr val="bg2"/>
          </a:solidFill>
          <a:ln/>
        </p:spPr>
        <p:txBody>
          <a:bodyPr/>
          <a:lstStyle/>
          <a:p>
            <a:endParaRPr lang="en-US"/>
          </a:p>
        </p:txBody>
      </p:sp>
      <p:sp>
        <p:nvSpPr>
          <p:cNvPr id="18" name="Healthcare outlier value 2"/>
          <p:cNvSpPr txBox="1"/>
          <p:nvPr/>
        </p:nvSpPr>
        <p:spPr>
          <a:xfrm>
            <a:off x="4800600" y="3246120"/>
            <a:ext cx="1600200" cy="1188720"/>
          </a:xfrm>
          <a:prstGeom prst="rect">
            <a:avLst/>
          </a:prstGeom>
          <a:noFill/>
          <a:ln/>
        </p:spPr>
        <p:txBody>
          <a:bodyPr wrap="square" lIns="0" tIns="0" rIns="0" bIns="0" rtlCol="0" anchor="ctr"/>
          <a:lstStyle/>
          <a:p>
            <a:pPr marL="0" indent="0" algn="ctr">
              <a:buNone/>
            </a:pPr>
            <a:r>
              <a:rPr lang="en-US" sz="3000" b="1" dirty="0">
                <a:solidFill>
                  <a:schemeClr val="accent2"/>
                </a:solidFill>
              </a:rPr>
              <a:t>−7.2 pts</a:t>
            </a:r>
            <a:endParaRPr lang="en-US" sz="3000" dirty="0"/>
          </a:p>
        </p:txBody>
      </p:sp>
      <p:sp>
        <p:nvSpPr>
          <p:cNvPr id="19" name="Healthcare outlier label 2"/>
          <p:cNvSpPr txBox="1"/>
          <p:nvPr/>
        </p:nvSpPr>
        <p:spPr>
          <a:xfrm>
            <a:off x="6492240" y="3246120"/>
            <a:ext cx="2011680" cy="1188720"/>
          </a:xfrm>
          <a:prstGeom prst="rect">
            <a:avLst/>
          </a:prstGeom>
          <a:noFill/>
          <a:ln/>
        </p:spPr>
        <p:txBody>
          <a:bodyPr wrap="square" lIns="0" tIns="0" rIns="0" bIns="0" rtlCol="0" anchor="ctr"/>
          <a:lstStyle/>
          <a:p>
            <a:pPr marL="0" indent="0">
              <a:buNone/>
            </a:pPr>
            <a:r>
              <a:rPr lang="en-US" sz="1400" dirty="0">
                <a:solidFill>
                  <a:schemeClr val="tx1"/>
                </a:solidFill>
              </a:rPr>
              <a:t>drop in mean company ROE once they are excluded</a:t>
            </a:r>
            <a:endParaRPr lang="en-US" sz="14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65760"/>
            <a:ext cx="8229600" cy="640080"/>
          </a:xfrm>
          <a:prstGeom prst="rect">
            <a:avLst/>
          </a:prstGeom>
          <a:noFill/>
          <a:ln/>
        </p:spPr>
        <p:txBody>
          <a:bodyPr wrap="square" lIns="0" tIns="0" rIns="0" bIns="0" rtlCol="0" anchor="t"/>
          <a:lstStyle/>
          <a:p>
            <a:pPr marL="0" indent="0">
              <a:buNone/>
            </a:pPr>
            <a:r>
              <a:rPr lang="en-US" sz="3400" b="1" dirty="0">
                <a:solidFill>
                  <a:schemeClr val="tx1"/>
                </a:solidFill>
              </a:rPr>
              <a:t>3M: exposure is not disruption</a:t>
            </a:r>
            <a:endParaRPr lang="en-US" sz="3400" dirty="0"/>
          </a:p>
        </p:txBody>
      </p:sp>
      <p:sp>
        <p:nvSpPr>
          <p:cNvPr id="3" name="Text 0"/>
          <p:cNvSpPr>
            <a:spLocks noGrp="1"/>
          </p:cNvSpPr>
          <p:nvPr>
            <p:ph type="body" idx="101" hasCustomPrompt="1"/>
          </p:nvPr>
        </p:nvSpPr>
        <p:spPr>
          <a:xfrm>
            <a:off x="457200" y="1005840"/>
            <a:ext cx="8229600" cy="365760"/>
          </a:xfrm>
          <a:prstGeom prst="rect">
            <a:avLst/>
          </a:prstGeom>
          <a:noFill/>
          <a:ln/>
        </p:spPr>
        <p:txBody>
          <a:bodyPr wrap="square" lIns="0" tIns="0" rIns="0" bIns="0" rtlCol="0" anchor="ctr"/>
          <a:lstStyle/>
          <a:p>
            <a:pPr marL="0" indent="0">
              <a:buNone/>
            </a:pPr>
            <a:r>
              <a:rPr lang="en-US" sz="1600" dirty="0">
                <a:solidFill>
                  <a:schemeClr val="tx2"/>
                </a:solidFill>
              </a:rPr>
              <a:t>Disclosed exposure need not mean disruption: monitor outcomes next to the risk text</a:t>
            </a:r>
            <a:endParaRPr lang="en-US" sz="1600" dirty="0"/>
          </a:p>
        </p:txBody>
      </p:sp>
      <p:sp>
        <p:nvSpPr>
          <p:cNvPr id="4" name="Text 0"/>
          <p:cNvSpPr>
            <a:spLocks noGrp="1"/>
          </p:cNvSpPr>
          <p:nvPr>
            <p:ph type="body" idx="102" hasCustomPrompt="1"/>
          </p:nvPr>
        </p:nvSpPr>
        <p:spPr>
          <a:xfrm>
            <a:off x="457200" y="4663440"/>
            <a:ext cx="7589520" cy="274320"/>
          </a:xfrm>
          <a:prstGeom prst="rect">
            <a:avLst/>
          </a:prstGeom>
          <a:noFill/>
          <a:ln/>
        </p:spPr>
        <p:txBody>
          <a:bodyPr wrap="square" lIns="0" tIns="0" rIns="0" bIns="0" rtlCol="0" anchor="ctr"/>
          <a:lstStyle/>
          <a:p>
            <a:pPr marL="0" indent="0">
              <a:buNone/>
            </a:pPr>
            <a:r>
              <a:rPr lang="en-US" sz="1000" dirty="0">
                <a:solidFill>
                  <a:schemeClr val="tx2"/>
                </a:solidFill>
              </a:rPr>
              <a:t>3M 2024 10-K (Item 1A and MD&amp;A). One verified industrial case; no claim of sector-wide prevalence or correlation.</a:t>
            </a:r>
            <a:endParaRPr lang="en-US" sz="1000" dirty="0"/>
          </a:p>
        </p:txBody>
      </p:sp>
      <p:sp>
        <p:nvSpPr>
          <p:cNvPr id="6" name="Flow card 1"/>
          <p:cNvSpPr/>
          <p:nvPr/>
        </p:nvSpPr>
        <p:spPr>
          <a:xfrm>
            <a:off x="457200" y="1645920"/>
            <a:ext cx="2286000" cy="2011680"/>
          </a:xfrm>
          <a:prstGeom prst="roundRect">
            <a:avLst>
              <a:gd name="adj" fmla="val 4545"/>
            </a:avLst>
          </a:prstGeom>
          <a:solidFill>
            <a:schemeClr val="bg2"/>
          </a:solidFill>
          <a:ln/>
        </p:spPr>
        <p:txBody>
          <a:bodyPr/>
          <a:lstStyle/>
          <a:p>
            <a:endParaRPr lang="en-US"/>
          </a:p>
        </p:txBody>
      </p:sp>
      <p:sp>
        <p:nvSpPr>
          <p:cNvPr id="7" name="Flow 1 dot"/>
          <p:cNvSpPr/>
          <p:nvPr/>
        </p:nvSpPr>
        <p:spPr>
          <a:xfrm>
            <a:off x="640080" y="1783080"/>
            <a:ext cx="365760" cy="365760"/>
          </a:xfrm>
          <a:prstGeom prst="ellipse">
            <a:avLst/>
          </a:prstGeom>
          <a:solidFill>
            <a:schemeClr val="accent1"/>
          </a:solidFill>
          <a:ln/>
        </p:spPr>
        <p:txBody>
          <a:bodyPr/>
          <a:lstStyle/>
          <a:p>
            <a:endParaRPr lang="en-US"/>
          </a:p>
        </p:txBody>
      </p:sp>
      <p:sp>
        <p:nvSpPr>
          <p:cNvPr id="8" name="Flow 1 number"/>
          <p:cNvSpPr txBox="1"/>
          <p:nvPr/>
        </p:nvSpPr>
        <p:spPr>
          <a:xfrm>
            <a:off x="640080" y="1783080"/>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9" name="Flow text 1"/>
          <p:cNvSpPr txBox="1"/>
          <p:nvPr/>
        </p:nvSpPr>
        <p:spPr>
          <a:xfrm>
            <a:off x="640080" y="2286000"/>
            <a:ext cx="1920240" cy="1325880"/>
          </a:xfrm>
          <a:prstGeom prst="rect">
            <a:avLst/>
          </a:prstGeom>
          <a:noFill/>
          <a:ln/>
        </p:spPr>
        <p:txBody>
          <a:bodyPr wrap="square" lIns="0" tIns="0" rIns="0" bIns="0" rtlCol="0" anchor="t"/>
          <a:lstStyle/>
          <a:p>
            <a:pPr marL="0" indent="0">
              <a:buNone/>
            </a:pPr>
            <a:r>
              <a:rPr lang="en-US" sz="1600" b="1" dirty="0">
                <a:solidFill>
                  <a:schemeClr val="tx1"/>
                </a:solidFill>
              </a:rPr>
              <a:t>Disclosed exposure</a:t>
            </a:r>
            <a:endParaRPr lang="en-US" sz="1400" dirty="0"/>
          </a:p>
          <a:p>
            <a:pPr marL="0" indent="0">
              <a:buNone/>
            </a:pPr>
            <a:r>
              <a:rPr lang="en-US" sz="1400" dirty="0">
                <a:solidFill>
                  <a:schemeClr val="tx1"/>
                </a:solidFill>
              </a:rPr>
              <a:t>Some suppliers are limited- or sole-source, creating operating exposure.</a:t>
            </a:r>
            <a:endParaRPr lang="en-US" sz="1400" dirty="0"/>
          </a:p>
        </p:txBody>
      </p:sp>
      <p:sp>
        <p:nvSpPr>
          <p:cNvPr id="10" name="Flow arrow 1"/>
          <p:cNvSpPr txBox="1"/>
          <p:nvPr/>
        </p:nvSpPr>
        <p:spPr>
          <a:xfrm>
            <a:off x="2743200" y="2377440"/>
            <a:ext cx="685800" cy="548640"/>
          </a:xfrm>
          <a:prstGeom prst="rect">
            <a:avLst/>
          </a:prstGeom>
          <a:noFill/>
          <a:ln/>
        </p:spPr>
        <p:txBody>
          <a:bodyPr wrap="square" lIns="0" tIns="0" rIns="0" bIns="0" rtlCol="0" anchor="ctr"/>
          <a:lstStyle/>
          <a:p>
            <a:pPr marL="0" indent="0" algn="ctr">
              <a:buNone/>
            </a:pPr>
            <a:r>
              <a:rPr lang="en-US" sz="2800" b="1" dirty="0">
                <a:solidFill>
                  <a:schemeClr val="tx2"/>
                </a:solidFill>
              </a:rPr>
              <a:t>→</a:t>
            </a:r>
            <a:endParaRPr lang="en-US" sz="2800" dirty="0"/>
          </a:p>
        </p:txBody>
      </p:sp>
      <p:sp>
        <p:nvSpPr>
          <p:cNvPr id="11" name="Flow card 2"/>
          <p:cNvSpPr/>
          <p:nvPr/>
        </p:nvSpPr>
        <p:spPr>
          <a:xfrm>
            <a:off x="3429000" y="1645920"/>
            <a:ext cx="2286000" cy="2011680"/>
          </a:xfrm>
          <a:prstGeom prst="roundRect">
            <a:avLst>
              <a:gd name="adj" fmla="val 4545"/>
            </a:avLst>
          </a:prstGeom>
          <a:solidFill>
            <a:schemeClr val="bg2"/>
          </a:solidFill>
          <a:ln/>
        </p:spPr>
        <p:txBody>
          <a:bodyPr/>
          <a:lstStyle/>
          <a:p>
            <a:endParaRPr lang="en-US"/>
          </a:p>
        </p:txBody>
      </p:sp>
      <p:sp>
        <p:nvSpPr>
          <p:cNvPr id="12" name="Flow 2 dot"/>
          <p:cNvSpPr/>
          <p:nvPr/>
        </p:nvSpPr>
        <p:spPr>
          <a:xfrm>
            <a:off x="3611880" y="1783080"/>
            <a:ext cx="365760" cy="365760"/>
          </a:xfrm>
          <a:prstGeom prst="ellipse">
            <a:avLst/>
          </a:prstGeom>
          <a:solidFill>
            <a:schemeClr val="accent1"/>
          </a:solidFill>
          <a:ln/>
        </p:spPr>
        <p:txBody>
          <a:bodyPr/>
          <a:lstStyle/>
          <a:p>
            <a:endParaRPr lang="en-US"/>
          </a:p>
        </p:txBody>
      </p:sp>
      <p:sp>
        <p:nvSpPr>
          <p:cNvPr id="13" name="Flow 2 number"/>
          <p:cNvSpPr txBox="1"/>
          <p:nvPr/>
        </p:nvSpPr>
        <p:spPr>
          <a:xfrm>
            <a:off x="3611880" y="1783080"/>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4" name="Flow text 2"/>
          <p:cNvSpPr txBox="1"/>
          <p:nvPr/>
        </p:nvSpPr>
        <p:spPr>
          <a:xfrm>
            <a:off x="3611880" y="2286000"/>
            <a:ext cx="1920240" cy="1325880"/>
          </a:xfrm>
          <a:prstGeom prst="rect">
            <a:avLst/>
          </a:prstGeom>
          <a:noFill/>
          <a:ln/>
        </p:spPr>
        <p:txBody>
          <a:bodyPr wrap="square" lIns="0" tIns="0" rIns="0" bIns="0" rtlCol="0" anchor="t"/>
          <a:lstStyle/>
          <a:p>
            <a:pPr marL="0" indent="0">
              <a:buNone/>
            </a:pPr>
            <a:r>
              <a:rPr lang="en-US" sz="1600" b="1" dirty="0">
                <a:solidFill>
                  <a:schemeClr val="tx1"/>
                </a:solidFill>
              </a:rPr>
              <a:t>What happened in 2024</a:t>
            </a:r>
            <a:endParaRPr lang="en-US" sz="1400" dirty="0"/>
          </a:p>
          <a:p>
            <a:pPr marL="0" indent="0">
              <a:buNone/>
            </a:pPr>
            <a:r>
              <a:rPr lang="en-US" sz="1400" dirty="0">
                <a:solidFill>
                  <a:schemeClr val="tx1"/>
                </a:solidFill>
              </a:rPr>
              <a:t>Global supply chains stabilized, while feedstock and labor inflation persisted.</a:t>
            </a:r>
            <a:endParaRPr lang="en-US" sz="1400" dirty="0"/>
          </a:p>
        </p:txBody>
      </p:sp>
      <p:sp>
        <p:nvSpPr>
          <p:cNvPr id="15" name="Flow arrow 2"/>
          <p:cNvSpPr txBox="1"/>
          <p:nvPr/>
        </p:nvSpPr>
        <p:spPr>
          <a:xfrm>
            <a:off x="5715000" y="2377440"/>
            <a:ext cx="685800" cy="548640"/>
          </a:xfrm>
          <a:prstGeom prst="rect">
            <a:avLst/>
          </a:prstGeom>
          <a:noFill/>
          <a:ln/>
        </p:spPr>
        <p:txBody>
          <a:bodyPr wrap="square" lIns="0" tIns="0" rIns="0" bIns="0" rtlCol="0" anchor="ctr"/>
          <a:lstStyle/>
          <a:p>
            <a:pPr marL="0" indent="0" algn="ctr">
              <a:buNone/>
            </a:pPr>
            <a:r>
              <a:rPr lang="en-US" sz="2800" b="1" dirty="0">
                <a:solidFill>
                  <a:schemeClr val="tx2"/>
                </a:solidFill>
              </a:rPr>
              <a:t>→</a:t>
            </a:r>
            <a:endParaRPr lang="en-US" sz="2800" dirty="0"/>
          </a:p>
        </p:txBody>
      </p:sp>
      <p:sp>
        <p:nvSpPr>
          <p:cNvPr id="16" name="Flow card 3"/>
          <p:cNvSpPr/>
          <p:nvPr/>
        </p:nvSpPr>
        <p:spPr>
          <a:xfrm>
            <a:off x="6400800" y="1645920"/>
            <a:ext cx="2286000" cy="2011680"/>
          </a:xfrm>
          <a:prstGeom prst="roundRect">
            <a:avLst>
              <a:gd name="adj" fmla="val 4545"/>
            </a:avLst>
          </a:prstGeom>
          <a:solidFill>
            <a:schemeClr val="bg2"/>
          </a:solidFill>
          <a:ln/>
        </p:spPr>
        <p:txBody>
          <a:bodyPr/>
          <a:lstStyle/>
          <a:p>
            <a:endParaRPr lang="en-US"/>
          </a:p>
        </p:txBody>
      </p:sp>
      <p:sp>
        <p:nvSpPr>
          <p:cNvPr id="17" name="Flow 3 dot"/>
          <p:cNvSpPr/>
          <p:nvPr/>
        </p:nvSpPr>
        <p:spPr>
          <a:xfrm>
            <a:off x="6583680" y="1783080"/>
            <a:ext cx="365760" cy="365760"/>
          </a:xfrm>
          <a:prstGeom prst="ellipse">
            <a:avLst/>
          </a:prstGeom>
          <a:solidFill>
            <a:schemeClr val="accent1"/>
          </a:solidFill>
          <a:ln/>
        </p:spPr>
        <p:txBody>
          <a:bodyPr/>
          <a:lstStyle/>
          <a:p>
            <a:endParaRPr lang="en-US"/>
          </a:p>
        </p:txBody>
      </p:sp>
      <p:sp>
        <p:nvSpPr>
          <p:cNvPr id="18" name="Flow 3 number"/>
          <p:cNvSpPr txBox="1"/>
          <p:nvPr/>
        </p:nvSpPr>
        <p:spPr>
          <a:xfrm>
            <a:off x="6583680" y="1783080"/>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9" name="Flow text 3"/>
          <p:cNvSpPr txBox="1"/>
          <p:nvPr/>
        </p:nvSpPr>
        <p:spPr>
          <a:xfrm>
            <a:off x="6583680" y="2286000"/>
            <a:ext cx="1920240" cy="1325880"/>
          </a:xfrm>
          <a:prstGeom prst="rect">
            <a:avLst/>
          </a:prstGeom>
          <a:noFill/>
          <a:ln/>
        </p:spPr>
        <p:txBody>
          <a:bodyPr wrap="square" lIns="0" tIns="0" rIns="0" bIns="0" rtlCol="0" anchor="t"/>
          <a:lstStyle/>
          <a:p>
            <a:pPr marL="0" indent="0">
              <a:buNone/>
            </a:pPr>
            <a:r>
              <a:rPr lang="en-US" sz="1600" b="1" dirty="0">
                <a:solidFill>
                  <a:schemeClr val="tx1"/>
                </a:solidFill>
              </a:rPr>
              <a:t>Reported response</a:t>
            </a:r>
            <a:endParaRPr lang="en-US" sz="1400" dirty="0"/>
          </a:p>
          <a:p>
            <a:pPr marL="0" indent="0">
              <a:buNone/>
            </a:pPr>
            <a:r>
              <a:rPr lang="en-US" sz="1400" dirty="0">
                <a:solidFill>
                  <a:schemeClr val="tx1"/>
                </a:solidFill>
              </a:rPr>
              <a:t>Negotiated contracts and purchasing scale partially mitigated price risk.</a:t>
            </a:r>
            <a:endParaRPr lang="en-US" sz="1400" dirty="0"/>
          </a:p>
        </p:txBody>
      </p:sp>
      <p:sp>
        <p:nvSpPr>
          <p:cNvPr id="20" name="Flow implication"/>
          <p:cNvSpPr txBox="1"/>
          <p:nvPr/>
        </p:nvSpPr>
        <p:spPr>
          <a:xfrm>
            <a:off x="457200" y="3840480"/>
            <a:ext cx="8229600" cy="640080"/>
          </a:xfrm>
          <a:prstGeom prst="rect">
            <a:avLst/>
          </a:prstGeom>
          <a:noFill/>
          <a:ln/>
        </p:spPr>
        <p:txBody>
          <a:bodyPr wrap="square" lIns="0" tIns="0" rIns="0" bIns="0" rtlCol="0" anchor="t"/>
          <a:lstStyle/>
          <a:p>
            <a:pPr marL="0" indent="0">
              <a:buNone/>
            </a:pPr>
            <a:r>
              <a:rPr lang="en-US" sz="1400" b="1" dirty="0">
                <a:solidFill>
                  <a:schemeClr val="tx1"/>
                </a:solidFill>
              </a:rPr>
              <a:t>Link to the industrial review: </a:t>
            </a:r>
            <a:r>
              <a:rPr lang="en-US" sz="1400" dirty="0">
                <a:solidFill>
                  <a:schemeClr val="tx1"/>
                </a:solidFill>
              </a:rPr>
              <a:t>supplier dependence is named in 33% of filings across FY2020–25. Track actual delivery and cost alongside the disclosure.</a:t>
            </a:r>
            <a:endParaRPr lang="en-US" sz="14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65760"/>
            <a:ext cx="8229600" cy="640080"/>
          </a:xfrm>
          <a:prstGeom prst="rect">
            <a:avLst/>
          </a:prstGeom>
          <a:noFill/>
          <a:ln/>
        </p:spPr>
        <p:txBody>
          <a:bodyPr wrap="square" lIns="0" tIns="0" rIns="0" bIns="0" rtlCol="0" anchor="t"/>
          <a:lstStyle/>
          <a:p>
            <a:pPr marL="0" indent="0">
              <a:buNone/>
            </a:pPr>
            <a:r>
              <a:rPr lang="en-US" sz="3400" b="1" dirty="0">
                <a:solidFill>
                  <a:schemeClr val="tx1"/>
                </a:solidFill>
              </a:rPr>
              <a:t>What to monitor in each sector</a:t>
            </a:r>
            <a:endParaRPr lang="en-US" sz="3400" dirty="0"/>
          </a:p>
        </p:txBody>
      </p:sp>
      <p:sp>
        <p:nvSpPr>
          <p:cNvPr id="3" name="Text 0"/>
          <p:cNvSpPr>
            <a:spLocks noGrp="1"/>
          </p:cNvSpPr>
          <p:nvPr>
            <p:ph type="body" idx="101" hasCustomPrompt="1"/>
          </p:nvPr>
        </p:nvSpPr>
        <p:spPr>
          <a:xfrm>
            <a:off x="457200" y="1005840"/>
            <a:ext cx="8229600" cy="365760"/>
          </a:xfrm>
          <a:prstGeom prst="rect">
            <a:avLst/>
          </a:prstGeom>
          <a:noFill/>
          <a:ln/>
        </p:spPr>
        <p:txBody>
          <a:bodyPr wrap="square" lIns="0" tIns="0" rIns="0" bIns="0" rtlCol="0" anchor="ctr"/>
          <a:lstStyle/>
          <a:p>
            <a:pPr marL="0" indent="0">
              <a:buNone/>
            </a:pPr>
            <a:r>
              <a:rPr lang="en-US" sz="1600" dirty="0">
                <a:solidFill>
                  <a:schemeClr val="tx2"/>
                </a:solidFill>
              </a:rPr>
              <a:t>Both need earnings-quality checks; the operating signals differ</a:t>
            </a:r>
            <a:endParaRPr lang="en-US" sz="1600" dirty="0"/>
          </a:p>
        </p:txBody>
      </p:sp>
      <p:sp>
        <p:nvSpPr>
          <p:cNvPr id="4" name="Text 0"/>
          <p:cNvSpPr>
            <a:spLocks noGrp="1"/>
          </p:cNvSpPr>
          <p:nvPr>
            <p:ph type="body" idx="102" hasCustomPrompt="1"/>
          </p:nvPr>
        </p:nvSpPr>
        <p:spPr>
          <a:xfrm>
            <a:off x="457200" y="4663440"/>
            <a:ext cx="7589520" cy="274320"/>
          </a:xfrm>
          <a:prstGeom prst="rect">
            <a:avLst/>
          </a:prstGeom>
          <a:noFill/>
          <a:ln/>
        </p:spPr>
        <p:txBody>
          <a:bodyPr wrap="square" lIns="0" tIns="0" rIns="0" bIns="0" rtlCol="0" anchor="ctr"/>
          <a:lstStyle/>
          <a:p>
            <a:pPr marL="0" indent="0">
              <a:buNone/>
            </a:pPr>
            <a:r>
              <a:rPr lang="en-US" sz="1000" dirty="0">
                <a:solidFill>
                  <a:schemeClr val="tx2"/>
                </a:solidFill>
              </a:rPr>
              <a:t>Industrial watch items from the review; healthcare monitoring items are recommendations, not measured KPIs.</a:t>
            </a:r>
            <a:endParaRPr lang="en-US" sz="1000" dirty="0"/>
          </a:p>
        </p:txBody>
      </p:sp>
      <p:sp>
        <p:nvSpPr>
          <p:cNvPr id="6" name="Industrials watch heading"/>
          <p:cNvSpPr txBox="1"/>
          <p:nvPr/>
        </p:nvSpPr>
        <p:spPr>
          <a:xfrm>
            <a:off x="457200" y="1463040"/>
            <a:ext cx="4023360" cy="320040"/>
          </a:xfrm>
          <a:prstGeom prst="rect">
            <a:avLst/>
          </a:prstGeom>
          <a:noFill/>
          <a:ln/>
        </p:spPr>
        <p:txBody>
          <a:bodyPr wrap="square" lIns="0" tIns="0" rIns="0" bIns="0" rtlCol="0" anchor="t"/>
          <a:lstStyle/>
          <a:p>
            <a:pPr marL="0" indent="0">
              <a:buNone/>
            </a:pPr>
            <a:r>
              <a:rPr lang="en-US" sz="2000" b="1" dirty="0">
                <a:solidFill>
                  <a:schemeClr val="accent1"/>
                </a:solidFill>
              </a:rPr>
              <a:t>Industrials</a:t>
            </a:r>
            <a:endParaRPr lang="en-US" sz="2000" dirty="0"/>
          </a:p>
        </p:txBody>
      </p:sp>
      <p:sp>
        <p:nvSpPr>
          <p:cNvPr id="7" name="Industrials watch 1 dot"/>
          <p:cNvSpPr/>
          <p:nvPr/>
        </p:nvSpPr>
        <p:spPr>
          <a:xfrm>
            <a:off x="457200" y="1920240"/>
            <a:ext cx="365760" cy="365760"/>
          </a:xfrm>
          <a:prstGeom prst="ellipse">
            <a:avLst/>
          </a:prstGeom>
          <a:solidFill>
            <a:schemeClr val="accent1"/>
          </a:solidFill>
          <a:ln/>
        </p:spPr>
        <p:txBody>
          <a:bodyPr/>
          <a:lstStyle/>
          <a:p>
            <a:endParaRPr lang="en-US"/>
          </a:p>
        </p:txBody>
      </p:sp>
      <p:sp>
        <p:nvSpPr>
          <p:cNvPr id="8" name="Industrials watch 1 number"/>
          <p:cNvSpPr txBox="1"/>
          <p:nvPr/>
        </p:nvSpPr>
        <p:spPr>
          <a:xfrm>
            <a:off x="457200" y="1920240"/>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9" name="Industrials watch text 1"/>
          <p:cNvSpPr txBox="1"/>
          <p:nvPr/>
        </p:nvSpPr>
        <p:spPr>
          <a:xfrm>
            <a:off x="1005840" y="1874520"/>
            <a:ext cx="3474720" cy="548640"/>
          </a:xfrm>
          <a:prstGeom prst="rect">
            <a:avLst/>
          </a:prstGeom>
          <a:noFill/>
          <a:ln/>
        </p:spPr>
        <p:txBody>
          <a:bodyPr wrap="square" lIns="0" tIns="0" rIns="0" bIns="0" rtlCol="0" anchor="t"/>
          <a:lstStyle/>
          <a:p>
            <a:pPr marL="0" indent="0">
              <a:buNone/>
            </a:pPr>
            <a:r>
              <a:rPr lang="en-US" sz="1500" b="1" dirty="0">
                <a:solidFill>
                  <a:schemeClr val="tx1"/>
                </a:solidFill>
              </a:rPr>
              <a:t>Tariffs and geopolitics</a:t>
            </a:r>
            <a:endParaRPr lang="en-US" sz="1400" dirty="0"/>
          </a:p>
          <a:p>
            <a:pPr marL="0" indent="0">
              <a:buNone/>
            </a:pPr>
            <a:r>
              <a:rPr lang="en-US" sz="1300" dirty="0">
                <a:solidFill>
                  <a:schemeClr val="tx2"/>
                </a:solidFill>
              </a:rPr>
              <a:t>Named in more filings every year</a:t>
            </a:r>
            <a:endParaRPr lang="en-US" sz="1400" dirty="0"/>
          </a:p>
        </p:txBody>
      </p:sp>
      <p:sp>
        <p:nvSpPr>
          <p:cNvPr id="10" name="Industrials watch 2 dot"/>
          <p:cNvSpPr/>
          <p:nvPr/>
        </p:nvSpPr>
        <p:spPr>
          <a:xfrm>
            <a:off x="457200" y="2651760"/>
            <a:ext cx="365760" cy="365760"/>
          </a:xfrm>
          <a:prstGeom prst="ellipse">
            <a:avLst/>
          </a:prstGeom>
          <a:solidFill>
            <a:schemeClr val="accent1"/>
          </a:solidFill>
          <a:ln/>
        </p:spPr>
        <p:txBody>
          <a:bodyPr/>
          <a:lstStyle/>
          <a:p>
            <a:endParaRPr lang="en-US"/>
          </a:p>
        </p:txBody>
      </p:sp>
      <p:sp>
        <p:nvSpPr>
          <p:cNvPr id="11" name="Industrials watch 2 number"/>
          <p:cNvSpPr txBox="1"/>
          <p:nvPr/>
        </p:nvSpPr>
        <p:spPr>
          <a:xfrm>
            <a:off x="457200" y="2651760"/>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2" name="Industrials watch text 2"/>
          <p:cNvSpPr txBox="1"/>
          <p:nvPr/>
        </p:nvSpPr>
        <p:spPr>
          <a:xfrm>
            <a:off x="1005840" y="2606040"/>
            <a:ext cx="3474720" cy="548640"/>
          </a:xfrm>
          <a:prstGeom prst="rect">
            <a:avLst/>
          </a:prstGeom>
          <a:noFill/>
          <a:ln/>
        </p:spPr>
        <p:txBody>
          <a:bodyPr wrap="square" lIns="0" tIns="0" rIns="0" bIns="0" rtlCol="0" anchor="t"/>
          <a:lstStyle/>
          <a:p>
            <a:pPr marL="0" indent="0">
              <a:buNone/>
            </a:pPr>
            <a:r>
              <a:rPr lang="en-US" sz="1500" b="1" dirty="0">
                <a:solidFill>
                  <a:schemeClr val="tx1"/>
                </a:solidFill>
              </a:rPr>
              <a:t>Labor pressure</a:t>
            </a:r>
            <a:endParaRPr lang="en-US" sz="1400" dirty="0"/>
          </a:p>
          <a:p>
            <a:pPr marL="0" indent="0">
              <a:buNone/>
            </a:pPr>
            <a:r>
              <a:rPr lang="en-US" sz="1300" dirty="0">
                <a:solidFill>
                  <a:schemeClr val="tx2"/>
                </a:solidFill>
              </a:rPr>
              <a:t>Elevated since FY2021</a:t>
            </a:r>
            <a:endParaRPr lang="en-US" sz="1400" dirty="0"/>
          </a:p>
        </p:txBody>
      </p:sp>
      <p:sp>
        <p:nvSpPr>
          <p:cNvPr id="13" name="Industrials watch 3 dot"/>
          <p:cNvSpPr/>
          <p:nvPr/>
        </p:nvSpPr>
        <p:spPr>
          <a:xfrm>
            <a:off x="457200" y="3383280"/>
            <a:ext cx="365760" cy="365760"/>
          </a:xfrm>
          <a:prstGeom prst="ellipse">
            <a:avLst/>
          </a:prstGeom>
          <a:solidFill>
            <a:schemeClr val="accent1"/>
          </a:solidFill>
          <a:ln/>
        </p:spPr>
        <p:txBody>
          <a:bodyPr/>
          <a:lstStyle/>
          <a:p>
            <a:endParaRPr lang="en-US"/>
          </a:p>
        </p:txBody>
      </p:sp>
      <p:sp>
        <p:nvSpPr>
          <p:cNvPr id="14" name="Industrials watch 3 number"/>
          <p:cNvSpPr txBox="1"/>
          <p:nvPr/>
        </p:nvSpPr>
        <p:spPr>
          <a:xfrm>
            <a:off x="457200" y="3383280"/>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5" name="Industrials watch text 3"/>
          <p:cNvSpPr txBox="1"/>
          <p:nvPr/>
        </p:nvSpPr>
        <p:spPr>
          <a:xfrm>
            <a:off x="1005840" y="3337560"/>
            <a:ext cx="3474720" cy="548640"/>
          </a:xfrm>
          <a:prstGeom prst="rect">
            <a:avLst/>
          </a:prstGeom>
          <a:noFill/>
          <a:ln/>
        </p:spPr>
        <p:txBody>
          <a:bodyPr wrap="square" lIns="0" tIns="0" rIns="0" bIns="0" rtlCol="0" anchor="t"/>
          <a:lstStyle/>
          <a:p>
            <a:pPr marL="0" indent="0">
              <a:buNone/>
            </a:pPr>
            <a:r>
              <a:rPr lang="en-US" sz="1500" b="1" dirty="0">
                <a:solidFill>
                  <a:schemeClr val="tx1"/>
                </a:solidFill>
              </a:rPr>
              <a:t>Leverage-led ROE</a:t>
            </a:r>
            <a:endParaRPr lang="en-US" sz="1400" dirty="0"/>
          </a:p>
          <a:p>
            <a:pPr marL="0" indent="0">
              <a:buNone/>
            </a:pPr>
            <a:r>
              <a:rPr lang="en-US" sz="1300" dirty="0">
                <a:solidFill>
                  <a:schemeClr val="tx2"/>
                </a:solidFill>
              </a:rPr>
              <a:t>The most fragile part of the gain</a:t>
            </a:r>
            <a:endParaRPr lang="en-US" sz="1400" dirty="0"/>
          </a:p>
        </p:txBody>
      </p:sp>
      <p:sp>
        <p:nvSpPr>
          <p:cNvPr id="16" name="Healthcare watch heading"/>
          <p:cNvSpPr txBox="1"/>
          <p:nvPr/>
        </p:nvSpPr>
        <p:spPr>
          <a:xfrm>
            <a:off x="4663440" y="1463040"/>
            <a:ext cx="4023360" cy="320040"/>
          </a:xfrm>
          <a:prstGeom prst="rect">
            <a:avLst/>
          </a:prstGeom>
          <a:noFill/>
          <a:ln/>
        </p:spPr>
        <p:txBody>
          <a:bodyPr wrap="square" lIns="0" tIns="0" rIns="0" bIns="0" rtlCol="0" anchor="t"/>
          <a:lstStyle/>
          <a:p>
            <a:pPr marL="0" indent="0">
              <a:buNone/>
            </a:pPr>
            <a:r>
              <a:rPr lang="en-US" sz="2000" b="1" dirty="0">
                <a:solidFill>
                  <a:schemeClr val="accent2"/>
                </a:solidFill>
              </a:rPr>
              <a:t>Healthcare</a:t>
            </a:r>
            <a:endParaRPr lang="en-US" sz="2000" dirty="0"/>
          </a:p>
        </p:txBody>
      </p:sp>
      <p:sp>
        <p:nvSpPr>
          <p:cNvPr id="17" name="Healthcare watch 1 dot"/>
          <p:cNvSpPr/>
          <p:nvPr/>
        </p:nvSpPr>
        <p:spPr>
          <a:xfrm>
            <a:off x="4663440" y="1920240"/>
            <a:ext cx="365760" cy="365760"/>
          </a:xfrm>
          <a:prstGeom prst="ellipse">
            <a:avLst/>
          </a:prstGeom>
          <a:solidFill>
            <a:schemeClr val="accent2"/>
          </a:solidFill>
          <a:ln/>
        </p:spPr>
        <p:txBody>
          <a:bodyPr/>
          <a:lstStyle/>
          <a:p>
            <a:endParaRPr lang="en-US"/>
          </a:p>
        </p:txBody>
      </p:sp>
      <p:sp>
        <p:nvSpPr>
          <p:cNvPr id="18" name="Healthcare watch 1 number"/>
          <p:cNvSpPr txBox="1"/>
          <p:nvPr/>
        </p:nvSpPr>
        <p:spPr>
          <a:xfrm>
            <a:off x="4663440" y="1920240"/>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19" name="Healthcare watch text 1"/>
          <p:cNvSpPr txBox="1"/>
          <p:nvPr/>
        </p:nvSpPr>
        <p:spPr>
          <a:xfrm>
            <a:off x="5212080" y="1874520"/>
            <a:ext cx="3474720" cy="548640"/>
          </a:xfrm>
          <a:prstGeom prst="rect">
            <a:avLst/>
          </a:prstGeom>
          <a:noFill/>
          <a:ln/>
        </p:spPr>
        <p:txBody>
          <a:bodyPr wrap="square" lIns="0" tIns="0" rIns="0" bIns="0" rtlCol="0" anchor="t"/>
          <a:lstStyle/>
          <a:p>
            <a:pPr marL="0" indent="0">
              <a:buNone/>
            </a:pPr>
            <a:r>
              <a:rPr lang="en-US" sz="1500" b="1" dirty="0">
                <a:solidFill>
                  <a:schemeClr val="tx1"/>
                </a:solidFill>
              </a:rPr>
              <a:t>Equity base and one-time charges</a:t>
            </a:r>
            <a:endParaRPr lang="en-US" sz="1400" dirty="0"/>
          </a:p>
          <a:p>
            <a:pPr marL="0" indent="0">
              <a:buNone/>
            </a:pPr>
            <a:r>
              <a:rPr lang="en-US" sz="1300" dirty="0">
                <a:solidFill>
                  <a:schemeClr val="tx2"/>
                </a:solidFill>
              </a:rPr>
              <a:t>Finance: review equity rollforwards</a:t>
            </a:r>
            <a:endParaRPr lang="en-US" sz="1400" dirty="0"/>
          </a:p>
        </p:txBody>
      </p:sp>
      <p:sp>
        <p:nvSpPr>
          <p:cNvPr id="20" name="Healthcare watch 2 dot"/>
          <p:cNvSpPr/>
          <p:nvPr/>
        </p:nvSpPr>
        <p:spPr>
          <a:xfrm>
            <a:off x="4663440" y="2651760"/>
            <a:ext cx="365760" cy="365760"/>
          </a:xfrm>
          <a:prstGeom prst="ellipse">
            <a:avLst/>
          </a:prstGeom>
          <a:solidFill>
            <a:schemeClr val="accent2"/>
          </a:solidFill>
          <a:ln/>
        </p:spPr>
        <p:txBody>
          <a:bodyPr/>
          <a:lstStyle/>
          <a:p>
            <a:endParaRPr lang="en-US"/>
          </a:p>
        </p:txBody>
      </p:sp>
      <p:sp>
        <p:nvSpPr>
          <p:cNvPr id="21" name="Healthcare watch 2 number"/>
          <p:cNvSpPr txBox="1"/>
          <p:nvPr/>
        </p:nvSpPr>
        <p:spPr>
          <a:xfrm>
            <a:off x="4663440" y="2651760"/>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22" name="Healthcare watch text 2"/>
          <p:cNvSpPr txBox="1"/>
          <p:nvPr/>
        </p:nvSpPr>
        <p:spPr>
          <a:xfrm>
            <a:off x="5212080" y="2606040"/>
            <a:ext cx="3474720" cy="548640"/>
          </a:xfrm>
          <a:prstGeom prst="rect">
            <a:avLst/>
          </a:prstGeom>
          <a:noFill/>
          <a:ln/>
        </p:spPr>
        <p:txBody>
          <a:bodyPr wrap="square" lIns="0" tIns="0" rIns="0" bIns="0" rtlCol="0" anchor="t"/>
          <a:lstStyle/>
          <a:p>
            <a:pPr marL="0" indent="0">
              <a:buNone/>
            </a:pPr>
            <a:r>
              <a:rPr lang="en-US" sz="1500" b="1" dirty="0">
                <a:solidFill>
                  <a:schemeClr val="tx1"/>
                </a:solidFill>
              </a:rPr>
              <a:t>Demand, inventory, write-offs</a:t>
            </a:r>
            <a:endParaRPr lang="en-US" sz="1400" dirty="0"/>
          </a:p>
          <a:p>
            <a:pPr marL="0" indent="0">
              <a:buNone/>
            </a:pPr>
            <a:r>
              <a:rPr lang="en-US" sz="1300" dirty="0">
                <a:solidFill>
                  <a:schemeClr val="tx2"/>
                </a:solidFill>
              </a:rPr>
              <a:t>Operations: track supplier performance</a:t>
            </a:r>
            <a:endParaRPr lang="en-US" sz="1400" dirty="0"/>
          </a:p>
        </p:txBody>
      </p:sp>
      <p:sp>
        <p:nvSpPr>
          <p:cNvPr id="23" name="Shared card"/>
          <p:cNvSpPr/>
          <p:nvPr/>
        </p:nvSpPr>
        <p:spPr>
          <a:xfrm>
            <a:off x="457200" y="4114800"/>
            <a:ext cx="8229600" cy="457200"/>
          </a:xfrm>
          <a:prstGeom prst="roundRect">
            <a:avLst>
              <a:gd name="adj" fmla="val 20000"/>
            </a:avLst>
          </a:prstGeom>
          <a:solidFill>
            <a:schemeClr val="bg2"/>
          </a:solidFill>
          <a:ln/>
        </p:spPr>
        <p:txBody>
          <a:bodyPr/>
          <a:lstStyle/>
          <a:p>
            <a:endParaRPr lang="en-US"/>
          </a:p>
        </p:txBody>
      </p:sp>
      <p:sp>
        <p:nvSpPr>
          <p:cNvPr id="24" name="Shared text"/>
          <p:cNvSpPr txBox="1"/>
          <p:nvPr/>
        </p:nvSpPr>
        <p:spPr>
          <a:xfrm>
            <a:off x="685800" y="4114800"/>
            <a:ext cx="7772400" cy="457200"/>
          </a:xfrm>
          <a:prstGeom prst="rect">
            <a:avLst/>
          </a:prstGeom>
          <a:noFill/>
          <a:ln/>
        </p:spPr>
        <p:txBody>
          <a:bodyPr wrap="square" lIns="0" tIns="0" rIns="0" bIns="0" rtlCol="0" anchor="ctr"/>
          <a:lstStyle/>
          <a:p>
            <a:pPr marL="0" indent="0">
              <a:buNone/>
            </a:pPr>
            <a:r>
              <a:rPr lang="en-US" sz="1400" b="1" dirty="0">
                <a:solidFill>
                  <a:schemeClr val="tx1"/>
                </a:solidFill>
              </a:rPr>
              <a:t>In both sectors: </a:t>
            </a:r>
            <a:r>
              <a:rPr lang="en-US" sz="1400" dirty="0">
                <a:solidFill>
                  <a:schemeClr val="tx1"/>
                </a:solidFill>
              </a:rPr>
              <a:t>print the equity multiplier beside ROE and footnote one-off event years.</a:t>
            </a:r>
            <a:endParaRPr lang="en-US" sz="14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65760"/>
            <a:ext cx="8229600" cy="640080"/>
          </a:xfrm>
          <a:prstGeom prst="rect">
            <a:avLst/>
          </a:prstGeom>
          <a:noFill/>
          <a:ln/>
        </p:spPr>
        <p:txBody>
          <a:bodyPr wrap="square" lIns="0" tIns="0" rIns="0" bIns="0" rtlCol="0" anchor="t"/>
          <a:lstStyle/>
          <a:p>
            <a:pPr marL="0" indent="0">
              <a:buNone/>
            </a:pPr>
            <a:r>
              <a:rPr lang="en-US" sz="3400" b="1" dirty="0">
                <a:solidFill>
                  <a:schemeClr val="bg1"/>
                </a:solidFill>
              </a:rPr>
              <a:t>What the comparison tells us</a:t>
            </a:r>
            <a:endParaRPr lang="en-US" sz="3400" dirty="0"/>
          </a:p>
        </p:txBody>
      </p:sp>
      <p:sp>
        <p:nvSpPr>
          <p:cNvPr id="3" name="Text 0"/>
          <p:cNvSpPr>
            <a:spLocks noGrp="1"/>
          </p:cNvSpPr>
          <p:nvPr>
            <p:ph type="body" idx="101" hasCustomPrompt="1"/>
          </p:nvPr>
        </p:nvSpPr>
        <p:spPr>
          <a:xfrm>
            <a:off x="457200" y="1005840"/>
            <a:ext cx="8229600" cy="365760"/>
          </a:xfrm>
          <a:prstGeom prst="rect">
            <a:avLst/>
          </a:prstGeom>
          <a:noFill/>
          <a:ln/>
        </p:spPr>
        <p:txBody>
          <a:bodyPr wrap="square" lIns="0" tIns="0" rIns="0" bIns="0" rtlCol="0" anchor="ctr"/>
          <a:lstStyle/>
          <a:p>
            <a:pPr marL="0" indent="0">
              <a:buNone/>
            </a:pPr>
            <a:r>
              <a:rPr lang="en-US" sz="1600" dirty="0">
                <a:solidFill>
                  <a:schemeClr val="bg2"/>
                </a:solidFill>
              </a:rPr>
              <a:t>High ROE is a signal to investigate its source, in either sector</a:t>
            </a:r>
            <a:endParaRPr lang="en-US" sz="1600" dirty="0"/>
          </a:p>
        </p:txBody>
      </p:sp>
      <p:sp>
        <p:nvSpPr>
          <p:cNvPr id="5" name="Conclusion 1 dot"/>
          <p:cNvSpPr/>
          <p:nvPr/>
        </p:nvSpPr>
        <p:spPr>
          <a:xfrm>
            <a:off x="457200" y="1691640"/>
            <a:ext cx="502920" cy="502920"/>
          </a:xfrm>
          <a:prstGeom prst="ellipse">
            <a:avLst/>
          </a:prstGeom>
          <a:solidFill>
            <a:schemeClr val="accent1"/>
          </a:solidFill>
          <a:ln/>
        </p:spPr>
        <p:txBody>
          <a:bodyPr/>
          <a:lstStyle/>
          <a:p>
            <a:endParaRPr lang="en-US"/>
          </a:p>
        </p:txBody>
      </p:sp>
      <p:sp>
        <p:nvSpPr>
          <p:cNvPr id="6" name="Conclusion 1 number"/>
          <p:cNvSpPr txBox="1"/>
          <p:nvPr/>
        </p:nvSpPr>
        <p:spPr>
          <a:xfrm>
            <a:off x="457200" y="169164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7" name="Conclusion text 1"/>
          <p:cNvSpPr txBox="1"/>
          <p:nvPr/>
        </p:nvSpPr>
        <p:spPr>
          <a:xfrm>
            <a:off x="1188720" y="1645920"/>
            <a:ext cx="7498080" cy="822960"/>
          </a:xfrm>
          <a:prstGeom prst="rect">
            <a:avLst/>
          </a:prstGeom>
          <a:noFill/>
          <a:ln/>
        </p:spPr>
        <p:txBody>
          <a:bodyPr wrap="square" lIns="0" tIns="0" rIns="0" bIns="0" rtlCol="0" anchor="ctr"/>
          <a:lstStyle/>
          <a:p>
            <a:pPr marL="0" indent="0">
              <a:buNone/>
            </a:pPr>
            <a:r>
              <a:rPr lang="en-US" sz="2000" b="1" dirty="0">
                <a:solidFill>
                  <a:schemeClr val="bg1"/>
                </a:solidFill>
              </a:rPr>
              <a:t>Return paths diverged</a:t>
            </a:r>
            <a:endParaRPr lang="en-US" sz="1400" dirty="0"/>
          </a:p>
          <a:p>
            <a:pPr marL="0" indent="0">
              <a:buNone/>
            </a:pPr>
            <a:r>
              <a:rPr lang="en-US" sz="1400" dirty="0">
                <a:solidFill>
                  <a:schemeClr val="bg2"/>
                </a:solidFill>
              </a:rPr>
              <a:t>Industrial median ROE rose from 19.4% to 25.5%; healthcare fell from 15.7% to 12.7% after a 2021 peak.</a:t>
            </a:r>
            <a:endParaRPr lang="en-US" sz="1400" dirty="0"/>
          </a:p>
        </p:txBody>
      </p:sp>
      <p:sp>
        <p:nvSpPr>
          <p:cNvPr id="8" name="Conclusion 2 dot"/>
          <p:cNvSpPr/>
          <p:nvPr/>
        </p:nvSpPr>
        <p:spPr>
          <a:xfrm>
            <a:off x="457200" y="2697480"/>
            <a:ext cx="502920" cy="502920"/>
          </a:xfrm>
          <a:prstGeom prst="ellipse">
            <a:avLst/>
          </a:prstGeom>
          <a:solidFill>
            <a:schemeClr val="accent1"/>
          </a:solidFill>
          <a:ln/>
        </p:spPr>
        <p:txBody>
          <a:bodyPr/>
          <a:lstStyle/>
          <a:p>
            <a:endParaRPr lang="en-US"/>
          </a:p>
        </p:txBody>
      </p:sp>
      <p:sp>
        <p:nvSpPr>
          <p:cNvPr id="9" name="Conclusion 2 number"/>
          <p:cNvSpPr txBox="1"/>
          <p:nvPr/>
        </p:nvSpPr>
        <p:spPr>
          <a:xfrm>
            <a:off x="457200" y="269748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0" name="Conclusion text 2"/>
          <p:cNvSpPr txBox="1"/>
          <p:nvPr/>
        </p:nvSpPr>
        <p:spPr>
          <a:xfrm>
            <a:off x="1188720" y="2651760"/>
            <a:ext cx="7498080" cy="822960"/>
          </a:xfrm>
          <a:prstGeom prst="rect">
            <a:avLst/>
          </a:prstGeom>
          <a:noFill/>
          <a:ln/>
        </p:spPr>
        <p:txBody>
          <a:bodyPr wrap="square" lIns="0" tIns="0" rIns="0" bIns="0" rtlCol="0" anchor="ctr"/>
          <a:lstStyle/>
          <a:p>
            <a:pPr marL="0" indent="0">
              <a:buNone/>
            </a:pPr>
            <a:r>
              <a:rPr lang="en-US" sz="2000" b="1" dirty="0">
                <a:solidFill>
                  <a:schemeClr val="bg1"/>
                </a:solidFill>
              </a:rPr>
              <a:t>Look under the ROE</a:t>
            </a:r>
            <a:endParaRPr lang="en-US" sz="1400" dirty="0"/>
          </a:p>
          <a:p>
            <a:pPr marL="0" indent="0">
              <a:buNone/>
            </a:pPr>
            <a:r>
              <a:rPr lang="en-US" sz="1400" dirty="0">
                <a:solidFill>
                  <a:schemeClr val="bg2"/>
                </a:solidFill>
              </a:rPr>
              <a:t>Thin equity and one-time charges can move ROE without a change in operations. Check the multiplier and event years.</a:t>
            </a:r>
            <a:endParaRPr lang="en-US" sz="1400" dirty="0"/>
          </a:p>
        </p:txBody>
      </p:sp>
      <p:sp>
        <p:nvSpPr>
          <p:cNvPr id="11" name="Text 0"/>
          <p:cNvSpPr>
            <a:spLocks noGrp="1"/>
          </p:cNvSpPr>
          <p:nvPr>
            <p:ph type="body" idx="102" hasCustomPrompt="1"/>
          </p:nvPr>
        </p:nvSpPr>
        <p:spPr>
          <a:xfrm>
            <a:off x="457200" y="4663440"/>
            <a:ext cx="7589520" cy="274320"/>
          </a:xfrm>
          <a:prstGeom prst="rect">
            <a:avLst/>
          </a:prstGeom>
          <a:noFill/>
          <a:ln/>
        </p:spPr>
        <p:txBody>
          <a:bodyPr wrap="square" lIns="0" tIns="0" rIns="0" bIns="0" rtlCol="0" anchor="ctr"/>
          <a:lstStyle/>
          <a:p>
            <a:pPr marL="0" indent="0">
              <a:buNone/>
            </a:pPr>
            <a:endParaRPr lang="en-US" sz="10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35</a:t>
            </a:fld>
            <a:endParaRPr lang="en-US"/>
          </a:p>
        </p:txBody>
      </p:sp>
    </p:spTree>
  </p:cSld>
  <p:clrMapOvr>
    <a:masterClrMapping/>
  </p:clrMapOvr>
</p:sld>
</file>

<file path=ppt/theme/theme1.xml><?xml version="1.0" encoding="utf-8"?>
<a:theme xmlns:a="http://schemas.openxmlformats.org/drawingml/2006/main" name="Industrials Review">
  <a:themeElements>
    <a:clrScheme name="Industrials Review">
      <a:dk1>
        <a:srgbClr val="1F2933"/>
      </a:dk1>
      <a:lt1>
        <a:srgbClr val="FFFFFF"/>
      </a:lt1>
      <a:dk2>
        <a:srgbClr val="3E4C59"/>
      </a:dk2>
      <a:lt2>
        <a:srgbClr val="F0F2F5"/>
      </a:lt2>
      <a:accent1>
        <a:srgbClr val="D9480F"/>
      </a:accent1>
      <a:accent2>
        <a:srgbClr val="3E7CB1"/>
      </a:accent2>
      <a:accent3>
        <a:srgbClr val="7B8794"/>
      </a:accent3>
      <a:accent4>
        <a:srgbClr val="2F855A"/>
      </a:accent4>
      <a:accent5>
        <a:srgbClr val="C53030"/>
      </a:accent5>
      <a:accent6>
        <a:srgbClr val="D9A441"/>
      </a:accent6>
      <a:hlink>
        <a:srgbClr val="3E7CB1"/>
      </a:hlink>
      <a:folHlink>
        <a:srgbClr val="7B8794"/>
      </a:folHlink>
    </a:clrScheme>
    <a:fontScheme name="Industrials Revie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3917</Words>
  <Application>Microsoft Office PowerPoint</Application>
  <PresentationFormat>On-screen Show (16:9)</PresentationFormat>
  <Paragraphs>533</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Industrials Review</vt:lpstr>
      <vt:lpstr>Industrials and Healthcare: ROE and Risk Review</vt:lpstr>
      <vt:lpstr>Key takeaways</vt:lpstr>
      <vt:lpstr>What we analyzed</vt:lpstr>
      <vt:lpstr>How ROE is built</vt:lpstr>
      <vt:lpstr>Industrials</vt:lpstr>
      <vt:lpstr>Median ROE is up since 2020</vt:lpstr>
      <vt:lpstr>Highest and lowest ROE</vt:lpstr>
      <vt:lpstr>What drives industrial ROE</vt:lpstr>
      <vt:lpstr>Risk focus has shifted</vt:lpstr>
      <vt:lpstr>Top risks in FY2025</vt:lpstr>
      <vt:lpstr>Supply chain risk, FY2020–25</vt:lpstr>
      <vt:lpstr>Stakeholders and actions</vt:lpstr>
      <vt:lpstr>28 outliers, three causes</vt:lpstr>
      <vt:lpstr>High ROE is a leverage story</vt:lpstr>
      <vt:lpstr>Low ROE is COVID and one-offs</vt:lpstr>
      <vt:lpstr>Handling the outliers</vt:lpstr>
      <vt:lpstr>Read these caveats first</vt:lpstr>
      <vt:lpstr>Where the sector is heading</vt:lpstr>
      <vt:lpstr>Healthcare</vt:lpstr>
      <vt:lpstr>Healthcare ROE peaked in 2021</vt:lpstr>
      <vt:lpstr>ROE components, 2020–2025</vt:lpstr>
      <vt:lpstr>Equity base can amplify ROE</vt:lpstr>
      <vt:lpstr>What lifted the 2025 rebound</vt:lpstr>
      <vt:lpstr>Extreme firms lift the average</vt:lpstr>
      <vt:lpstr>Pfizer: ROE fell from 33% to 2%</vt:lpstr>
      <vt:lpstr>Intra-sector analysis</vt:lpstr>
      <vt:lpstr>Industrials vs healthcare</vt:lpstr>
      <vt:lpstr>ROE paths diverged</vt:lpstr>
      <vt:lpstr>Same years, different cycles</vt:lpstr>
      <vt:lpstr>Thin equity lifts ROE</vt:lpstr>
      <vt:lpstr>What moves ROE in each sector</vt:lpstr>
      <vt:lpstr>Outliers and the average</vt:lpstr>
      <vt:lpstr>3M: exposure is not disruption</vt:lpstr>
      <vt:lpstr>What to monitor in each sector</vt:lpstr>
      <vt:lpstr>What the comparison tells us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Industrials and Healthcare: ROE and Risk Review</dc:title>
  <dc:subject>PptxGenJS Presentation</dc:subject>
  <dc:creator>PptxGenJS</dc:creator>
  <cp:lastModifiedBy>Colsen Kay</cp:lastModifiedBy>
  <cp:revision>2</cp:revision>
  <dcterms:created xsi:type="dcterms:W3CDTF">2026-10-07T13:35:08Z</dcterms:created>
  <dcterms:modified xsi:type="dcterms:W3CDTF">2026-10-07T13:37:40Z</dcterms:modified>
</cp:coreProperties>
</file>