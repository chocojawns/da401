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aa698d7-12a1-cffe-dea4-36703e97f686}">
          <p14:sldIdLst>
            <p14:sldId id="256"/>
            <p14:sldId id="257"/>
          </p14:sldIdLst>
        </p14:section>
        <p14:section name="Returns" id="{4508feca-8c5e-9b3c-c1b8-c1cd696edcae}">
          <p14:sldIdLst>
            <p14:sldId id="258"/>
            <p14:sldId id="259"/>
            <p14:sldId id="260"/>
          </p14:sldIdLst>
        </p14:section>
        <p14:section name="Risk" id="{2b2a8b0e-3977-e6e7-1947-932996a6d447}">
          <p14:sldIdLst>
            <p14:sldId id="261"/>
            <p14:sldId id="262"/>
            <p14:sldId id="263"/>
            <p14:sldId id="264"/>
          </p14:sldIdLst>
        </p14:section>
        <p14:section name="Outliers" id="{f1f0cd6f-072e-e5b6-d448-7d1fc2023671}">
          <p14:sldIdLst>
            <p14:sldId id="265"/>
            <p14:sldId id="266"/>
            <p14:sldId id="267"/>
            <p14:sldId id="268"/>
          </p14:sldIdLst>
        </p14:section>
        <p14:section name="Caveats" id="{9653d31e-aeee-8c92-3c53-befebb3e1f6b}">
          <p14:sldIdLst>
            <p14:sldId id="269"/>
          </p14:sldIdLst>
        </p14:section>
        <p14:section name="Conclusion" id="{be267d8c-1be6-8466-7664-ea7f75a534f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ROE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FY2020</c:v>
                  </c:pt>
                  <c:pt idx="1">
                    <c:v>FY2021</c:v>
                  </c:pt>
                  <c:pt idx="2">
                    <c:v>FY2022</c:v>
                  </c:pt>
                  <c:pt idx="3">
                    <c:v>FY2023</c:v>
                  </c:pt>
                  <c:pt idx="4">
                    <c:v>FY2024</c:v>
                  </c:pt>
                  <c:pt idx="5">
                    <c:v>FY2025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19.4</c:v>
                </c:pt>
                <c:pt idx="1">
                  <c:v>20.8</c:v>
                </c:pt>
                <c:pt idx="2">
                  <c:v>20</c:v>
                </c:pt>
                <c:pt idx="3">
                  <c:v>21.8</c:v>
                </c:pt>
                <c:pt idx="4">
                  <c:v>25</c:v>
                </c:pt>
                <c:pt idx="5">
                  <c:v>25.5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ROE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LMT</c:v>
                  </c:pt>
                  <c:pt idx="1">
                    <c:v>VRSK</c:v>
                  </c:pt>
                  <c:pt idx="2">
                    <c:v>ADP</c:v>
                  </c:pt>
                  <c:pt idx="3">
                    <c:v>GWW</c:v>
                  </c:pt>
                  <c:pt idx="4">
                    <c:v>UPS</c:v>
                  </c:pt>
                  <c:pt idx="5">
                    <c:v>ALLE</c:v>
                  </c:pt>
                  <c:pt idx="6">
                    <c:v>ROK</c:v>
                  </c:pt>
                  <c:pt idx="7">
                    <c:v>UNP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76</c:v>
                </c:pt>
                <c:pt idx="2">
                  <c:v>71</c:v>
                </c:pt>
                <c:pt idx="3">
                  <c:v>53</c:v>
                </c:pt>
                <c:pt idx="4">
                  <c:v>51</c:v>
                </c:pt>
                <c:pt idx="5">
                  <c:v>48</c:v>
                </c:pt>
                <c:pt idx="6">
                  <c:v>47</c:v>
                </c:pt>
                <c:pt idx="7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COVID / pandemic</c:v>
                </c:pt>
              </c:strCache>
            </c:strRef>
          </c:tx>
          <c:spPr>
            <a:solidFill>
              <a:srgbClr val="7B8794"/>
            </a:solidFill>
            <a:ln w="38100" cap="flat">
              <a:solidFill>
                <a:srgbClr val="7B87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B8794"/>
              </a:solidFill>
              <a:ln w="9525" cap="flat">
                <a:solidFill>
                  <a:srgbClr val="7B87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FY20</c:v>
                  </c:pt>
                  <c:pt idx="1">
                    <c:v>FY21</c:v>
                  </c:pt>
                  <c:pt idx="2">
                    <c:v>FY22</c:v>
                  </c:pt>
                  <c:pt idx="3">
                    <c:v>FY23</c:v>
                  </c:pt>
                  <c:pt idx="4">
                    <c:v>FY24</c:v>
                  </c:pt>
                  <c:pt idx="5">
                    <c:v>FY25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</c:v>
                </c:pt>
                <c:pt idx="1">
                  <c:v>66</c:v>
                </c:pt>
                <c:pt idx="2">
                  <c:v>32</c:v>
                </c:pt>
                <c:pt idx="3">
                  <c:v>7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Raw materials / inflation</c:v>
                </c:pt>
              </c:strCache>
            </c:strRef>
          </c:tx>
          <c:spPr>
            <a:solidFill>
              <a:srgbClr val="D9480F"/>
            </a:solidFill>
            <a:ln w="38100" cap="flat">
              <a:solidFill>
                <a:srgbClr val="D9480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480F"/>
              </a:solidFill>
              <a:ln w="9525" cap="flat">
                <a:solidFill>
                  <a:srgbClr val="D9480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FY20</c:v>
                  </c:pt>
                  <c:pt idx="1">
                    <c:v>FY21</c:v>
                  </c:pt>
                  <c:pt idx="2">
                    <c:v>FY22</c:v>
                  </c:pt>
                  <c:pt idx="3">
                    <c:v>FY23</c:v>
                  </c:pt>
                  <c:pt idx="4">
                    <c:v>FY24</c:v>
                  </c:pt>
                  <c:pt idx="5">
                    <c:v>FY25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</c:v>
                </c:pt>
                <c:pt idx="1">
                  <c:v>34</c:v>
                </c:pt>
                <c:pt idx="2">
                  <c:v>50</c:v>
                </c:pt>
                <c:pt idx="3">
                  <c:v>49</c:v>
                </c:pt>
                <c:pt idx="4">
                  <c:v>49</c:v>
                </c:pt>
                <c:pt idx="5">
                  <c:v>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Geopolitical / trade</c:v>
                </c:pt>
              </c:strCache>
            </c:strRef>
          </c:tx>
          <c:spPr>
            <a:solidFill>
              <a:srgbClr val="3E7CB1"/>
            </a:solidFill>
            <a:ln w="38100" cap="flat">
              <a:solidFill>
                <a:srgbClr val="3E7C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E7CB1"/>
              </a:solidFill>
              <a:ln w="9525" cap="flat">
                <a:solidFill>
                  <a:srgbClr val="3E7C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FY20</c:v>
                  </c:pt>
                  <c:pt idx="1">
                    <c:v>FY21</c:v>
                  </c:pt>
                  <c:pt idx="2">
                    <c:v>FY22</c:v>
                  </c:pt>
                  <c:pt idx="3">
                    <c:v>FY23</c:v>
                  </c:pt>
                  <c:pt idx="4">
                    <c:v>FY24</c:v>
                  </c:pt>
                  <c:pt idx="5">
                    <c:v>FY25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13</c:v>
                </c:pt>
                <c:pt idx="1">
                  <c:v>16</c:v>
                </c:pt>
                <c:pt idx="2">
                  <c:v>21</c:v>
                </c:pt>
                <c:pt idx="3">
                  <c:v>26</c:v>
                </c:pt>
                <c:pt idx="4">
                  <c:v>33</c:v>
                </c:pt>
                <c:pt idx="5">
                  <c:v>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4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E4C5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Raw materials / inflation</c:v>
                  </c:pt>
                  <c:pt idx="1">
                    <c:v>Geopolitical / trade</c:v>
                  </c:pt>
                  <c:pt idx="2">
                    <c:v>Supplier dependence</c:v>
                  </c:pt>
                  <c:pt idx="3">
                    <c:v>Labor / workforce</c:v>
                  </c:pt>
                  <c:pt idx="4">
                    <c:v>Regulatory / climate</c:v>
                  </c:pt>
                  <c:pt idx="5">
                    <c:v>Cyber / IT</c:v>
                  </c:pt>
                  <c:pt idx="6">
                    <c:v>Logistics</c:v>
                  </c:pt>
                  <c:pt idx="7">
                    <c:v>COVID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41</c:v>
                </c:pt>
                <c:pt idx="2">
                  <c:v>37</c:v>
                </c:pt>
                <c:pt idx="3">
                  <c:v>26</c:v>
                </c:pt>
                <c:pt idx="4">
                  <c:v>14</c:v>
                </c:pt>
                <c:pt idx="5">
                  <c:v>10</c:v>
                </c:pt>
                <c:pt idx="6">
                  <c:v>10</c:v>
                </c:pt>
                <c:pt idx="7">
                  <c:v>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filings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Raw materials / inflation</c:v>
                  </c:pt>
                  <c:pt idx="1">
                    <c:v>Supplier dependence</c:v>
                  </c:pt>
                  <c:pt idx="2">
                    <c:v>Geopolitical / trade</c:v>
                  </c:pt>
                  <c:pt idx="3">
                    <c:v>Labor / workforce</c:v>
                  </c:pt>
                  <c:pt idx="4">
                    <c:v>Disasters / weather</c:v>
                  </c:pt>
                  <c:pt idx="5">
                    <c:v>Logistics</c:v>
                  </c:pt>
                  <c:pt idx="6">
                    <c:v>Cyber / IT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</c:v>
                </c:pt>
                <c:pt idx="1">
                  <c:v>33</c:v>
                </c:pt>
                <c:pt idx="2">
                  <c:v>25</c:v>
                </c:pt>
                <c:pt idx="3">
                  <c:v>23</c:v>
                </c:pt>
                <c:pt idx="4">
                  <c:v>14</c:v>
                </c:pt>
                <c:pt idx="5">
                  <c:v>12</c:v>
                </c:pt>
                <c:pt idx="6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filings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Strengthen risk management</c:v>
                  </c:pt>
                  <c:pt idx="1">
                    <c:v>Investors: monitor</c:v>
                  </c:pt>
                  <c:pt idx="2">
                    <c:v>Diversify suppliers</c:v>
                  </c:pt>
                  <c:pt idx="3">
                    <c:v>Hold buffer inventory</c:v>
                  </c:pt>
                  <c:pt idx="4">
                    <c:v>Invest in tech / automation</c:v>
                  </c:pt>
                  <c:pt idx="5">
                    <c:v>Shore up balance sheet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</c:v>
                </c:pt>
                <c:pt idx="1">
                  <c:v>93</c:v>
                </c:pt>
                <c:pt idx="2">
                  <c:v>81</c:v>
                </c:pt>
                <c:pt idx="3">
                  <c:v>28</c:v>
                </c:pt>
                <c:pt idx="4">
                  <c:v>19</c:v>
                </c:pt>
                <c:pt idx="5">
                  <c:v>12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Outlier filings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7CB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7CB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879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Structural leverage (repeat firms)</c:v>
                  </c:pt>
                  <c:pt idx="1">
                    <c:v>One-year leverage spikes</c:v>
                  </c:pt>
                  <c:pt idx="2">
                    <c:v>COVID-hit losses</c:v>
                  </c:pt>
                  <c:pt idx="3">
                    <c:v>One-off charges</c:v>
                  </c:pt>
                  <c:pt idx="4">
                    <c:v>Unexplained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 multiplier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87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Typical filing</c:v>
                  </c:pt>
                  <c:pt idx="1">
                    <c:v>High outliers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</c:v>
                </c:pt>
                <c:pt idx="1">
                  <c:v>8.9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394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Industrials: ROE and Risk Review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30175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DuPont analysis and 10-K supply chain risk, FY2020–2025</a:t>
            </a:r>
            <a:endParaRPr lang="en-US" sz="1800" dirty="0"/>
          </a:p>
        </p:txBody>
      </p:sp>
      <p:sp>
        <p:nvSpPr>
          <p:cNvPr id="4" name="Stat circle"/>
          <p:cNvSpPr/>
          <p:nvPr/>
        </p:nvSpPr>
        <p:spPr>
          <a:xfrm>
            <a:off x="6583680" y="14630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at text"/>
          <p:cNvSpPr txBox="1"/>
          <p:nvPr/>
        </p:nvSpPr>
        <p:spPr>
          <a:xfrm>
            <a:off x="6583680" y="146304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472</a:t>
            </a:r>
            <a:endParaRPr lang="en-US" sz="44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filings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we analyzed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Annual 10-K filings from industrial companies, each with an AI-written risk review</a:t>
            </a:r>
            <a:endParaRPr lang="en-US" sz="1600" dirty="0"/>
          </a:p>
        </p:txBody>
      </p:sp>
      <p:sp>
        <p:nvSpPr>
          <p:cNvPr id="4" name="Stat card 1"/>
          <p:cNvSpPr/>
          <p:nvPr/>
        </p:nvSpPr>
        <p:spPr>
          <a:xfrm>
            <a:off x="45720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Stat value 1"/>
          <p:cNvSpPr txBox="1"/>
          <p:nvPr/>
        </p:nvSpPr>
        <p:spPr>
          <a:xfrm>
            <a:off x="457200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81</a:t>
            </a:r>
            <a:endParaRPr lang="en-US" sz="4400" dirty="0"/>
          </a:p>
        </p:txBody>
      </p:sp>
      <p:sp>
        <p:nvSpPr>
          <p:cNvPr id="6" name="Stat label 1"/>
          <p:cNvSpPr txBox="1"/>
          <p:nvPr/>
        </p:nvSpPr>
        <p:spPr>
          <a:xfrm>
            <a:off x="59436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companies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256032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8" name="Stat value 2"/>
          <p:cNvSpPr txBox="1"/>
          <p:nvPr/>
        </p:nvSpPr>
        <p:spPr>
          <a:xfrm>
            <a:off x="2560320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</a:t>
            </a:r>
            <a:endParaRPr lang="en-US" sz="4400" dirty="0"/>
          </a:p>
        </p:txBody>
      </p:sp>
      <p:sp>
        <p:nvSpPr>
          <p:cNvPr id="9" name="Stat label 2"/>
          <p:cNvSpPr txBox="1"/>
          <p:nvPr/>
        </p:nvSpPr>
        <p:spPr>
          <a:xfrm>
            <a:off x="269748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fiscal years (FY2020–25)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466344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1" name="Stat value 3"/>
          <p:cNvSpPr txBox="1"/>
          <p:nvPr/>
        </p:nvSpPr>
        <p:spPr>
          <a:xfrm>
            <a:off x="4663440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472</a:t>
            </a:r>
            <a:endParaRPr lang="en-US" sz="4400" dirty="0"/>
          </a:p>
        </p:txBody>
      </p:sp>
      <p:sp>
        <p:nvSpPr>
          <p:cNvPr id="12" name="Stat label 3"/>
          <p:cNvSpPr txBox="1"/>
          <p:nvPr/>
        </p:nvSpPr>
        <p:spPr>
          <a:xfrm>
            <a:off x="480060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company-year filings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6766560" y="173736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Stat value 4"/>
          <p:cNvSpPr txBox="1"/>
          <p:nvPr/>
        </p:nvSpPr>
        <p:spPr>
          <a:xfrm>
            <a:off x="6766560" y="19659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94%</a:t>
            </a:r>
            <a:endParaRPr lang="en-US" sz="4400" dirty="0"/>
          </a:p>
        </p:txBody>
      </p:sp>
      <p:sp>
        <p:nvSpPr>
          <p:cNvPr id="15" name="Stat label 4"/>
          <p:cNvSpPr txBox="1"/>
          <p:nvPr/>
        </p:nvSpPr>
        <p:spPr>
          <a:xfrm>
            <a:off x="6903720" y="28346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usable risk-factor text</a:t>
            </a:r>
            <a:endParaRPr lang="en-US" sz="1400" dirty="0"/>
          </a:p>
        </p:txBody>
      </p:sp>
      <p:sp>
        <p:nvSpPr>
          <p:cNvPr id="16" name="Method note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filing has a DuPont ROE breakdown (margin, asset turnover, leverage) and a review of supply chain and operational risk.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Median ROE is up since 2020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Median ROE rose from 19.4% in FY2020 to 25.5% in FY2025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llout card"/>
          <p:cNvSpPr/>
          <p:nvPr/>
        </p:nvSpPr>
        <p:spPr>
          <a:xfrm>
            <a:off x="6309360" y="1828800"/>
            <a:ext cx="2377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6" name="Callout value"/>
          <p:cNvSpPr txBox="1"/>
          <p:nvPr/>
        </p:nvSpPr>
        <p:spPr>
          <a:xfrm>
            <a:off x="6309360" y="2103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+6 pts</a:t>
            </a:r>
            <a:endParaRPr lang="en-US" sz="4400" dirty="0"/>
          </a:p>
        </p:txBody>
      </p:sp>
      <p:sp>
        <p:nvSpPr>
          <p:cNvPr id="7" name="Callout label"/>
          <p:cNvSpPr txBox="1"/>
          <p:nvPr/>
        </p:nvSpPr>
        <p:spPr>
          <a:xfrm>
            <a:off x="6492240" y="3017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in median ROE, FY2020 to FY2025</a:t>
            </a:r>
            <a:endParaRPr lang="en-US" sz="1400" dirty="0"/>
          </a:p>
        </p:txBody>
      </p:sp>
      <p:sp>
        <p:nvSpPr>
          <p:cNvPr id="8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Median across companies with a reported ROE (58–65 per year).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Highest and lowest ROE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Lockheed Martin, Verisk and ADP lead; Uber and the airlines trail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aggards card"/>
          <p:cNvSpPr/>
          <p:nvPr/>
        </p:nvSpPr>
        <p:spPr>
          <a:xfrm>
            <a:off x="5852160" y="1645920"/>
            <a:ext cx="28346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/>
        </p:spPr>
      </p:sp>
      <p:sp>
        <p:nvSpPr>
          <p:cNvPr id="6" name="Laggards text"/>
          <p:cNvSpPr txBox="1"/>
          <p:nvPr/>
        </p:nvSpPr>
        <p:spPr>
          <a:xfrm>
            <a:off x="6035040" y="17830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Lowest averages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UBER  −14%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UAL  −12%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LUV  −1%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VRT  4%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RTX  5%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High ROE can reflect thin equity, not just strong profits.</a:t>
            </a:r>
            <a:endParaRPr lang="en-US" sz="1600" dirty="0"/>
          </a:p>
        </p:txBody>
      </p:sp>
      <p:sp>
        <p:nvSpPr>
          <p:cNvPr id="7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Average FY2020–25 ROE for companies with 4+ years of data; years with ROE above 200%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drives industrial ROE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Profit margin leads in most filings, but leverage leads in four of ten</a:t>
            </a:r>
            <a:endParaRPr lang="en-US" sz="1600" dirty="0"/>
          </a:p>
        </p:txBody>
      </p:sp>
      <p:sp>
        <p:nvSpPr>
          <p:cNvPr id="4" name="Driver card 1"/>
          <p:cNvSpPr/>
          <p:nvPr/>
        </p:nvSpPr>
        <p:spPr>
          <a:xfrm>
            <a:off x="457200" y="164592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5" name="Driver value 1"/>
          <p:cNvSpPr txBox="1"/>
          <p:nvPr/>
        </p:nvSpPr>
        <p:spPr>
          <a:xfrm>
            <a:off x="457200" y="1783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59%</a:t>
            </a:r>
            <a:endParaRPr lang="en-US" sz="5400" dirty="0"/>
          </a:p>
        </p:txBody>
      </p:sp>
      <p:sp>
        <p:nvSpPr>
          <p:cNvPr id="6" name="Driver label 1"/>
          <p:cNvSpPr txBox="1"/>
          <p:nvPr/>
        </p:nvSpPr>
        <p:spPr>
          <a:xfrm>
            <a:off x="73152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filings lead with profit margin</a:t>
            </a:r>
            <a:endParaRPr lang="en-US" sz="1600" dirty="0"/>
          </a:p>
        </p:txBody>
      </p:sp>
      <p:sp>
        <p:nvSpPr>
          <p:cNvPr id="7" name="Driver card 2"/>
          <p:cNvSpPr/>
          <p:nvPr/>
        </p:nvSpPr>
        <p:spPr>
          <a:xfrm>
            <a:off x="4663440" y="1645920"/>
            <a:ext cx="40233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Driver value 2"/>
          <p:cNvSpPr txBox="1"/>
          <p:nvPr/>
        </p:nvSpPr>
        <p:spPr>
          <a:xfrm>
            <a:off x="4663440" y="1783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41%</a:t>
            </a:r>
            <a:endParaRPr lang="en-US" sz="5400" dirty="0"/>
          </a:p>
        </p:txBody>
      </p:sp>
      <p:sp>
        <p:nvSpPr>
          <p:cNvPr id="9" name="Driver label 2"/>
          <p:cNvSpPr txBox="1"/>
          <p:nvPr/>
        </p:nvSpPr>
        <p:spPr>
          <a:xfrm>
            <a:off x="493776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filings lead with the equity multiplier (leverage)</a:t>
            </a:r>
            <a:endParaRPr lang="en-US" sz="1600" dirty="0"/>
          </a:p>
        </p:txBody>
      </p:sp>
      <p:sp>
        <p:nvSpPr>
          <p:cNvPr id="10" name="Driver note"/>
          <p:cNvSpPr txBox="1"/>
          <p:nvPr/>
        </p:nvSpPr>
        <p:spPr>
          <a:xfrm>
            <a:off x="457200" y="3703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Asset turnover was never named as the lead driver. Leverage-led ROE deserves a closer look: it can come from buybacks or thin equity rather than operating strength.</a:t>
            </a:r>
            <a:endParaRPr lang="en-US" sz="1400" dirty="0"/>
          </a:p>
        </p:txBody>
      </p:sp>
      <p:sp>
        <p:nvSpPr>
          <p:cNvPr id="11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Based on which driver each AI write-up mentions first (467 of 472 filings).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Risk focus has shifted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COVID faded as geopolitics and input costs took over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669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ift value 1"/>
          <p:cNvSpPr txBox="1"/>
          <p:nvPr/>
        </p:nvSpPr>
        <p:spPr>
          <a:xfrm>
            <a:off x="640080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74% → 4%</a:t>
            </a:r>
            <a:endParaRPr lang="en-US" sz="2800" dirty="0"/>
          </a:p>
        </p:txBody>
      </p:sp>
      <p:sp>
        <p:nvSpPr>
          <p:cNvPr id="6" name="Shift label 1"/>
          <p:cNvSpPr txBox="1"/>
          <p:nvPr/>
        </p:nvSpPr>
        <p:spPr>
          <a:xfrm>
            <a:off x="64008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COVID</a:t>
            </a:r>
            <a:endParaRPr lang="en-US" sz="1400" dirty="0"/>
          </a:p>
        </p:txBody>
      </p:sp>
      <p:sp>
        <p:nvSpPr>
          <p:cNvPr id="7" name="Shift value 2"/>
          <p:cNvSpPr txBox="1"/>
          <p:nvPr/>
        </p:nvSpPr>
        <p:spPr>
          <a:xfrm>
            <a:off x="640080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19% → 45%</a:t>
            </a:r>
            <a:endParaRPr lang="en-US" sz="2800" dirty="0"/>
          </a:p>
        </p:txBody>
      </p:sp>
      <p:sp>
        <p:nvSpPr>
          <p:cNvPr id="8" name="Shift label 2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Raw materials / inflation</a:t>
            </a:r>
            <a:endParaRPr lang="en-US" sz="1400" dirty="0"/>
          </a:p>
        </p:txBody>
      </p:sp>
      <p:sp>
        <p:nvSpPr>
          <p:cNvPr id="9" name="Shift value 3"/>
          <p:cNvSpPr txBox="1"/>
          <p:nvPr/>
        </p:nvSpPr>
        <p:spPr>
          <a:xfrm>
            <a:off x="640080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13% → 41%</a:t>
            </a:r>
            <a:endParaRPr lang="en-US" sz="2800" dirty="0"/>
          </a:p>
        </p:txBody>
      </p:sp>
      <p:sp>
        <p:nvSpPr>
          <p:cNvPr id="10" name="Shift label 3"/>
          <p:cNvSpPr txBox="1"/>
          <p:nvPr/>
        </p:nvSpPr>
        <p:spPr>
          <a:xfrm>
            <a:off x="640080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Geopolitical / trade</a:t>
            </a:r>
            <a:endParaRPr lang="en-US" sz="1400" dirty="0"/>
          </a:p>
        </p:txBody>
      </p:sp>
      <p:sp>
        <p:nvSpPr>
          <p:cNvPr id="11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Share of filings whose supply chain summary mentions the theme, FY2020 to FY2025 (69–77 filings per year).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Top risks in FY2025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Costs, trade and suppliers dominate; cyber barely registers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669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yber card"/>
          <p:cNvSpPr/>
          <p:nvPr/>
        </p:nvSpPr>
        <p:spPr>
          <a:xfrm>
            <a:off x="6400800" y="1828800"/>
            <a:ext cx="2286000" cy="23774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6" name="Cyber note"/>
          <p:cNvSpPr txBox="1"/>
          <p:nvPr/>
        </p:nvSpPr>
        <p:spPr>
          <a:xfrm>
            <a:off x="6583680" y="20116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Cyber is probably understated: the review focused on supply chain risk, not IT.</a:t>
            </a:r>
            <a:endParaRPr lang="en-US" sz="1400" dirty="0"/>
          </a:p>
        </p:txBody>
      </p:sp>
      <p:sp>
        <p:nvSpPr>
          <p:cNvPr id="7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Share of FY2025 filings (73 with usable risk text) mentioning each theme; keyword match.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Supply chain risk, FY2020–25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Two in three summaries call the risk severe; supplier dependence never fades</a:t>
            </a:r>
            <a:endParaRPr lang="en-US" sz="1600" dirty="0"/>
          </a:p>
        </p:txBody>
      </p:sp>
      <p:sp>
        <p:nvSpPr>
          <p:cNvPr id="4" name="Severity card"/>
          <p:cNvSpPr/>
          <p:nvPr/>
        </p:nvSpPr>
        <p:spPr>
          <a:xfrm>
            <a:off x="457200" y="17373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5" name="Severity value"/>
          <p:cNvSpPr txBox="1"/>
          <p:nvPr/>
        </p:nvSpPr>
        <p:spPr>
          <a:xfrm>
            <a:off x="45720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68%</a:t>
            </a:r>
            <a:endParaRPr lang="en-US" sz="5400" dirty="0"/>
          </a:p>
        </p:txBody>
      </p:sp>
      <p:sp>
        <p:nvSpPr>
          <p:cNvPr id="6" name="Severity label"/>
          <p:cNvSpPr txBox="1"/>
          <p:nvPr/>
        </p:nvSpPr>
        <p:spPr>
          <a:xfrm>
            <a:off x="640080" y="3017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risk summaries use the word "severe"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91840" y="155448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Share of the 442 filings with usable Item 1A text whose supply chain summary mentions each theme; keyword match.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Stakeholders and actions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Every filing maps the same five groups; the advice is resilience first</a:t>
            </a:r>
            <a:endParaRPr lang="en-US" sz="1600" dirty="0"/>
          </a:p>
        </p:txBody>
      </p:sp>
      <p:sp>
        <p:nvSpPr>
          <p:cNvPr id="4" name="Stakeholder dot 1"/>
          <p:cNvSpPr/>
          <p:nvPr/>
        </p:nvSpPr>
        <p:spPr>
          <a:xfrm>
            <a:off x="457200" y="16367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takeholder number 1"/>
          <p:cNvSpPr txBox="1"/>
          <p:nvPr/>
        </p:nvSpPr>
        <p:spPr>
          <a:xfrm>
            <a:off x="457200" y="1636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akeholder 1"/>
          <p:cNvSpPr txBox="1"/>
          <p:nvPr/>
        </p:nvSpPr>
        <p:spPr>
          <a:xfrm>
            <a:off x="1005840" y="1600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delays, availability, price hikes</a:t>
            </a:r>
            <a:endParaRPr lang="en-US" sz="1400" dirty="0"/>
          </a:p>
        </p:txBody>
      </p:sp>
      <p:sp>
        <p:nvSpPr>
          <p:cNvPr id="7" name="Stakeholder dot 2"/>
          <p:cNvSpPr/>
          <p:nvPr/>
        </p:nvSpPr>
        <p:spPr>
          <a:xfrm>
            <a:off x="457200" y="22037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akeholder number 2"/>
          <p:cNvSpPr txBox="1"/>
          <p:nvPr/>
        </p:nvSpPr>
        <p:spPr>
          <a:xfrm>
            <a:off x="45720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akeholder 2"/>
          <p:cNvSpPr txBox="1"/>
          <p:nvPr/>
        </p:nvSpPr>
        <p:spPr>
          <a:xfrm>
            <a:off x="100584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Suppliers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disrupted supply, cost pressure</a:t>
            </a:r>
            <a:endParaRPr lang="en-US" sz="1400" dirty="0"/>
          </a:p>
        </p:txBody>
      </p:sp>
      <p:sp>
        <p:nvSpPr>
          <p:cNvPr id="10" name="Stakeholder dot 3"/>
          <p:cNvSpPr/>
          <p:nvPr/>
        </p:nvSpPr>
        <p:spPr>
          <a:xfrm>
            <a:off x="457200" y="27706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Stakeholder number 3"/>
          <p:cNvSpPr txBox="1"/>
          <p:nvPr/>
        </p:nvSpPr>
        <p:spPr>
          <a:xfrm>
            <a:off x="45720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akeholder 3"/>
          <p:cNvSpPr txBox="1"/>
          <p:nvPr/>
        </p:nvSpPr>
        <p:spPr>
          <a:xfrm>
            <a:off x="1005840" y="27340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Employees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job security, safety</a:t>
            </a:r>
            <a:endParaRPr lang="en-US" sz="1400" dirty="0"/>
          </a:p>
        </p:txBody>
      </p:sp>
      <p:sp>
        <p:nvSpPr>
          <p:cNvPr id="13" name="Stakeholder dot 4"/>
          <p:cNvSpPr/>
          <p:nvPr/>
        </p:nvSpPr>
        <p:spPr>
          <a:xfrm>
            <a:off x="457200" y="33375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takeholder number 4"/>
          <p:cNvSpPr txBox="1"/>
          <p:nvPr/>
        </p:nvSpPr>
        <p:spPr>
          <a:xfrm>
            <a:off x="45720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takeholder 4"/>
          <p:cNvSpPr txBox="1"/>
          <p:nvPr/>
        </p:nvSpPr>
        <p:spPr>
          <a:xfrm>
            <a:off x="1005840" y="33009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Lenders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higher credit risk</a:t>
            </a:r>
            <a:endParaRPr lang="en-US" sz="1400" dirty="0"/>
          </a:p>
        </p:txBody>
      </p:sp>
      <p:sp>
        <p:nvSpPr>
          <p:cNvPr id="16" name="Stakeholder dot 5"/>
          <p:cNvSpPr/>
          <p:nvPr/>
        </p:nvSpPr>
        <p:spPr>
          <a:xfrm>
            <a:off x="457200" y="39044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takeholder number 5"/>
          <p:cNvSpPr txBox="1"/>
          <p:nvPr/>
        </p:nvSpPr>
        <p:spPr>
          <a:xfrm>
            <a:off x="45720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Stakeholder 5"/>
          <p:cNvSpPr txBox="1"/>
          <p:nvPr/>
        </p:nvSpPr>
        <p:spPr>
          <a:xfrm>
            <a:off x="1005840" y="3867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Shareholders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stock volatility</a:t>
            </a:r>
            <a:endParaRPr lang="en-US" sz="1400" dirty="0"/>
          </a:p>
        </p:txBody>
      </p:sp>
      <p:sp>
        <p:nvSpPr>
          <p:cNvPr id="19" name="Actions heading"/>
          <p:cNvSpPr txBox="1"/>
          <p:nvPr/>
        </p:nvSpPr>
        <p:spPr>
          <a:xfrm>
            <a:off x="448056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Recommended actions (share of filings)</a:t>
            </a:r>
            <a:endParaRPr lang="en-US" sz="1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480560" y="182880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472 write-ups name the same five groups, and 30 are generic (no Item 1A text). Action shares are keyword matches.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28 outliers, three causes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Leverage explains 20 of 28; COVID and one-off charges explain 7</a:t>
            </a:r>
            <a:endParaRPr lang="en-US" sz="1600" dirty="0"/>
          </a:p>
        </p:txBody>
      </p:sp>
      <p:sp>
        <p:nvSpPr>
          <p:cNvPr id="4" name="Outlier card"/>
          <p:cNvSpPr/>
          <p:nvPr/>
        </p:nvSpPr>
        <p:spPr>
          <a:xfrm>
            <a:off x="457200" y="17373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/>
        </p:spPr>
      </p:sp>
      <p:sp>
        <p:nvSpPr>
          <p:cNvPr id="5" name="Outlier value"/>
          <p:cNvSpPr txBox="1"/>
          <p:nvPr/>
        </p:nvSpPr>
        <p:spPr>
          <a:xfrm>
            <a:off x="457200" y="20116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28</a:t>
            </a:r>
            <a:endParaRPr lang="en-US" sz="5400" dirty="0"/>
          </a:p>
        </p:txBody>
      </p:sp>
      <p:sp>
        <p:nvSpPr>
          <p:cNvPr id="6" name="Outlier label"/>
          <p:cNvSpPr txBox="1"/>
          <p:nvPr/>
        </p:nvSpPr>
        <p:spPr>
          <a:xfrm>
            <a:off x="6400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outlier filings (7% of 376 with ROE) across 14 companies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91840" y="155448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Outlier = ROE below −20% or above 66% (IQR rule). COVID and one-off attributions use public context, not the file.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High ROE is a leverage story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Thin equity, not stronger operations, drives the top outliers</a:t>
            </a:r>
            <a:endParaRPr lang="en-US" sz="1600" dirty="0"/>
          </a:p>
        </p:txBody>
      </p:sp>
      <p:sp>
        <p:nvSpPr>
          <p:cNvPr id="4" name="Chart heading"/>
          <p:cNvSpPr txBox="1"/>
          <p:nvPr/>
        </p:nvSpPr>
        <p:spPr>
          <a:xfrm>
            <a:off x="45720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Median equity multiplier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epeat card"/>
          <p:cNvSpPr/>
          <p:nvPr/>
        </p:nvSpPr>
        <p:spPr>
          <a:xfrm>
            <a:off x="4663440" y="1645920"/>
            <a:ext cx="40233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7" name="Repeat text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17 of 20 come from six companies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LMT: 4 years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ADP, LII, VRSK: 3 years each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MMM, UPS: 2 years each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Margins are only ~5 pts higher than typical (15.5% vs 10.4%), so leverage does the work.</a:t>
            </a:r>
            <a:endParaRPr lang="en-US" sz="1600" dirty="0"/>
          </a:p>
        </p:txBody>
      </p:sp>
      <p:sp>
        <p:nvSpPr>
          <p:cNvPr id="8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High outlier = ROE above 66%; multipliers parsed from the DuPont write-ups (19 of 20 parseable). Lowest high-outlier multiplier: 3.5×.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Low ROE is COVID and one-offs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All eight low outliers had net losses; six fall in FY2020–21</a:t>
            </a:r>
            <a:endParaRPr lang="en-US" sz="1600" dirty="0"/>
          </a:p>
        </p:txBody>
      </p:sp>
      <p:graphicFrame>
        <p:nvGraphicFramePr>
          <p:cNvPr id="13" name="Low outli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280160"/>
                <a:gridCol w="42976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Company-year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Net margin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Likely cause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9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DAL FY2020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−807%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−72%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COVID travel collapse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MMM FY2023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−146%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−28%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Large one-off charges (likely litigation)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UBER FY2022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−125%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−29%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Large one-off loss (likely investment write-downs)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UAL FY2020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−119%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−46%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COVID travel collapse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VRT FY2020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−64%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−7%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Not explained by the file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UBER FY2020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−55%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−61%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COVID mobility collapse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UAL FY2021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−39%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−8%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COVID recovery year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3"/>
                          </a:solidFill>
                        </a:rPr>
                        <a:t>LUV FY2020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−35%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−34%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</a:rPr>
                        <a:t>COVID travel collapse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Causes come from public context, not the file; confirm before presenting. Net margin parsed from the DuPont write-ups.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Handling the outliers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Three adjustments keep a few extreme filings from skewing the story</a:t>
            </a:r>
            <a:endParaRPr lang="en-US" sz="1600" dirty="0"/>
          </a:p>
        </p:txBody>
      </p:sp>
      <p:sp>
        <p:nvSpPr>
          <p:cNvPr id="4" name="Action card 1"/>
          <p:cNvSpPr/>
          <p:nvPr/>
        </p:nvSpPr>
        <p:spPr>
          <a:xfrm>
            <a:off x="457200" y="1645920"/>
            <a:ext cx="2651760" cy="2834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5" name="Action value 1"/>
          <p:cNvSpPr txBox="1"/>
          <p:nvPr/>
        </p:nvSpPr>
        <p:spPr>
          <a:xfrm>
            <a:off x="45720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Median</a:t>
            </a:r>
            <a:endParaRPr lang="en-US" sz="3600" dirty="0"/>
          </a:p>
        </p:txBody>
      </p:sp>
      <p:sp>
        <p:nvSpPr>
          <p:cNvPr id="6" name="Action text 1"/>
          <p:cNvSpPr txBox="1"/>
          <p:nvPr/>
        </p:nvSpPr>
        <p:spPr>
          <a:xfrm>
            <a:off x="64008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Use medians, not means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filing (VRSK FY2024, 957%) can swing an average. Medians moved only from 19.4% to 25.5%.</a:t>
            </a:r>
            <a:endParaRPr lang="en-US" sz="1600" dirty="0"/>
          </a:p>
        </p:txBody>
      </p:sp>
      <p:sp>
        <p:nvSpPr>
          <p:cNvPr id="7" name="Action card 2"/>
          <p:cNvSpPr/>
          <p:nvPr/>
        </p:nvSpPr>
        <p:spPr>
          <a:xfrm>
            <a:off x="3291840" y="1645920"/>
            <a:ext cx="2651760" cy="2834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8" name="Action value 2"/>
          <p:cNvSpPr txBox="1"/>
          <p:nvPr/>
        </p:nvSpPr>
        <p:spPr>
          <a:xfrm>
            <a:off x="329184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3.5×+</a:t>
            </a:r>
            <a:endParaRPr lang="en-US" sz="3600" dirty="0"/>
          </a:p>
        </p:txBody>
      </p:sp>
      <p:sp>
        <p:nvSpPr>
          <p:cNvPr id="9" name="Action text 2"/>
          <p:cNvSpPr txBox="1"/>
          <p:nvPr/>
        </p:nvSpPr>
        <p:spPr>
          <a:xfrm>
            <a:off x="347472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Show leverage with ROE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high outlier has an equity multiplier of 3.5× or more. Print it beside ROE.</a:t>
            </a:r>
            <a:endParaRPr lang="en-US" sz="1600" dirty="0"/>
          </a:p>
        </p:txBody>
      </p:sp>
      <p:sp>
        <p:nvSpPr>
          <p:cNvPr id="10" name="Action card 3"/>
          <p:cNvSpPr/>
          <p:nvPr/>
        </p:nvSpPr>
        <p:spPr>
          <a:xfrm>
            <a:off x="6126480" y="1645920"/>
            <a:ext cx="2651760" cy="28346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11" name="Action value 3"/>
          <p:cNvSpPr txBox="1"/>
          <p:nvPr/>
        </p:nvSpPr>
        <p:spPr>
          <a:xfrm>
            <a:off x="612648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 of 8</a:t>
            </a:r>
            <a:endParaRPr lang="en-US" sz="3600" dirty="0"/>
          </a:p>
        </p:txBody>
      </p:sp>
      <p:sp>
        <p:nvSpPr>
          <p:cNvPr id="12" name="Action text 3"/>
          <p:cNvSpPr txBox="1"/>
          <p:nvPr/>
        </p:nvSpPr>
        <p:spPr>
          <a:xfrm>
            <a:off x="630936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Footnote the event years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Six low outliers fall in FY2020–21. Treat them as pandemic years, not a trend.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Read these caveats first</a:t>
            </a:r>
            <a:endParaRPr lang="en-US" sz="3400" dirty="0"/>
          </a:p>
        </p:txBody>
      </p:sp>
      <p:sp>
        <p:nvSpPr>
          <p:cNvPr id="3" name="Number circle 1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Caveat 1"/>
          <p:cNvSpPr txBox="1"/>
          <p:nvPr/>
        </p:nvSpPr>
        <p:spPr>
          <a:xfrm>
            <a:off x="1188720" y="12801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Every risk score is 5.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1–10 score did not differentiate, so it is not used. Rerun with a scoring rubric.</a:t>
            </a:r>
            <a:endParaRPr lang="en-US" sz="1600" dirty="0"/>
          </a:p>
        </p:txBody>
      </p:sp>
      <p:sp>
        <p:nvSpPr>
          <p:cNvPr id="6" name="Number circle 2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umber 2"/>
          <p:cNvSpPr txBox="1"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Caveat 2"/>
          <p:cNvSpPr txBox="1"/>
          <p:nvPr/>
        </p:nvSpPr>
        <p:spPr>
          <a:xfrm>
            <a:off x="1188720" y="21488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ROE is missing for 96 filings (20%).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Another 30 filings have no extracted Item 1A text.</a:t>
            </a:r>
            <a:endParaRPr lang="en-US" sz="1600" dirty="0"/>
          </a:p>
        </p:txBody>
      </p:sp>
      <p:sp>
        <p:nvSpPr>
          <p:cNvPr id="9" name="Number circle 3"/>
          <p:cNvSpPr/>
          <p:nvPr/>
        </p:nvSpPr>
        <p:spPr>
          <a:xfrm>
            <a:off x="457200" y="3108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ber 3"/>
          <p:cNvSpPr txBox="1"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Caveat 3"/>
          <p:cNvSpPr txBox="1"/>
          <p:nvPr/>
        </p:nvSpPr>
        <p:spPr>
          <a:xfrm>
            <a:off x="1188720" y="3017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Extreme ROEs come from tiny or negative equity.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Examples: VRSK 957% (FY2024), DAL −807% (FY2020), MAS 628% (FY2020).</a:t>
            </a:r>
            <a:endParaRPr lang="en-US" sz="1600" dirty="0"/>
          </a:p>
        </p:txBody>
      </p:sp>
      <p:sp>
        <p:nvSpPr>
          <p:cNvPr id="12" name="Number circle 4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umber 4"/>
          <p:cNvSpPr txBox="1"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Caveat 4"/>
          <p:cNvSpPr txBox="1"/>
          <p:nvPr/>
        </p:nvSpPr>
        <p:spPr>
          <a:xfrm>
            <a:off x="118872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Themes are keyword counts on AI summaries.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They are not read directly from the filings, so treat them as directional.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the sector is heading</a:t>
            </a:r>
            <a:endParaRPr lang="en-US" sz="3400" dirty="0"/>
          </a:p>
        </p:txBody>
      </p:sp>
      <p:sp>
        <p:nvSpPr>
          <p:cNvPr id="3" name="Takeaway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Returns recovered as risk shifted from a demand shock to cost and trade pressure</a:t>
            </a:r>
            <a:endParaRPr lang="en-US" sz="1600" dirty="0"/>
          </a:p>
        </p:txBody>
      </p:sp>
      <p:sp>
        <p:nvSpPr>
          <p:cNvPr id="4" name="Phase card 1"/>
          <p:cNvSpPr/>
          <p:nvPr/>
        </p:nvSpPr>
        <p:spPr>
          <a:xfrm>
            <a:off x="457200" y="160020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5" name="Phase label 1"/>
          <p:cNvSpPr txBox="1"/>
          <p:nvPr/>
        </p:nvSpPr>
        <p:spPr>
          <a:xfrm>
            <a:off x="64008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FY2020–21: shock</a:t>
            </a:r>
            <a:endParaRPr lang="en-US" sz="1600" dirty="0"/>
          </a:p>
        </p:txBody>
      </p:sp>
      <p:sp>
        <p:nvSpPr>
          <p:cNvPr id="6" name="Phase ROE 1"/>
          <p:cNvSpPr txBox="1"/>
          <p:nvPr/>
        </p:nvSpPr>
        <p:spPr>
          <a:xfrm>
            <a:off x="64008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19.4% → 20.8%</a:t>
            </a:r>
            <a:endParaRPr lang="en-US" sz="2800" dirty="0"/>
          </a:p>
        </p:txBody>
      </p:sp>
      <p:sp>
        <p:nvSpPr>
          <p:cNvPr id="7" name="Phase text 1"/>
          <p:cNvSpPr txBox="1"/>
          <p:nvPr/>
        </p:nvSpPr>
        <p:spPr>
          <a:xfrm>
            <a:off x="640080" y="2651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median ROE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COVID named in 74%, then 66%, of filings</a:t>
            </a:r>
            <a:endParaRPr lang="en-US" sz="1200" dirty="0"/>
          </a:p>
        </p:txBody>
      </p:sp>
      <p:sp>
        <p:nvSpPr>
          <p:cNvPr id="8" name="Phase card 2"/>
          <p:cNvSpPr/>
          <p:nvPr/>
        </p:nvSpPr>
        <p:spPr>
          <a:xfrm>
            <a:off x="3291840" y="160020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9" name="Phase label 2"/>
          <p:cNvSpPr txBox="1"/>
          <p:nvPr/>
        </p:nvSpPr>
        <p:spPr>
          <a:xfrm>
            <a:off x="347472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FY2022–23: costs</a:t>
            </a:r>
            <a:endParaRPr lang="en-US" sz="1600" dirty="0"/>
          </a:p>
        </p:txBody>
      </p:sp>
      <p:sp>
        <p:nvSpPr>
          <p:cNvPr id="10" name="Phase ROE 2"/>
          <p:cNvSpPr txBox="1"/>
          <p:nvPr/>
        </p:nvSpPr>
        <p:spPr>
          <a:xfrm>
            <a:off x="347472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20.0% → 21.8%</a:t>
            </a:r>
            <a:endParaRPr lang="en-US" sz="2800" dirty="0"/>
          </a:p>
        </p:txBody>
      </p:sp>
      <p:sp>
        <p:nvSpPr>
          <p:cNvPr id="11" name="Phase text 2"/>
          <p:cNvSpPr txBox="1"/>
          <p:nvPr/>
        </p:nvSpPr>
        <p:spPr>
          <a:xfrm>
            <a:off x="3474720" y="2651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median ROE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Raw materials and inflation named in about half of filings</a:t>
            </a:r>
            <a:endParaRPr lang="en-US" sz="1200" dirty="0"/>
          </a:p>
        </p:txBody>
      </p:sp>
      <p:sp>
        <p:nvSpPr>
          <p:cNvPr id="12" name="Phase card 3"/>
          <p:cNvSpPr/>
          <p:nvPr/>
        </p:nvSpPr>
        <p:spPr>
          <a:xfrm>
            <a:off x="6126480" y="1600200"/>
            <a:ext cx="2651760" cy="201168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/>
        </p:spPr>
      </p:sp>
      <p:sp>
        <p:nvSpPr>
          <p:cNvPr id="13" name="Phase label 3"/>
          <p:cNvSpPr txBox="1"/>
          <p:nvPr/>
        </p:nvSpPr>
        <p:spPr>
          <a:xfrm>
            <a:off x="6309360" y="1737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FY2024–25: trade</a:t>
            </a:r>
            <a:endParaRPr lang="en-US" sz="1600" dirty="0"/>
          </a:p>
        </p:txBody>
      </p:sp>
      <p:sp>
        <p:nvSpPr>
          <p:cNvPr id="14" name="Phase ROE 3"/>
          <p:cNvSpPr txBox="1"/>
          <p:nvPr/>
        </p:nvSpPr>
        <p:spPr>
          <a:xfrm>
            <a:off x="630936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25.0% → 25.5%</a:t>
            </a:r>
            <a:endParaRPr lang="en-US" sz="2800" dirty="0"/>
          </a:p>
        </p:txBody>
      </p:sp>
      <p:sp>
        <p:nvSpPr>
          <p:cNvPr id="15" name="Phase text 3"/>
          <p:cNvSpPr txBox="1"/>
          <p:nvPr/>
        </p:nvSpPr>
        <p:spPr>
          <a:xfrm>
            <a:off x="6309360" y="2651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median ROE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Geopolitics and trade rising, from 33% to 41%</a:t>
            </a:r>
            <a:endParaRPr lang="en-US" sz="1200" dirty="0"/>
          </a:p>
        </p:txBody>
      </p:sp>
      <p:sp>
        <p:nvSpPr>
          <p:cNvPr id="16" name="Watch next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Watch next: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tariffs and geopolitics (rising every year), labor pressure (elevated since FY2021), and leverage-led ROE, which is the most fragile part of the gain.</a:t>
            </a:r>
            <a:endParaRPr lang="en-US" sz="1600" dirty="0"/>
          </a:p>
        </p:txBody>
      </p:sp>
      <p:sp>
        <p:nvSpPr>
          <p:cNvPr id="17" name="Footnote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 read of the filings through FY2025, not a forecast.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ustrials">
  <a:themeElements>
    <a:clrScheme name="Industrials">
      <a:dk1>
        <a:srgbClr val="1F2933"/>
      </a:dk1>
      <a:lt1>
        <a:srgbClr val="FFFFFF"/>
      </a:lt1>
      <a:dk2>
        <a:srgbClr val="3E4C59"/>
      </a:dk2>
      <a:lt2>
        <a:srgbClr val="F0F2F5"/>
      </a:lt2>
      <a:accent1>
        <a:srgbClr val="D9480F"/>
      </a:accent1>
      <a:accent2>
        <a:srgbClr val="3E7CB1"/>
      </a:accent2>
      <a:accent3>
        <a:srgbClr val="7B8794"/>
      </a:accent3>
      <a:accent4>
        <a:srgbClr val="2F855A"/>
      </a:accent4>
      <a:accent5>
        <a:srgbClr val="C53030"/>
      </a:accent5>
      <a:accent6>
        <a:srgbClr val="D9A441"/>
      </a:accent6>
      <a:hlink>
        <a:srgbClr val="3E7CB1"/>
      </a:hlink>
      <a:folHlink>
        <a:srgbClr val="7B8794"/>
      </a:folHlink>
    </a:clrScheme>
    <a:fontScheme name="Industrial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Industrials: ROE and Risk Review</dc:title>
  <dc:subject>PptxGenJS Presentation</dc:subject>
  <dc:creator>PptxGenJS</dc:creator>
  <cp:lastModifiedBy>PptxGenJS</cp:lastModifiedBy>
  <cp:revision>1</cp:revision>
  <dcterms:created xsi:type="dcterms:W3CDTF">2026-10-07T13:13:34Z</dcterms:created>
  <dcterms:modified xsi:type="dcterms:W3CDTF">2026-10-07T13:13:34Z</dcterms:modified>
</cp:coreProperties>
</file>