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 map: what happened; accounting explanations; business evidence; monitoring implications. The quantitative findings concern the eligible healthcare sample. The industrial portion is a verified 3M disclosure case, not a validated sector-wide statistical comparison. Sustainability is a question to investigate, not an estimated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Margin = net income/revenue; turnover = revenue/assets; multiplier = assets/equity. Dollars cancel; ROE and margin are dimensionless ratios expressed as percentages. Example .20 × .50 × 2 = .20 = 20%. Book equity is assets minus liabilities, not market capitalization. Year-end denominators are used consistently here; do not mix with older average-balance graphs. Agilent lacks matched 2020, Bio-Techne lacks matched 2025, AbbVie has negative 2025 equity of $3.27bn. Missing matched data does not prove missing SEC filing. Professor benchmark is 45; verified eligible count here is 43. Inclusion requires five usable years, fixed panel six. 2026 filing dates can describe fiscal 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separately calculated annual medians for a balanced 40-company sample. Their product does not equal median ROE. Fixing membership removes changing-composition effects within this panel, not survivorship or selection bias. Median ROE changes describe distributions, not a typical company causal effect. Data: balanced_component_medians.csv. Companies have different fiscal year-end dates.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represents a firm in the indicated year; repeated dots across years are not independent observations. x = net income/assets, y = net income/equity; y = x × equity multiplier. Amgen margin .209817 × turnover .405703 × multiplier 10.462693 = ROE .890621. IDEXX .246175 × 1.284396 × 2.087202 = .659945. Asset returns are about 8.51% and 31.62%, respectively. This demonstrates the accounting denominator effect, not the historical cause of equity levels. Buybacks, losses, distributions and acquisitions require separate evidence. Names of annual top-ten firms are supplied in top10_each_year.csv; the full eligible table has 255 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of 40 firms, decompose each adjacent-year ROE change by averaging contributions over all six orders of replacing margin, turnover and multiplier. Average each contribution across firms. The three contributions sum to the change in mean ROE, not median ROE. 200 firm-level bridges. A one-percentage-point change means, for example, 10% to 11%. 2021 mean increase is 6.098 pp, of which margin contributes 6.235 pp. In 2023 all three average contributions are negative. Accounting allocations do not estimate counterfactual event effects.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Company averages use each eligible firm’s five or six unflagged years, then equal company weights. Sample SD is 21.90 percentage points. IQR = Q3−Q1; flag values below Q1−1.5IQR or above Q3+1.5IQR. ROE-only flags: ABBV, AMGN, IDXX, LLY, ZTS. Removing five leaves 38 firms with mean 13.50%. Alternative mean ±2 sample SD removes four, leaving 39 and mean 14.50%. Neither rule proves an accounting error. No normal bell-curve assumption, random sample inference or causal significance claim. Extreme group selection and repeated observations also constrain the risk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Pfizer year-end ROE fell from 32.795% in 2022 to 2.381% in 2023. Symmetric contributions: margin −24.350 pp, turnover −9.585 pp, multiplier +3.520 pp. Source: https://www.sec.gov/Archives/edgar/data/78003/000007800324000039/0000078003-24-000039.txt. The filing discusses reduced COVID-product demand, excess inventory and significant Paxlovid/Comirnaty write-offs. Seagen is an additional asset-base issue. This is one verified case, not a sector explanation. Management expected at least $4bn cost realignment net savings primarily in 2023–2024; we have not verified realized savings. Proposed follow-up: revenue mix, inventory charges, acquisition effects and realized savings.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3M 2024 10-K https://www.sec.gov/Archives/edgar/data/66740/000006674025000006/0000066740-25-000006.txt. Exact excerpts include “some of our suppliers are limited- or sole-source suppliers”; “In 2024, global supply chains stabilized, with disruptions driven from more isolated factors”; “Market price risks were partially mitigated via negotiated supply contracts and leveraging scale across supply base.” This illustrates how Item 1A exposures differ from realized conditions discussed elsewhere. The filing does not support attributing all ROE changes to sourcing. Comparable industrial four-component quantitative panel remains unverified. Industrial files have not been edited.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a high-versus-low risk difference as a finding yet. Ten selected disclosure matches are missing: ZBH 2020/2021/2022/2023/2025, STE 2021/2022/2023/2024, CI 2021. Financial rankings retain all 120 entries. The 110 matched filings represent 33 companies and 549 chunks, not 549 independent observations. Rank groups change annually. Later financial history is retrospective context. Exact quote and URL validation does not validate causal interpretations. Partner industrial scores are all 5 across 472 records, with no anchored rubric; constant scores cannot support correlation. Required sector-wide risk-frequency/severity measurement remains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answering the research question directly. Recommended monitoring owners: finance for recurring earnings, transaction charges and equity rollforwards; operations for inventory aging, write-offs, delivery and supplier concentration; risk analytics for reviewed disclosure coding. These operating KPIs are recommendations, not measurements already present in our dataset. The evidence supports accounting explanations and selected documented cases, not a causal model or sustainability forecast. Remaining Homework 5 gaps: completed reviewed all-years AI comparison, validated sector-wide risk frequency/severity, and comparable industrial four-component annual statistics. This ten-slide deck remains an evidence-limited team briefing.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What is behind healthcare ROE—and how sustainable is it?</a:t>
            </a:r>
          </a:p>
        </p:txBody>
      </p:sp>
      <p:sp>
        <p:nvSpPr>
          <p:cNvPr id="3" name="TextBox 2"/>
          <p:cNvSpPr txBox="1"/>
          <p:nvPr/>
        </p:nvSpPr>
        <p:spPr>
          <a:xfrm>
            <a:off x="731520" y="1417320"/>
            <a:ext cx="10698480" cy="4526280"/>
          </a:xfrm>
          <a:prstGeom prst="rect">
            <a:avLst/>
          </a:prstGeom>
          <a:noFill/>
        </p:spPr>
        <p:txBody>
          <a:bodyPr wrap="square">
            <a:spAutoFit/>
          </a:bodyPr>
          <a:lstStyle/>
          <a:p>
            <a:pPr>
              <a:spcAft>
                <a:spcPts val="800"/>
              </a:spcAft>
              <a:defRPr sz="2100">
                <a:solidFill>
                  <a:srgbClr val="25364A"/>
                </a:solidFill>
              </a:defRPr>
            </a:pPr>
            <a:r>
              <a:t>Research question: Why do healthcare companies differ in ROE, how did those differences change during 2020–2025, and what do disclosed risks suggest about sustainability?</a:t>
            </a:r>
          </a:p>
          <a:p>
            <a:pPr>
              <a:spcAft>
                <a:spcPts val="800"/>
              </a:spcAft>
              <a:defRPr sz="2100">
                <a:solidFill>
                  <a:srgbClr val="25364A"/>
                </a:solidFill>
              </a:defRPr>
            </a:pPr>
            <a:r>
              <a:t>Our finding: returns vary widely; margins and the equity base both matter. High ROE alone does not establish strong, sustainable performance.</a:t>
            </a:r>
          </a:p>
          <a:p>
            <a:pPr>
              <a:spcAft>
                <a:spcPts val="800"/>
              </a:spcAft>
              <a:defRPr sz="2100">
                <a:solidFill>
                  <a:srgbClr val="25364A"/>
                </a:solidFill>
              </a:defRPr>
            </a:pPr>
            <a:r>
              <a:t>Audience: enterprise risk management. Industrial evidence provides a comparison case.</a:t>
            </a:r>
          </a:p>
        </p:txBody>
      </p:sp>
      <p:sp>
        <p:nvSpPr>
          <p:cNvPr id="4" name="TextBox 3"/>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Homework 5 • Question-led team briefing • Fiscal 2020–2025 • 10 slides</a:t>
            </a:r>
          </a:p>
        </p:txBody>
      </p:sp>
      <p:sp>
        <p:nvSpPr>
          <p:cNvPr id="5" name="TextBox 4"/>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ROE measures profit per dollar of book equity</a:t>
            </a:r>
          </a:p>
        </p:txBody>
      </p:sp>
      <p:sp>
        <p:nvSpPr>
          <p:cNvPr id="3" name="TextBox 2"/>
          <p:cNvSpPr txBox="1"/>
          <p:nvPr/>
        </p:nvSpPr>
        <p:spPr>
          <a:xfrm>
            <a:off x="731520" y="1417320"/>
            <a:ext cx="10698480" cy="4526280"/>
          </a:xfrm>
          <a:prstGeom prst="rect">
            <a:avLst/>
          </a:prstGeom>
          <a:noFill/>
        </p:spPr>
        <p:txBody>
          <a:bodyPr wrap="square">
            <a:spAutoFit/>
          </a:bodyPr>
          <a:lstStyle/>
          <a:p>
            <a:pPr>
              <a:spcAft>
                <a:spcPts val="800"/>
              </a:spcAft>
              <a:defRPr sz="2100">
                <a:solidFill>
                  <a:srgbClr val="25364A"/>
                </a:solidFill>
              </a:defRPr>
            </a:pPr>
            <a:r>
              <a:t>ROE = net income ÷ year-end shareholders’ equity × 100.</a:t>
            </a:r>
          </a:p>
          <a:p>
            <a:pPr>
              <a:spcAft>
                <a:spcPts val="800"/>
              </a:spcAft>
              <a:defRPr sz="2100">
                <a:solidFill>
                  <a:srgbClr val="25364A"/>
                </a:solidFill>
              </a:defRPr>
            </a:pPr>
            <a:r>
              <a:t>20% ROE means $0.20 annual profit per $1 of book equity. It is not a stock-market return.</a:t>
            </a:r>
          </a:p>
          <a:p>
            <a:pPr>
              <a:spcAft>
                <a:spcPts val="800"/>
              </a:spcAft>
              <a:defRPr sz="2100">
                <a:solidFill>
                  <a:srgbClr val="25364A"/>
                </a:solidFill>
              </a:defRPr>
            </a:pPr>
            <a:r>
              <a:t>DuPont: profit margin × asset turnover × equity multiplier = ROE.</a:t>
            </a:r>
          </a:p>
          <a:p>
            <a:pPr>
              <a:spcAft>
                <a:spcPts val="800"/>
              </a:spcAft>
              <a:defRPr sz="2100">
                <a:solidFill>
                  <a:srgbClr val="25364A"/>
                </a:solidFill>
              </a:defRPr>
            </a:pPr>
            <a:r>
              <a:t>Coverage: 43 eligible firms / 255 company-years; 40 firms have all six usable years.</a:t>
            </a:r>
          </a:p>
          <a:p>
            <a:pPr>
              <a:spcAft>
                <a:spcPts val="800"/>
              </a:spcAft>
              <a:defRPr sz="2100">
                <a:solidFill>
                  <a:srgbClr val="25364A"/>
                </a:solidFill>
              </a:defRPr>
            </a:pPr>
            <a:r>
              <a:t>A, ABBV and TECH retain five usable years each; they are outside the fixed 40-firm panel.</a:t>
            </a:r>
          </a:p>
        </p:txBody>
      </p:sp>
      <p:sp>
        <p:nvSpPr>
          <p:cNvPr id="4" name="TextBox 3"/>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Source: SEC-derived financial panel • Year-end denominators • Selection and equity exclusions limit generalization</a:t>
            </a:r>
          </a:p>
        </p:txBody>
      </p:sp>
      <p:sp>
        <p:nvSpPr>
          <p:cNvPr id="5" name="TextBox 4"/>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What happened? Median ROE peaked in 2021, then fell</a:t>
            </a:r>
          </a:p>
        </p:txBody>
      </p:sp>
      <p:pic>
        <p:nvPicPr>
          <p:cNvPr id="3" name="Picture 2" descr="four_components_all_years.png"/>
          <p:cNvPicPr>
            <a:picLocks noChangeAspect="1"/>
          </p:cNvPicPr>
          <p:nvPr/>
        </p:nvPicPr>
        <p:blipFill>
          <a:blip r:embed="rId2"/>
          <a:stretch>
            <a:fillRect/>
          </a:stretch>
        </p:blipFill>
        <p:spPr>
          <a:xfrm>
            <a:off x="378822" y="1234440"/>
            <a:ext cx="7471954" cy="4754880"/>
          </a:xfrm>
          <a:prstGeom prst="rect">
            <a:avLst/>
          </a:prstGeom>
        </p:spPr>
      </p:pic>
      <p:sp>
        <p:nvSpPr>
          <p:cNvPr id="4" name="TextBox 3"/>
          <p:cNvSpPr txBox="1"/>
          <p:nvPr/>
        </p:nvSpPr>
        <p:spPr>
          <a:xfrm>
            <a:off x="8046720" y="1463040"/>
            <a:ext cx="3566160" cy="4480560"/>
          </a:xfrm>
          <a:prstGeom prst="rect">
            <a:avLst/>
          </a:prstGeom>
          <a:noFill/>
        </p:spPr>
        <p:txBody>
          <a:bodyPr wrap="square">
            <a:spAutoFit/>
          </a:bodyPr>
          <a:lstStyle/>
          <a:p>
            <a:pPr>
              <a:spcAft>
                <a:spcPts val="800"/>
              </a:spcAft>
              <a:defRPr sz="2000">
                <a:solidFill>
                  <a:srgbClr val="25364A"/>
                </a:solidFill>
              </a:defRPr>
            </a:pPr>
            <a:r>
              <a:t>Same 40 firms each year.</a:t>
            </a:r>
          </a:p>
          <a:p>
            <a:pPr>
              <a:spcAft>
                <a:spcPts val="800"/>
              </a:spcAft>
              <a:defRPr sz="2000">
                <a:solidFill>
                  <a:srgbClr val="25364A"/>
                </a:solidFill>
              </a:defRPr>
            </a:pPr>
            <a:r>
              <a:t>Median ROE: 18.68% in 2021 → 11.13% in 2024 → 12.68% in 2025.</a:t>
            </a:r>
          </a:p>
          <a:p>
            <a:pPr>
              <a:spcAft>
                <a:spcPts val="800"/>
              </a:spcAft>
              <a:defRPr sz="2000">
                <a:solidFill>
                  <a:srgbClr val="25364A"/>
                </a:solidFill>
              </a:defRPr>
            </a:pPr>
            <a:r>
              <a:t>2025 recovered partly, but stayed below the 2021 peak.</a:t>
            </a:r>
          </a:p>
        </p:txBody>
      </p:sp>
      <p:sp>
        <p:nvSpPr>
          <p:cNvPr id="5" name="TextBox 4"/>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Q1: What happened? • Fixed-company descriptive trends • Separate component medians are not additive</a:t>
            </a:r>
          </a:p>
        </p:txBody>
      </p:sp>
      <p:sp>
        <p:nvSpPr>
          <p:cNvPr id="6" name="TextBox 5"/>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Why do returns differ? The equity base can amplify ROE</a:t>
            </a:r>
          </a:p>
        </p:txBody>
      </p:sp>
      <p:pic>
        <p:nvPicPr>
          <p:cNvPr id="3" name="Picture 2" descr="all_year_scatter.png"/>
          <p:cNvPicPr>
            <a:picLocks noChangeAspect="1"/>
          </p:cNvPicPr>
          <p:nvPr/>
        </p:nvPicPr>
        <p:blipFill>
          <a:blip r:embed="rId2"/>
          <a:stretch>
            <a:fillRect/>
          </a:stretch>
        </p:blipFill>
        <p:spPr>
          <a:xfrm>
            <a:off x="365760" y="1234440"/>
            <a:ext cx="7498079" cy="4373880"/>
          </a:xfrm>
          <a:prstGeom prst="rect">
            <a:avLst/>
          </a:prstGeom>
        </p:spPr>
      </p:pic>
      <p:sp>
        <p:nvSpPr>
          <p:cNvPr id="4" name="TextBox 3"/>
          <p:cNvSpPr txBox="1"/>
          <p:nvPr/>
        </p:nvSpPr>
        <p:spPr>
          <a:xfrm>
            <a:off x="8046720" y="1463040"/>
            <a:ext cx="3566160" cy="4480560"/>
          </a:xfrm>
          <a:prstGeom prst="rect">
            <a:avLst/>
          </a:prstGeom>
          <a:noFill/>
        </p:spPr>
        <p:txBody>
          <a:bodyPr wrap="square">
            <a:spAutoFit/>
          </a:bodyPr>
          <a:lstStyle/>
          <a:p>
            <a:pPr>
              <a:spcAft>
                <a:spcPts val="800"/>
              </a:spcAft>
              <a:defRPr sz="2000">
                <a:solidFill>
                  <a:srgbClr val="25364A"/>
                </a:solidFill>
              </a:defRPr>
            </a:pPr>
            <a:r>
              <a:t>Every eligible company-year is plotted.</a:t>
            </a:r>
          </a:p>
          <a:p>
            <a:pPr>
              <a:spcAft>
                <a:spcPts val="800"/>
              </a:spcAft>
              <a:defRPr sz="2000">
                <a:solidFill>
                  <a:srgbClr val="25364A"/>
                </a:solidFill>
              </a:defRPr>
            </a:pPr>
            <a:r>
              <a:t>2025 Amgen: 89.06% ROE; multiplier 10.46×.</a:t>
            </a:r>
          </a:p>
          <a:p>
            <a:pPr>
              <a:spcAft>
                <a:spcPts val="800"/>
              </a:spcAft>
              <a:defRPr sz="2000">
                <a:solidFill>
                  <a:srgbClr val="25364A"/>
                </a:solidFill>
              </a:defRPr>
            </a:pPr>
            <a:r>
              <a:t>2025 IDEXX: 65.99% ROE; multiplier 2.09×.</a:t>
            </a:r>
          </a:p>
          <a:p>
            <a:pPr>
              <a:spcAft>
                <a:spcPts val="800"/>
              </a:spcAft>
              <a:defRPr sz="2000">
                <a:solidFill>
                  <a:srgbClr val="25364A"/>
                </a:solidFill>
              </a:defRPr>
            </a:pPr>
            <a:r>
              <a:t>IDEXX earns more per dollar of assets despite lower ROE.</a:t>
            </a:r>
          </a:p>
        </p:txBody>
      </p:sp>
      <p:sp>
        <p:nvSpPr>
          <p:cNvPr id="5" name="TextBox 4"/>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Q2: Accounting explanation • Full sample shown; Amgen and IDEXX are illustrations • No causal regression</a:t>
            </a:r>
          </a:p>
        </p:txBody>
      </p:sp>
      <p:sp>
        <p:nvSpPr>
          <p:cNvPr id="6" name="TextBox 5"/>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What changed? Margin contributes most to the 2025 rebound</a:t>
            </a:r>
          </a:p>
        </p:txBody>
      </p:sp>
      <p:pic>
        <p:nvPicPr>
          <p:cNvPr id="3" name="Picture 2" descr="all_year_contributions.png"/>
          <p:cNvPicPr>
            <a:picLocks noChangeAspect="1"/>
          </p:cNvPicPr>
          <p:nvPr/>
        </p:nvPicPr>
        <p:blipFill>
          <a:blip r:embed="rId2"/>
          <a:stretch>
            <a:fillRect/>
          </a:stretch>
        </p:blipFill>
        <p:spPr>
          <a:xfrm>
            <a:off x="365760" y="1234440"/>
            <a:ext cx="7498079" cy="3749039"/>
          </a:xfrm>
          <a:prstGeom prst="rect">
            <a:avLst/>
          </a:prstGeom>
        </p:spPr>
      </p:pic>
      <p:sp>
        <p:nvSpPr>
          <p:cNvPr id="4" name="TextBox 3"/>
          <p:cNvSpPr txBox="1"/>
          <p:nvPr/>
        </p:nvSpPr>
        <p:spPr>
          <a:xfrm>
            <a:off x="8046720" y="1463040"/>
            <a:ext cx="3566160" cy="4480560"/>
          </a:xfrm>
          <a:prstGeom prst="rect">
            <a:avLst/>
          </a:prstGeom>
          <a:noFill/>
        </p:spPr>
        <p:txBody>
          <a:bodyPr wrap="square">
            <a:spAutoFit/>
          </a:bodyPr>
          <a:lstStyle/>
          <a:p>
            <a:pPr>
              <a:spcAft>
                <a:spcPts val="800"/>
              </a:spcAft>
              <a:defRPr sz="2000">
                <a:solidFill>
                  <a:srgbClr val="25364A"/>
                </a:solidFill>
              </a:defRPr>
            </a:pPr>
            <a:r>
              <a:t>Same 40 firms; five annual changes.</a:t>
            </a:r>
          </a:p>
          <a:p>
            <a:pPr>
              <a:spcAft>
                <a:spcPts val="800"/>
              </a:spcAft>
              <a:defRPr sz="2000">
                <a:solidFill>
                  <a:srgbClr val="25364A"/>
                </a:solidFill>
              </a:defRPr>
            </a:pPr>
            <a:r>
              <a:t>2025 mean ROE change: +3.85 percentage points.</a:t>
            </a:r>
          </a:p>
          <a:p>
            <a:pPr>
              <a:spcAft>
                <a:spcPts val="800"/>
              </a:spcAft>
              <a:defRPr sz="2000">
                <a:solidFill>
                  <a:srgbClr val="25364A"/>
                </a:solidFill>
              </a:defRPr>
            </a:pPr>
            <a:r>
              <a:t>Margin +4.34; turnover +0.65; multiplier −1.14.</a:t>
            </a:r>
          </a:p>
          <a:p>
            <a:pPr>
              <a:spcAft>
                <a:spcPts val="800"/>
              </a:spcAft>
              <a:defRPr sz="2000">
                <a:solidFill>
                  <a:srgbClr val="25364A"/>
                </a:solidFill>
              </a:defRPr>
            </a:pPr>
            <a:r>
              <a:t>This explains the arithmetic, not the business causes.</a:t>
            </a:r>
          </a:p>
        </p:txBody>
      </p:sp>
      <p:sp>
        <p:nvSpPr>
          <p:cNvPr id="5" name="TextBox 4"/>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Q2: Accounting explanation • Mean contributions; previous trend slide uses medians • Values rounded</a:t>
            </a:r>
          </a:p>
        </p:txBody>
      </p:sp>
      <p:sp>
        <p:nvSpPr>
          <p:cNvPr id="6" name="TextBox 5"/>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How robust is the average? Extreme firms change it substantially</a:t>
            </a:r>
          </a:p>
        </p:txBody>
      </p:sp>
      <p:pic>
        <p:nvPicPr>
          <p:cNvPr id="3" name="Picture 2" descr="outlier_story.png"/>
          <p:cNvPicPr>
            <a:picLocks noChangeAspect="1"/>
          </p:cNvPicPr>
          <p:nvPr/>
        </p:nvPicPr>
        <p:blipFill>
          <a:blip r:embed="rId2"/>
          <a:stretch>
            <a:fillRect/>
          </a:stretch>
        </p:blipFill>
        <p:spPr>
          <a:xfrm>
            <a:off x="365760" y="1234440"/>
            <a:ext cx="7498079" cy="4165600"/>
          </a:xfrm>
          <a:prstGeom prst="rect">
            <a:avLst/>
          </a:prstGeom>
        </p:spPr>
      </p:pic>
      <p:sp>
        <p:nvSpPr>
          <p:cNvPr id="4" name="TextBox 3"/>
          <p:cNvSpPr txBox="1"/>
          <p:nvPr/>
        </p:nvSpPr>
        <p:spPr>
          <a:xfrm>
            <a:off x="8046720" y="1463040"/>
            <a:ext cx="3566160" cy="4480560"/>
          </a:xfrm>
          <a:prstGeom prst="rect">
            <a:avLst/>
          </a:prstGeom>
          <a:noFill/>
        </p:spPr>
        <p:txBody>
          <a:bodyPr wrap="square">
            <a:spAutoFit/>
          </a:bodyPr>
          <a:lstStyle/>
          <a:p>
            <a:pPr>
              <a:spcAft>
                <a:spcPts val="800"/>
              </a:spcAft>
              <a:defRPr sz="2000">
                <a:solidFill>
                  <a:srgbClr val="25364A"/>
                </a:solidFill>
              </a:defRPr>
            </a:pPr>
            <a:r>
              <a:t>43 company-average ROEs.</a:t>
            </a:r>
          </a:p>
          <a:p>
            <a:pPr>
              <a:spcAft>
                <a:spcPts val="800"/>
              </a:spcAft>
              <a:defRPr sz="2000">
                <a:solidFill>
                  <a:srgbClr val="25364A"/>
                </a:solidFill>
              </a:defRPr>
            </a:pPr>
            <a:r>
              <a:t>Full mean: 20.74%.</a:t>
            </a:r>
          </a:p>
          <a:p>
            <a:pPr>
              <a:spcAft>
                <a:spcPts val="800"/>
              </a:spcAft>
              <a:defRPr sz="2000">
                <a:solidFill>
                  <a:srgbClr val="25364A"/>
                </a:solidFill>
              </a:defRPr>
            </a:pPr>
            <a:r>
              <a:t>Full median: 14.93%.</a:t>
            </a:r>
          </a:p>
          <a:p>
            <a:pPr>
              <a:spcAft>
                <a:spcPts val="800"/>
              </a:spcAft>
              <a:defRPr sz="2000">
                <a:solidFill>
                  <a:srgbClr val="25364A"/>
                </a:solidFill>
              </a:defRPr>
            </a:pPr>
            <a:r>
              <a:t>After ROE IQR exclusions: mean 13.50%.</a:t>
            </a:r>
          </a:p>
          <a:p>
            <a:pPr>
              <a:spcAft>
                <a:spcPts val="800"/>
              </a:spcAft>
              <a:defRPr sz="2000">
                <a:solidFill>
                  <a:srgbClr val="25364A"/>
                </a:solidFill>
              </a:defRPr>
            </a:pPr>
            <a:r>
              <a:t>Keep extremes visible; use trimming as a sensitivity check.</a:t>
            </a:r>
          </a:p>
        </p:txBody>
      </p:sp>
      <p:sp>
        <p:nvSpPr>
          <p:cNvPr id="5" name="TextBox 4"/>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Methods: 1.5-IQR sensitivity • Company averages, not 2025-only values • Outlier does not mean error</a:t>
            </a:r>
          </a:p>
        </p:txBody>
      </p:sp>
      <p:sp>
        <p:nvSpPr>
          <p:cNvPr id="6" name="TextBox 5"/>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What might explain the pattern? Pfizer documents demand pressure</a:t>
            </a:r>
          </a:p>
        </p:txBody>
      </p:sp>
      <p:pic>
        <p:nvPicPr>
          <p:cNvPr id="3" name="Picture 2" descr="pfizer_bridge.png"/>
          <p:cNvPicPr>
            <a:picLocks noChangeAspect="1"/>
          </p:cNvPicPr>
          <p:nvPr/>
        </p:nvPicPr>
        <p:blipFill>
          <a:blip r:embed="rId2"/>
          <a:stretch>
            <a:fillRect/>
          </a:stretch>
        </p:blipFill>
        <p:spPr>
          <a:xfrm>
            <a:off x="365760" y="1234440"/>
            <a:ext cx="7498079" cy="3749039"/>
          </a:xfrm>
          <a:prstGeom prst="rect">
            <a:avLst/>
          </a:prstGeom>
        </p:spPr>
      </p:pic>
      <p:sp>
        <p:nvSpPr>
          <p:cNvPr id="4" name="TextBox 3"/>
          <p:cNvSpPr txBox="1"/>
          <p:nvPr/>
        </p:nvSpPr>
        <p:spPr>
          <a:xfrm>
            <a:off x="8046720" y="1463040"/>
            <a:ext cx="3566160" cy="4480560"/>
          </a:xfrm>
          <a:prstGeom prst="rect">
            <a:avLst/>
          </a:prstGeom>
          <a:noFill/>
        </p:spPr>
        <p:txBody>
          <a:bodyPr wrap="square">
            <a:spAutoFit/>
          </a:bodyPr>
          <a:lstStyle/>
          <a:p>
            <a:pPr>
              <a:spcAft>
                <a:spcPts val="800"/>
              </a:spcAft>
              <a:defRPr sz="2000">
                <a:solidFill>
                  <a:srgbClr val="25364A"/>
                </a:solidFill>
              </a:defRPr>
            </a:pPr>
            <a:r>
              <a:t>2023 filing: lower COVID-product demand and significant inventory write-offs.</a:t>
            </a:r>
          </a:p>
          <a:p>
            <a:pPr>
              <a:spcAft>
                <a:spcPts val="800"/>
              </a:spcAft>
              <a:defRPr sz="2000">
                <a:solidFill>
                  <a:srgbClr val="25364A"/>
                </a:solidFill>
              </a:defRPr>
            </a:pPr>
            <a:r>
              <a:t>These provide business context for the margin and turnover declines.</a:t>
            </a:r>
          </a:p>
          <a:p>
            <a:pPr>
              <a:spcAft>
                <a:spcPts val="800"/>
              </a:spcAft>
              <a:defRPr sz="2000">
                <a:solidFill>
                  <a:srgbClr val="25364A"/>
                </a:solidFill>
              </a:defRPr>
            </a:pPr>
            <a:r>
              <a:t>Seagen acquisition also changed the asset base.</a:t>
            </a:r>
          </a:p>
          <a:p>
            <a:pPr>
              <a:spcAft>
                <a:spcPts val="800"/>
              </a:spcAft>
              <a:defRPr sz="2000">
                <a:solidFill>
                  <a:srgbClr val="25364A"/>
                </a:solidFill>
              </a:defRPr>
            </a:pPr>
            <a:r>
              <a:t>The bridge does not assign causal effects to those events.</a:t>
            </a:r>
          </a:p>
        </p:txBody>
      </p:sp>
      <p:sp>
        <p:nvSpPr>
          <p:cNvPr id="5" name="TextBox 4"/>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Q3: Business evidence • Pfizer 2023 10-K + financial panel • Reported events, not estimated causal effects</a:t>
            </a:r>
          </a:p>
        </p:txBody>
      </p:sp>
      <p:sp>
        <p:nvSpPr>
          <p:cNvPr id="6" name="TextBox 5"/>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Industrial comparison: disclosed exposure need not mean disruption</a:t>
            </a:r>
          </a:p>
        </p:txBody>
      </p:sp>
      <p:sp>
        <p:nvSpPr>
          <p:cNvPr id="3" name="TextBox 2"/>
          <p:cNvSpPr txBox="1"/>
          <p:nvPr/>
        </p:nvSpPr>
        <p:spPr>
          <a:xfrm>
            <a:off x="731520" y="1417320"/>
            <a:ext cx="10698480" cy="4526280"/>
          </a:xfrm>
          <a:prstGeom prst="rect">
            <a:avLst/>
          </a:prstGeom>
          <a:noFill/>
        </p:spPr>
        <p:txBody>
          <a:bodyPr wrap="square">
            <a:spAutoFit/>
          </a:bodyPr>
          <a:lstStyle/>
          <a:p>
            <a:pPr>
              <a:spcAft>
                <a:spcPts val="800"/>
              </a:spcAft>
              <a:defRPr sz="2100">
                <a:solidFill>
                  <a:srgbClr val="25364A"/>
                </a:solidFill>
              </a:defRPr>
            </a:pPr>
            <a:r>
              <a:t>3M Item 1A: limited- or sole-source suppliers create operating exposure.</a:t>
            </a:r>
          </a:p>
          <a:p>
            <a:pPr>
              <a:spcAft>
                <a:spcPts val="800"/>
              </a:spcAft>
              <a:defRPr sz="2100">
                <a:solidFill>
                  <a:srgbClr val="25364A"/>
                </a:solidFill>
              </a:defRPr>
            </a:pPr>
            <a:r>
              <a:t>2024 discussion: global supply chains stabilized, while feedstock and labor inflation persisted.</a:t>
            </a:r>
          </a:p>
          <a:p>
            <a:pPr>
              <a:spcAft>
                <a:spcPts val="800"/>
              </a:spcAft>
              <a:defRPr sz="2100">
                <a:solidFill>
                  <a:srgbClr val="25364A"/>
                </a:solidFill>
              </a:defRPr>
            </a:pPr>
            <a:r>
              <a:t>Reported response: negotiated contracts and purchasing scale partially mitigated price risk.</a:t>
            </a:r>
          </a:p>
          <a:p>
            <a:pPr>
              <a:spcAft>
                <a:spcPts val="800"/>
              </a:spcAft>
              <a:defRPr sz="2100">
                <a:solidFill>
                  <a:srgbClr val="25364A"/>
                </a:solidFill>
              </a:defRPr>
            </a:pPr>
            <a:r>
              <a:t>Implication: monitor actual delivery and costs alongside the risk disclosure.</a:t>
            </a:r>
          </a:p>
        </p:txBody>
      </p:sp>
      <p:sp>
        <p:nvSpPr>
          <p:cNvPr id="4" name="TextBox 3"/>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Q3: Business evidence • Verified industrial case • No claim of sector-wide prevalence or sector correlation</a:t>
            </a:r>
          </a:p>
        </p:txBody>
      </p:sp>
      <p:sp>
        <p:nvSpPr>
          <p:cNvPr id="5" name="TextBox 4"/>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Do risk disclosures distinguish high and low ROE? Still under review</a:t>
            </a:r>
          </a:p>
        </p:txBody>
      </p:sp>
      <p:sp>
        <p:nvSpPr>
          <p:cNvPr id="3" name="TextBox 2"/>
          <p:cNvSpPr txBox="1"/>
          <p:nvPr/>
        </p:nvSpPr>
        <p:spPr>
          <a:xfrm>
            <a:off x="731520" y="1417320"/>
            <a:ext cx="10698480" cy="4526280"/>
          </a:xfrm>
          <a:prstGeom prst="rect">
            <a:avLst/>
          </a:prstGeom>
          <a:noFill/>
        </p:spPr>
        <p:txBody>
          <a:bodyPr wrap="square">
            <a:spAutoFit/>
          </a:bodyPr>
          <a:lstStyle/>
          <a:p>
            <a:pPr>
              <a:spcAft>
                <a:spcPts val="800"/>
              </a:spcAft>
              <a:defRPr sz="2100">
                <a:solidFill>
                  <a:srgbClr val="25364A"/>
                </a:solidFill>
              </a:defRPr>
            </a:pPr>
            <a:r>
              <a:t>Design: highest 10 and lowest 10 ROEs in EACH year, 2020–2025.</a:t>
            </a:r>
          </a:p>
          <a:p>
            <a:pPr>
              <a:spcAft>
                <a:spcPts val="800"/>
              </a:spcAft>
              <a:defRPr sz="2100">
                <a:solidFill>
                  <a:srgbClr val="25364A"/>
                </a:solidFill>
              </a:defRPr>
            </a:pPr>
            <a:r>
              <a:t>120 selected company-years across 36 companies; 110 have matched Item 1A text.</a:t>
            </a:r>
          </a:p>
          <a:p>
            <a:pPr>
              <a:spcAft>
                <a:spcPts val="800"/>
              </a:spcAft>
              <a:defRPr sz="2100">
                <a:solidFill>
                  <a:srgbClr val="25364A"/>
                </a:solidFill>
              </a:defRPr>
            </a:pPr>
            <a:r>
              <a:t>AI task: quote risks, connect possible DuPont mechanisms, and identify alternative explanations.</a:t>
            </a:r>
          </a:p>
          <a:p>
            <a:pPr>
              <a:spcAft>
                <a:spcPts val="800"/>
              </a:spcAft>
              <a:defRPr sz="2100">
                <a:solidFill>
                  <a:srgbClr val="25364A"/>
                </a:solidFill>
              </a:defRPr>
            </a:pPr>
            <a:r>
              <a:t>Answer pending: completed all-years API results have not yet been incorporated.</a:t>
            </a:r>
          </a:p>
        </p:txBody>
      </p:sp>
      <p:sp>
        <p:nvSpPr>
          <p:cNvPr id="4" name="TextBox 3"/>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Q3: Evidence gap • No invented AI results • Missingness and repeated firms limit inference</a:t>
            </a:r>
          </a:p>
        </p:txBody>
      </p:sp>
      <p:sp>
        <p:nvSpPr>
          <p:cNvPr id="5" name="TextBox 4"/>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914400"/>
          </a:xfrm>
          <a:prstGeom prst="rect">
            <a:avLst/>
          </a:prstGeom>
          <a:noFill/>
        </p:spPr>
        <p:txBody>
          <a:bodyPr wrap="square">
            <a:spAutoFit/>
          </a:bodyPr>
          <a:lstStyle/>
          <a:p>
            <a:pPr>
              <a:spcAft>
                <a:spcPts val="800"/>
              </a:spcAft>
              <a:defRPr sz="2900">
                <a:solidFill>
                  <a:srgbClr val="25364A"/>
                </a:solidFill>
              </a:defRPr>
            </a:pPr>
            <a:r>
              <a:t>Why care? High ROE is a signal to investigate its source</a:t>
            </a:r>
          </a:p>
        </p:txBody>
      </p:sp>
      <p:sp>
        <p:nvSpPr>
          <p:cNvPr id="3" name="TextBox 2"/>
          <p:cNvSpPr txBox="1"/>
          <p:nvPr/>
        </p:nvSpPr>
        <p:spPr>
          <a:xfrm>
            <a:off x="731520" y="1417320"/>
            <a:ext cx="10698480" cy="4526280"/>
          </a:xfrm>
          <a:prstGeom prst="rect">
            <a:avLst/>
          </a:prstGeom>
          <a:noFill/>
        </p:spPr>
        <p:txBody>
          <a:bodyPr wrap="square">
            <a:spAutoFit/>
          </a:bodyPr>
          <a:lstStyle/>
          <a:p>
            <a:pPr>
              <a:spcAft>
                <a:spcPts val="800"/>
              </a:spcAft>
              <a:defRPr sz="2100">
                <a:solidFill>
                  <a:srgbClr val="25364A"/>
                </a:solidFill>
              </a:defRPr>
            </a:pPr>
            <a:r>
              <a:t>WHAT HAPPENED: sample median ROE fell after 2021 and partly recovered in 2025.</a:t>
            </a:r>
          </a:p>
          <a:p>
            <a:pPr>
              <a:spcAft>
                <a:spcPts val="800"/>
              </a:spcAft>
              <a:defRPr sz="2100">
                <a:solidFill>
                  <a:srgbClr val="25364A"/>
                </a:solidFill>
              </a:defRPr>
            </a:pPr>
            <a:r>
              <a:t>WHAT ACCOUNTS FOR IT: margins matter; a small equity base can magnify returns.</a:t>
            </a:r>
          </a:p>
          <a:p>
            <a:pPr>
              <a:spcAft>
                <a:spcPts val="800"/>
              </a:spcAft>
              <a:defRPr sz="2100">
                <a:solidFill>
                  <a:srgbClr val="25364A"/>
                </a:solidFill>
              </a:defRPr>
            </a:pPr>
            <a:r>
              <a:t>WHAT RISKS ADD: filings identify exposures and business context, but do not prove causality.</a:t>
            </a:r>
          </a:p>
          <a:p>
            <a:pPr>
              <a:spcAft>
                <a:spcPts val="800"/>
              </a:spcAft>
              <a:defRPr sz="2100">
                <a:solidFill>
                  <a:srgbClr val="25364A"/>
                </a:solidFill>
              </a:defRPr>
            </a:pPr>
            <a:r>
              <a:t>ACTION: finance should review equity and one-time charges; operations should track demand, inventory and supplier performance.</a:t>
            </a:r>
          </a:p>
          <a:p>
            <a:pPr>
              <a:spcAft>
                <a:spcPts val="800"/>
              </a:spcAft>
              <a:defRPr sz="2100">
                <a:solidFill>
                  <a:srgbClr val="25364A"/>
                </a:solidFill>
              </a:defRPr>
            </a:pPr>
            <a:r>
              <a:t>SUSTAINABILITY: cannot be concluded from ROE alone; test recurring earnings and realized mitigation outcomes.</a:t>
            </a:r>
          </a:p>
        </p:txBody>
      </p:sp>
      <p:sp>
        <p:nvSpPr>
          <p:cNvPr id="4" name="TextBox 3"/>
          <p:cNvSpPr txBox="1"/>
          <p:nvPr/>
        </p:nvSpPr>
        <p:spPr>
          <a:xfrm>
            <a:off x="548640" y="6400800"/>
            <a:ext cx="10881360" cy="365760"/>
          </a:xfrm>
          <a:prstGeom prst="rect">
            <a:avLst/>
          </a:prstGeom>
          <a:noFill/>
        </p:spPr>
        <p:txBody>
          <a:bodyPr wrap="square">
            <a:spAutoFit/>
          </a:bodyPr>
          <a:lstStyle/>
          <a:p>
            <a:pPr>
              <a:spcAft>
                <a:spcPts val="800"/>
              </a:spcAft>
              <a:defRPr sz="1100">
                <a:solidFill>
                  <a:srgbClr val="596777"/>
                </a:solidFill>
              </a:defRPr>
            </a:pPr>
            <a:r>
              <a:t>Q4: Management implications • Recommendations follow observed patterns and verified cases</a:t>
            </a:r>
          </a:p>
        </p:txBody>
      </p:sp>
      <p:sp>
        <p:nvSpPr>
          <p:cNvPr id="5" name="TextBox 4"/>
          <p:cNvSpPr txBox="1"/>
          <p:nvPr/>
        </p:nvSpPr>
        <p:spPr>
          <a:xfrm>
            <a:off x="11247120" y="6400800"/>
            <a:ext cx="548640" cy="274320"/>
          </a:xfrm>
          <a:prstGeom prst="rect">
            <a:avLst/>
          </a:prstGeom>
          <a:noFill/>
        </p:spPr>
        <p:txBody>
          <a:bodyPr wrap="square">
            <a:spAutoFit/>
          </a:bodyPr>
          <a:lstStyle/>
          <a:p>
            <a:pPr>
              <a:spcAft>
                <a:spcPts val="800"/>
              </a:spcAft>
              <a:defRPr sz="1100">
                <a:solidFill>
                  <a:srgbClr val="25364A"/>
                </a:solidFil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