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both team members. Explain that the briefing distinguishes observed ratios, management disclosures and proposed actions. It is not a buy/sell recommendation. The industrial numerical panel has not passed the same checks as healthcare; do not imply a fully validated cross-sector test.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year-end-balance dataset only. 318 matched company-years exist across 56 firms; 49 have five matched years, 47 have six, and 43 have five unflagged equity years. The main 2025 cross-section has 41 observations. Source: recovered homework_basis/financials.csv. Industry-wide four-component comparison remains incomplete without the industrial raw input table. Changes in medians are not medians of within-firm changes.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255 eligible company-years; 43 distinct firms. Missing or flagged years are not imputed. Scatter x = net income / year-end assets; y = net income / year-end equity. Their ratio is the equity multiplier. This is a mechanical relationship, not an independent causal test. A company appears in multiple panels: observations are dependent. Full ticker-by-year values are in roe_all_years_percent.csv and all_company_years.png. The previous Amgen/IDEXX pair was illustrative, not the entire analyzed sample.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firm and consecutive year, replace margin, turnover and multiplier in all six possible orders; average each factor’s incremental contribution. Then average firm contributions equally across the same 40 companies. Contributions sum exactly to the change in mean ROE. This is NOT a decomposition of median ROE. The 2021 increase is predominantly margin; all three components contribute negatively in 2023. Firm-level contributions and aggregate means are supplied as CSV. To investigate causes, use company disclosures: Pfizer 2023 discusses lower COVID demand, inventory write-offs and Seagen acquisition, but this does not establish the sector-wide causal effect. Source: https://www.sec.gov/Archives/edgar/data/78003/000007800324000039/0000078003-24-000039.txt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Industrial source independently read: 3M 2024 10-K, https://www.sec.gov/Archives/edgar/data/66740/000006674025000006/0000066740-25-000006.txt</a:t>
            </a:r>
          </a:p>
          <a:p>
            <a:r>
              <a:t>Exact excerpts: “some of our suppliers are limited- or sole-source suppliers”; “In 2024, global supply chains stabilized, with disruptions driven from more isolated factors”; “Market price risks were partially mitigated via negotiated supply contracts and leveraging scale across supply base.” This juxtaposition is useful: risk factors are exposures, while business/MD&amp;A discusses realized conditions. Do not attribute 3M ROE movements to supplier risks without reconciling settlement, tax, spin-off and earnings effects. The filing reports PFAS liabilities retained in connection with the Solventum separation.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Computed from the partner-provided industrials_analysis.jsonl: all 472 records have risk_score_1_to_10 equal to 5. This is a frequency of model outputs, not a frequency or severity of economic risks. Constant values have zero variance, so correlation with ROE is undefined. The supplied industrial prompt contains an example risk score of 5; this may warrant investigating anchoring, but we have not established why all outputs match it. Required sector-wide market/operational/regulatory/financial risk frequency and severity analysis remains incomplete. Do not present these scores as validated measurements.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arrows describe plausible mechanisms and proposed monitoring, not causal coefficients estimated in our study. Inventory days, delivery performance and forecast errors are not measured in the current financial dataset. Distinguish a write-off effect on earnings/assets from a sales-volume effect on turnover. Healthcare evidence: Pfizer 2023. Industrial evidence: 3M 2024. Risk-category labels: market demand and operational inventory for Pfizer; operational sourcing and market input prices for 3M.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Pfizer source: https://www.sec.gov/Archives/edgar/data/78003/000007800324000039/0000078003-24-000039.txt</a:t>
            </a:r>
          </a:p>
          <a:p>
            <a:r>
              <a:t>Exact wording includes “This program is expected to deliver net cost savings of at least $4 billion, to be achieved primarily from 2023 through 2024.” This was a forward-looking statement in that filing; we have not verified realized savings.</a:t>
            </a:r>
          </a:p>
          <a:p>
            <a:r>
              <a:t>3M source: https://www.sec.gov/Archives/edgar/data/66740/000006674025000006/0000066740-25-000006.txt</a:t>
            </a:r>
          </a:p>
          <a:p>
            <a:r>
              <a:t>Reported partial mitigation is management’s account, not our independent causal estimate. Suggested monitoring is the team recommendation, separate from reported actions.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 eligible company-average ROEs: mean 20.74%, sample SD 21.90 percentage points. IQR-only ROE outliers: ABBV, AMGN, IDXX, LLY and ZTS. Removing them leaves 38 firms and mean 13.50%. Two-SD ROE flags exclude four firms, leaving 39 and mean 14.50%. These are not 2025-only statistics. Repeated firm-years are dependent; ratios share components; the selected sample is not random. No normality assumption or causal significance claim. Source spreadsheet: outlier_mean_sensitivity.csv.</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Suggested owners: CFO/finance for the accounting bridge; supply-chain leaders for operational indicators; analytics/risk team for disclosure coding. This is an ERM monitoring recommendation, not a tested claim of cost savings or a security valuation. Important assignment limitations: validated sector-wide risk frequency/severity and comparable industrial four-component annual medians are not yet complete. The 10-slide cap includes this slide; do not append a second full deck. Both presenters should acknowledge scope openly in Q&amp;A.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Healthcare + industrials: what should an ERM team monitor?</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Stakeholder: Enterprise Risk Management consultant.</a:t>
            </a:r>
          </a:p>
          <a:p>
            <a:pPr>
              <a:spcAft>
                <a:spcPts val="1200"/>
              </a:spcAft>
              <a:defRPr sz="2300">
                <a:solidFill>
                  <a:srgbClr val="25364A"/>
                </a:solidFill>
              </a:defRPr>
            </a:pPr>
            <a:r>
              <a:t>Question: Which financial patterns warrant a closer review of disclosed operating risks?</a:t>
            </a:r>
          </a:p>
          <a:p>
            <a:pPr>
              <a:spcAft>
                <a:spcPts val="1200"/>
              </a:spcAft>
              <a:defRPr sz="2300">
                <a:solidFill>
                  <a:srgbClr val="25364A"/>
                </a:solidFill>
              </a:defRPr>
            </a:pPr>
            <a:r>
              <a:t>Recommendation: investigate the earnings, asset and equity mechanisms before ranking companies by ROE.</a:t>
            </a:r>
          </a:p>
          <a:p>
            <a:pPr>
              <a:spcAft>
                <a:spcPts val="1200"/>
              </a:spcAft>
              <a:defRPr sz="2300">
                <a:solidFill>
                  <a:srgbClr val="25364A"/>
                </a:solidFill>
              </a:defRPr>
            </a:pPr>
            <a:r>
              <a:t>Scope: fiscal 2020–2025; quantitative healthcare study plus an industrial disclosure case.</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Homework 5 • 10-slide team working briefing • Sources and defense notes are in speaker notes</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Healthcare trends persist when membership is held constant</a:t>
            </a:r>
          </a:p>
        </p:txBody>
      </p:sp>
      <p:pic>
        <p:nvPicPr>
          <p:cNvPr id="3" name="Picture 2" descr="four_components_all_years.png"/>
          <p:cNvPicPr>
            <a:picLocks noChangeAspect="1"/>
          </p:cNvPicPr>
          <p:nvPr/>
        </p:nvPicPr>
        <p:blipFill>
          <a:blip r:embed="rId2"/>
          <a:stretch>
            <a:fillRect/>
          </a:stretch>
        </p:blipFill>
        <p:spPr>
          <a:xfrm>
            <a:off x="378822" y="1234440"/>
            <a:ext cx="7471954" cy="4754880"/>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43 eligible firms; 40 have all six years.</a:t>
            </a:r>
          </a:p>
          <a:p>
            <a:pPr>
              <a:spcAft>
                <a:spcPts val="1200"/>
              </a:spcAft>
              <a:defRPr sz="2000">
                <a:solidFill>
                  <a:srgbClr val="25364A"/>
                </a:solidFill>
              </a:defRPr>
            </a:pPr>
            <a:r>
              <a:t>The fixed-company line reduces changing-membership effects.</a:t>
            </a:r>
          </a:p>
          <a:p>
            <a:pPr>
              <a:spcAft>
                <a:spcPts val="1200"/>
              </a:spcAft>
              <a:defRPr sz="2000">
                <a:solidFill>
                  <a:srgbClr val="25364A"/>
                </a:solidFill>
              </a:defRPr>
            </a:pPr>
            <a:r>
              <a:t>It does not remove survivorship or accounting-selection bias.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Source: recovered SEC financial panel • Year-end balances • Industrial four-component medians not yet verified</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Look across every year before selecting individual examples</a:t>
            </a:r>
          </a:p>
        </p:txBody>
      </p:sp>
      <p:pic>
        <p:nvPicPr>
          <p:cNvPr id="3" name="Picture 2" descr="all_year_scatter.png"/>
          <p:cNvPicPr>
            <a:picLocks noChangeAspect="1"/>
          </p:cNvPicPr>
          <p:nvPr/>
        </p:nvPicPr>
        <p:blipFill>
          <a:blip r:embed="rId2"/>
          <a:stretch>
            <a:fillRect/>
          </a:stretch>
        </p:blipFill>
        <p:spPr>
          <a:xfrm>
            <a:off x="365760" y="1234440"/>
            <a:ext cx="7498079" cy="4373880"/>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All 43 eligible companies contribute available observations.</a:t>
            </a:r>
          </a:p>
          <a:p>
            <a:pPr>
              <a:spcAft>
                <a:spcPts val="1200"/>
              </a:spcAft>
              <a:defRPr sz="2000">
                <a:solidFill>
                  <a:srgbClr val="25364A"/>
                </a:solidFill>
              </a:defRPr>
            </a:pPr>
            <a:r>
              <a:t>Each dot is one company in that year.</a:t>
            </a:r>
          </a:p>
          <a:p>
            <a:pPr>
              <a:spcAft>
                <a:spcPts val="1200"/>
              </a:spcAft>
              <a:defRPr sz="2000">
                <a:solidFill>
                  <a:srgbClr val="25364A"/>
                </a:solidFill>
              </a:defRPr>
            </a:pPr>
            <a:r>
              <a:t>A high ROE can reflect a small equity base, not just strong asset returns.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All available eligible firm-years • Same year-end accounting basis • No outliers hidden</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Across the same 40 firms, margin contributes most to the 2025 rebound</a:t>
            </a:r>
          </a:p>
        </p:txBody>
      </p:sp>
      <p:pic>
        <p:nvPicPr>
          <p:cNvPr id="3" name="Picture 2" descr="all_year_contributions.png"/>
          <p:cNvPicPr>
            <a:picLocks noChangeAspect="1"/>
          </p:cNvPicPr>
          <p:nvPr/>
        </p:nvPicPr>
        <p:blipFill>
          <a:blip r:embed="rId2"/>
          <a:stretch>
            <a:fillRect/>
          </a:stretch>
        </p:blipFill>
        <p:spPr>
          <a:xfrm>
            <a:off x="365760" y="1234440"/>
            <a:ext cx="7498079" cy="3749039"/>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2025 mean ROE change: +3.85 pp.</a:t>
            </a:r>
          </a:p>
          <a:p>
            <a:pPr>
              <a:spcAft>
                <a:spcPts val="1200"/>
              </a:spcAft>
              <a:defRPr sz="2000">
                <a:solidFill>
                  <a:srgbClr val="25364A"/>
                </a:solidFill>
              </a:defRPr>
            </a:pPr>
            <a:r>
              <a:t>Margin: +4.34 pp</a:t>
            </a:r>
          </a:p>
          <a:p>
            <a:pPr>
              <a:spcAft>
                <a:spcPts val="1200"/>
              </a:spcAft>
              <a:defRPr sz="2000">
                <a:solidFill>
                  <a:srgbClr val="25364A"/>
                </a:solidFill>
              </a:defRPr>
            </a:pPr>
            <a:r>
              <a:t>Turnover: +0.65 pp</a:t>
            </a:r>
          </a:p>
          <a:p>
            <a:pPr>
              <a:spcAft>
                <a:spcPts val="1200"/>
              </a:spcAft>
              <a:defRPr sz="2000">
                <a:solidFill>
                  <a:srgbClr val="25364A"/>
                </a:solidFill>
              </a:defRPr>
            </a:pPr>
            <a:r>
              <a:t>Multiplier: −1.14 pp</a:t>
            </a:r>
          </a:p>
          <a:p>
            <a:pPr>
              <a:spcAft>
                <a:spcPts val="1200"/>
              </a:spcAft>
              <a:defRPr sz="2000">
                <a:solidFill>
                  <a:srgbClr val="25364A"/>
                </a:solidFill>
              </a:defRPr>
            </a:pPr>
            <a:r>
              <a:t>These are accounting contributions, not causal effects.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Five annual transitions • 200 firm-level bridges • Exact additive accounting attribution</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3M: persistent exposure is not the same as current disruption</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Item 1A: reliance on limited- or sole-source suppliers can threaten availability and customer obligations.</a:t>
            </a:r>
          </a:p>
          <a:p>
            <a:pPr>
              <a:spcAft>
                <a:spcPts val="1200"/>
              </a:spcAft>
              <a:defRPr sz="2300">
                <a:solidFill>
                  <a:srgbClr val="25364A"/>
                </a:solidFill>
              </a:defRPr>
            </a:pPr>
            <a:r>
              <a:t>Business discussion: global supply chains stabilized in 2024, but feedstock and labor inflation remained.</a:t>
            </a:r>
          </a:p>
          <a:p>
            <a:pPr>
              <a:spcAft>
                <a:spcPts val="1200"/>
              </a:spcAft>
              <a:defRPr sz="2300">
                <a:solidFill>
                  <a:srgbClr val="25364A"/>
                </a:solidFill>
              </a:defRPr>
            </a:pPr>
            <a:r>
              <a:t>Reported response: negotiated supply contracts and purchasing scale partially mitigated market-price risk.</a:t>
            </a:r>
          </a:p>
          <a:p>
            <a:pPr>
              <a:spcAft>
                <a:spcPts val="1200"/>
              </a:spcAft>
              <a:defRPr sz="2300">
                <a:solidFill>
                  <a:srgbClr val="25364A"/>
                </a:solidFill>
              </a:defRPr>
            </a:pPr>
            <a:r>
              <a:t>Decision: monitor concentration, delivery performance and cost pass-through; do not assume every disclosed risk materialized.</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Source: 3M 2024 10-K • Item 1 / Item 1A • This is a verified case, not sector prevalence</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The AI severity scores fail a basic usefulness check</a:t>
            </a:r>
          </a:p>
        </p:txBody>
      </p:sp>
      <p:pic>
        <p:nvPicPr>
          <p:cNvPr id="3" name="Picture 2" descr="risk_score_audit.png"/>
          <p:cNvPicPr>
            <a:picLocks noChangeAspect="1"/>
          </p:cNvPicPr>
          <p:nvPr/>
        </p:nvPicPr>
        <p:blipFill>
          <a:blip r:embed="rId2"/>
          <a:stretch>
            <a:fillRect/>
          </a:stretch>
        </p:blipFill>
        <p:spPr>
          <a:xfrm>
            <a:off x="365760" y="1234440"/>
            <a:ext cx="7498079" cy="3332479"/>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Every industrial record has score 5.</a:t>
            </a:r>
          </a:p>
          <a:p>
            <a:pPr>
              <a:spcAft>
                <a:spcPts val="1200"/>
              </a:spcAft>
              <a:defRPr sz="2000">
                <a:solidFill>
                  <a:srgbClr val="25364A"/>
                </a:solidFill>
              </a:defRPr>
            </a:pPr>
            <a:r>
              <a:t>No score variation means no severity ranking or score–ROE correlation.</a:t>
            </a:r>
          </a:p>
          <a:p>
            <a:pPr>
              <a:spcAft>
                <a:spcPts val="1200"/>
              </a:spcAft>
              <a:defRPr sz="2000">
                <a:solidFill>
                  <a:srgbClr val="25364A"/>
                </a:solidFill>
              </a:defRPr>
            </a:pPr>
            <a:r>
              <a:t>The model scores require a rubric and human validation.</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Read-only audit of partner output • 472 records ≠ 472 independent companies</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Tie supply-chain monitoring to a measurable financial pathway</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HEALTHCARE: demand forecast misses → excess inventory/write-offs → pressure on margin and asset use.</a:t>
            </a:r>
          </a:p>
          <a:p>
            <a:pPr>
              <a:spcAft>
                <a:spcPts val="1200"/>
              </a:spcAft>
              <a:defRPr sz="2300">
                <a:solidFill>
                  <a:srgbClr val="25364A"/>
                </a:solidFill>
              </a:defRPr>
            </a:pPr>
            <a:r>
              <a:t>Monitor: forecast error, inventory aging, write-offs and sales mix.</a:t>
            </a:r>
          </a:p>
          <a:p>
            <a:pPr>
              <a:spcAft>
                <a:spcPts val="1200"/>
              </a:spcAft>
              <a:defRPr sz="2300">
                <a:solidFill>
                  <a:srgbClr val="25364A"/>
                </a:solidFill>
              </a:defRPr>
            </a:pPr>
            <a:r>
              <a:t>INDUSTRIALS: input interruption or inflation → delayed production / higher costs → potential turnover or margin pressure.</a:t>
            </a:r>
          </a:p>
          <a:p>
            <a:pPr>
              <a:spcAft>
                <a:spcPts val="1200"/>
              </a:spcAft>
              <a:defRPr sz="2300">
                <a:solidFill>
                  <a:srgbClr val="25364A"/>
                </a:solidFill>
              </a:defRPr>
            </a:pPr>
            <a:r>
              <a:t>Monitor: critical single-source exposure, supplier delivery, work-in-process aging and cost pass-through.</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Proposed ERM dashboard • Operational KPIs require additional data; not claimed as observed results</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Evaluate management actions using outcomes, not promises</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PFIZER — Reported action: cost realignment program announced in 2023. The filing expected at least $4bn in net savings, primarily in 2023–2024.</a:t>
            </a:r>
          </a:p>
          <a:p>
            <a:pPr>
              <a:spcAft>
                <a:spcPts val="1200"/>
              </a:spcAft>
              <a:defRPr sz="2300">
                <a:solidFill>
                  <a:srgbClr val="25364A"/>
                </a:solidFill>
              </a:defRPr>
            </a:pPr>
            <a:r>
              <a:t>Follow-up: distinguish expected savings from realized savings, implementation costs and revenue changes.</a:t>
            </a:r>
          </a:p>
          <a:p>
            <a:pPr>
              <a:spcAft>
                <a:spcPts val="1200"/>
              </a:spcAft>
              <a:defRPr sz="2300">
                <a:solidFill>
                  <a:srgbClr val="25364A"/>
                </a:solidFill>
              </a:defRPr>
            </a:pPr>
            <a:r>
              <a:t>3M — Reported action: negotiated contracts and purchasing scale; the filing describes partial price-risk mitigation.</a:t>
            </a:r>
          </a:p>
          <a:p>
            <a:pPr>
              <a:spcAft>
                <a:spcPts val="1200"/>
              </a:spcAft>
              <a:defRPr sz="2300">
                <a:solidFill>
                  <a:srgbClr val="25364A"/>
                </a:solidFill>
              </a:defRPr>
            </a:pPr>
            <a:r>
              <a:t>Follow-up: check costs, service levels and concentration—not merely whether contracts exist.</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Separate reported actions, management expectations, and our proposed follow-up</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A few extreme profiles materially change the average</a:t>
            </a:r>
          </a:p>
        </p:txBody>
      </p:sp>
      <p:pic>
        <p:nvPicPr>
          <p:cNvPr id="3" name="Picture 2" descr="outlier_story.png"/>
          <p:cNvPicPr>
            <a:picLocks noChangeAspect="1"/>
          </p:cNvPicPr>
          <p:nvPr/>
        </p:nvPicPr>
        <p:blipFill>
          <a:blip r:embed="rId2"/>
          <a:stretch>
            <a:fillRect/>
          </a:stretch>
        </p:blipFill>
        <p:spPr>
          <a:xfrm>
            <a:off x="365760" y="1234440"/>
            <a:ext cx="7498079" cy="4165600"/>
          </a:xfrm>
          <a:prstGeom prst="rect">
            <a:avLst/>
          </a:prstGeom>
        </p:spPr>
      </p:pic>
      <p:sp>
        <p:nvSpPr>
          <p:cNvPr id="4" name="TextBox 3"/>
          <p:cNvSpPr txBox="1"/>
          <p:nvPr/>
        </p:nvSpPr>
        <p:spPr>
          <a:xfrm>
            <a:off x="8046720" y="1463040"/>
            <a:ext cx="3566160" cy="4480560"/>
          </a:xfrm>
          <a:prstGeom prst="rect">
            <a:avLst/>
          </a:prstGeom>
          <a:noFill/>
        </p:spPr>
        <p:txBody>
          <a:bodyPr wrap="square">
            <a:spAutoFit/>
          </a:bodyPr>
          <a:lstStyle/>
          <a:p>
            <a:pPr>
              <a:spcAft>
                <a:spcPts val="1200"/>
              </a:spcAft>
              <a:defRPr sz="2000">
                <a:solidFill>
                  <a:srgbClr val="25364A"/>
                </a:solidFill>
              </a:defRPr>
            </a:pPr>
            <a:r>
              <a:t>Original rule: 1.5-IQR fences on company averages.</a:t>
            </a:r>
          </a:p>
          <a:p>
            <a:pPr>
              <a:spcAft>
                <a:spcPts val="1200"/>
              </a:spcAft>
              <a:defRPr sz="2000">
                <a:solidFill>
                  <a:srgbClr val="25364A"/>
                </a:solidFill>
              </a:defRPr>
            </a:pPr>
            <a:r>
              <a:t>The full-sample median is 14.93%.</a:t>
            </a:r>
          </a:p>
          <a:p>
            <a:pPr>
              <a:spcAft>
                <a:spcPts val="1200"/>
              </a:spcAft>
              <a:defRPr sz="2000">
                <a:solidFill>
                  <a:srgbClr val="25364A"/>
                </a:solidFill>
              </a:defRPr>
            </a:pPr>
            <a:r>
              <a:t>Keep the full result; report trimmed means as sensitivity checks.</a:t>
            </a:r>
          </a:p>
        </p:txBody>
      </p:sp>
      <p:sp>
        <p:nvSpPr>
          <p:cNvPr id="5" name="TextBox 4"/>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Different exclusions define different populations • Outlier ≠ error • No causal claims</a:t>
            </a:r>
          </a:p>
        </p:txBody>
      </p:sp>
      <p:sp>
        <p:nvSpPr>
          <p:cNvPr id="6" name="TextBox 5"/>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28600"/>
            <a:ext cx="11155680" cy="914400"/>
          </a:xfrm>
          <a:prstGeom prst="rect">
            <a:avLst/>
          </a:prstGeom>
          <a:noFill/>
        </p:spPr>
        <p:txBody>
          <a:bodyPr wrap="square">
            <a:spAutoFit/>
          </a:bodyPr>
          <a:lstStyle/>
          <a:p>
            <a:pPr>
              <a:spcAft>
                <a:spcPts val="1200"/>
              </a:spcAft>
              <a:defRPr sz="2900">
                <a:solidFill>
                  <a:srgbClr val="25364A"/>
                </a:solidFill>
              </a:defRPr>
            </a:pPr>
            <a:r>
              <a:t>ERM recommendation: prioritize evidence-backed monitoring</a:t>
            </a:r>
          </a:p>
        </p:txBody>
      </p:sp>
      <p:sp>
        <p:nvSpPr>
          <p:cNvPr id="3" name="TextBox 2"/>
          <p:cNvSpPr txBox="1"/>
          <p:nvPr/>
        </p:nvSpPr>
        <p:spPr>
          <a:xfrm>
            <a:off x="731520" y="1417320"/>
            <a:ext cx="10698480" cy="4526280"/>
          </a:xfrm>
          <a:prstGeom prst="rect">
            <a:avLst/>
          </a:prstGeom>
          <a:noFill/>
        </p:spPr>
        <p:txBody>
          <a:bodyPr wrap="square">
            <a:spAutoFit/>
          </a:bodyPr>
          <a:lstStyle/>
          <a:p>
            <a:pPr>
              <a:spcAft>
                <a:spcPts val="1200"/>
              </a:spcAft>
              <a:defRPr sz="2300">
                <a:solidFill>
                  <a:srgbClr val="25364A"/>
                </a:solidFill>
              </a:defRPr>
            </a:pPr>
            <a:r>
              <a:t>Finance: separate recurring earnings, transaction charges and equity-denominator effects in the ROE review.</a:t>
            </a:r>
          </a:p>
          <a:p>
            <a:pPr>
              <a:spcAft>
                <a:spcPts val="1200"/>
              </a:spcAft>
              <a:defRPr sz="2300">
                <a:solidFill>
                  <a:srgbClr val="25364A"/>
                </a:solidFill>
              </a:defRPr>
            </a:pPr>
            <a:r>
              <a:t>Operations: track demand/inventory exposure in healthcare and critical supplier/cost exposure in industrials.</a:t>
            </a:r>
          </a:p>
          <a:p>
            <a:pPr>
              <a:spcAft>
                <a:spcPts val="1200"/>
              </a:spcAft>
              <a:defRPr sz="2300">
                <a:solidFill>
                  <a:srgbClr val="25364A"/>
                </a:solidFill>
              </a:defRPr>
            </a:pPr>
            <a:r>
              <a:t>Analytics: validate risk categories and severity with a written rubric and independent human checks.</a:t>
            </a:r>
          </a:p>
          <a:p>
            <a:pPr>
              <a:spcAft>
                <a:spcPts val="1200"/>
              </a:spcAft>
              <a:defRPr sz="2300">
                <a:solidFill>
                  <a:srgbClr val="25364A"/>
                </a:solidFill>
              </a:defRPr>
            </a:pPr>
            <a:r>
              <a:t>Before sector-wide rankings: reconcile industrial raw financial inputs and apply comparable screening.</a:t>
            </a:r>
          </a:p>
          <a:p>
            <a:pPr>
              <a:spcAft>
                <a:spcPts val="1200"/>
              </a:spcAft>
              <a:defRPr sz="2300">
                <a:solidFill>
                  <a:srgbClr val="25364A"/>
                </a:solidFill>
              </a:defRPr>
            </a:pPr>
            <a:r>
              <a:t>Takeaway: use ROE to locate questions; use disclosures and operating evidence to guide action.</a:t>
            </a:r>
          </a:p>
        </p:txBody>
      </p:sp>
      <p:sp>
        <p:nvSpPr>
          <p:cNvPr id="4" name="TextBox 3"/>
          <p:cNvSpPr txBox="1"/>
          <p:nvPr/>
        </p:nvSpPr>
        <p:spPr>
          <a:xfrm>
            <a:off x="548640" y="6400800"/>
            <a:ext cx="10881360" cy="365760"/>
          </a:xfrm>
          <a:prstGeom prst="rect">
            <a:avLst/>
          </a:prstGeom>
          <a:noFill/>
        </p:spPr>
        <p:txBody>
          <a:bodyPr wrap="square">
            <a:spAutoFit/>
          </a:bodyPr>
          <a:lstStyle/>
          <a:p>
            <a:pPr>
              <a:spcAft>
                <a:spcPts val="1200"/>
              </a:spcAft>
              <a:defRPr sz="1100">
                <a:solidFill>
                  <a:srgbClr val="596777"/>
                </a:solidFill>
              </a:defRPr>
            </a:pPr>
            <a:r>
              <a:t>Executive recommendation • Evidence-limited team draft; missing assignment components are disclosed</a:t>
            </a:r>
          </a:p>
        </p:txBody>
      </p:sp>
      <p:sp>
        <p:nvSpPr>
          <p:cNvPr id="5" name="TextBox 4"/>
          <p:cNvSpPr txBox="1"/>
          <p:nvPr/>
        </p:nvSpPr>
        <p:spPr>
          <a:xfrm>
            <a:off x="11247120" y="6400800"/>
            <a:ext cx="548640" cy="274320"/>
          </a:xfrm>
          <a:prstGeom prst="rect">
            <a:avLst/>
          </a:prstGeom>
          <a:noFill/>
        </p:spPr>
        <p:txBody>
          <a:bodyPr wrap="square">
            <a:spAutoFit/>
          </a:bodyPr>
          <a:lstStyle/>
          <a:p>
            <a:pPr>
              <a:spcAft>
                <a:spcPts val="1200"/>
              </a:spcAft>
              <a:defRPr sz="1100">
                <a:solidFill>
                  <a:srgbClr val="25364A"/>
                </a:solidFill>
              </a:defRPr>
            </a:pPr>
            <a: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