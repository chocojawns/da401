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team members. Explain that the briefing distinguishes observed ratios, management disclosures and proposed actions. It is not a buy/sell recommendation. The industrial numerical panel has not passed the same checks as healthcare; do not imply a fully validated cross-sector test.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year-end-balance dataset only. 318 matched company-years exist across 56 firms; 49 have five matched years, 47 have six, and 43 have five unflagged equity years. The main 2025 cross-section has 41 observations. Source: recovered homework_basis/financials.csv. Industry-wide four-component comparison remains incomplete without the industrial raw input table. Changes in medians are not medians of within-firm changes.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 Amgen ROE: $7.711bn / $8.658bn = 89.06%. Its net income/assets is about 8.51%, versus IDEXX about 31.62%. The comparison is accounting ROA, not operating income/assets. ROE = margin × turnover × multiplier. Equity multipliers are not debt-to-equity ratios. Do not infer why equity became small without a rollforward. HCA provides a warning case: positive income $6.784bn / negative equity $6.027bn = negative 112.56% ROE, which does not indicate a net loss.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Pfizer 2023 10-K, https://www.sec.gov/Archives/edgar/data/78003/000007800324000039/0000078003-24-000039.txt</a:t>
            </a:r>
          </a:p>
          <a:p>
            <a:r>
              <a:t>The filing states reduced COVID-product demand has led to reduced revenues/excess inventory and significant Paxlovid/Comirnaty write-offs in 2023. The chart uses current recovered year-end values, not older average-balance ratios. Contributions average all six orders of replacing the three DuPont factors and sum exactly to the observed ROE change. The acquisition of Seagen is an additional asset-base issue. The graph does not estimate how many ROE points were caused by a particular disclosed event.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Industrial source independently read: 3M 2024 10-K, https://www.sec.gov/Archives/edgar/data/66740/000006674025000006/0000066740-25-000006.txt</a:t>
            </a:r>
          </a:p>
          <a:p>
            <a:r>
              <a:t>Exact excerpts: “some of our suppliers are limited- or sole-source suppliers”; “In 2024, global supply chains stabilized, with disruptions driven from more isolated factors”; “Market price risks were partially mitigated via negotiated supply contracts and leveraging scale across supply base.” This juxtaposition is useful: risk factors are exposures, while business/MD&amp;A discusses realized conditions. Do not attribute 3M ROE movements to supplier risks without reconciling settlement, tax, spin-off and earnings effects. The filing reports PFAS liabilities retained in connection with the Solventum separation.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Computed from the partner-provided industrials_analysis.jsonl: all 472 records have risk_score_1_to_10 equal to 5. This is a frequency of model outputs, not a frequency or severity of economic risks. Constant values have zero variance, so correlation with ROE is undefined. The supplied industrial prompt contains an example risk score of 5; this may warrant investigating anchoring, but we have not established why all outputs match it. Required sector-wide market/operational/regulatory/financial risk frequency and severity analysis remains incomplete. Do not present these scores as validated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arrows describe plausible mechanisms and proposed monitoring, not causal coefficients estimated in our study. Inventory days, delivery performance and forecast errors are not measured in the current financial dataset. Distinguish a write-off effect on earnings/assets from a sales-volume effect on turnover. Healthcare evidence: Pfizer 2023. Industrial evidence: 3M 2024. Risk-category labels: market demand and operational inventory for Pfizer; operational sourcing and market input prices for 3M.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Pfizer source: https://www.sec.gov/Archives/edgar/data/78003/000007800324000039/0000078003-24-000039.txt</a:t>
            </a:r>
          </a:p>
          <a:p>
            <a:r>
              <a:t>Exact wording includes “This program is expected to deliver net cost savings of at least $4 billion, to be achieved primarily from 2023 through 2024.” This was a forward-looking statement in that filing; we have not verified realized savings.</a:t>
            </a:r>
          </a:p>
          <a:p>
            <a:r>
              <a:t>3M source: https://www.sec.gov/Archives/edgar/data/66740/000006674025000006/0000066740-25-000006.txt</a:t>
            </a:r>
          </a:p>
          <a:p>
            <a:r>
              <a:t>Reported partial mitigation is management’s account, not our independent causal estimate. Suggested monitoring is the team recommendation, separate from reported actions.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eligible company-average ROEs: mean 20.74%, sample SD 21.90 percentage points. IQR-only ROE outliers: ABBV, AMGN, IDXX, LLY and ZTS. Removing them leaves 38 firms and mean 13.50%. Two-SD ROE flags exclude four firms, leaving 39 and mean 14.50%. These are not 2025-only statistics. Repeated firm-years are dependent; ratios share components; the selected sample is not random. No normality assumption or causal significance claim. Source spreadsheet: outlier_mean_sensitivity.csv.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owners: CFO/finance for the accounting bridge; supply-chain leaders for operational indicators; analytics/risk team for disclosure coding. This is an ERM monitoring recommendation, not a tested claim of cost savings or a security valuation. Important assignment limitations: validated sector-wide risk frequency/severity and comparable industrial four-component annual medians are not yet complete. The 10-slide cap includes this slide; do not append a second full deck. Both presenters should acknowledge scope openly in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Healthcare + industrials: what should an ERM team monitor?</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Stakeholder: Enterprise Risk Management consultant.</a:t>
            </a:r>
          </a:p>
          <a:p>
            <a:pPr>
              <a:spcAft>
                <a:spcPts val="1200"/>
              </a:spcAft>
              <a:defRPr sz="2300">
                <a:solidFill>
                  <a:srgbClr val="25364A"/>
                </a:solidFill>
              </a:defRPr>
            </a:pPr>
            <a:r>
              <a:t>Question: Which financial patterns warrant a closer review of disclosed operating risks?</a:t>
            </a:r>
          </a:p>
          <a:p>
            <a:pPr>
              <a:spcAft>
                <a:spcPts val="1200"/>
              </a:spcAft>
              <a:defRPr sz="2300">
                <a:solidFill>
                  <a:srgbClr val="25364A"/>
                </a:solidFill>
              </a:defRPr>
            </a:pPr>
            <a:r>
              <a:t>Recommendation: investigate the earnings, asset and equity mechanisms before ranking companies by ROE.</a:t>
            </a:r>
          </a:p>
          <a:p>
            <a:pPr>
              <a:spcAft>
                <a:spcPts val="1200"/>
              </a:spcAft>
              <a:defRPr sz="2300">
                <a:solidFill>
                  <a:srgbClr val="25364A"/>
                </a:solidFill>
              </a:defRPr>
            </a:pPr>
            <a:r>
              <a:t>Scope: fiscal 2020–2025; quantitative healthcare study plus an industrial disclosure case.</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Homework 5 • 10-slide team working briefing • Sources and defense notes are in speaker notes</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Healthcare trends persist when membership is held constant</a:t>
            </a:r>
          </a:p>
        </p:txBody>
      </p:sp>
      <p:pic>
        <p:nvPicPr>
          <p:cNvPr id="3" name="Picture 2" descr="04_roe_trends.png"/>
          <p:cNvPicPr>
            <a:picLocks noChangeAspect="1"/>
          </p:cNvPicPr>
          <p:nvPr/>
        </p:nvPicPr>
        <p:blipFill>
          <a:blip r:embed="rId2"/>
          <a:stretch>
            <a:fillRect/>
          </a:stretch>
        </p:blipFill>
        <p:spPr>
          <a:xfrm>
            <a:off x="365760" y="1234440"/>
            <a:ext cx="7498079" cy="3708954"/>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43 eligible firms; 40 have all six years.</a:t>
            </a:r>
          </a:p>
          <a:p>
            <a:pPr>
              <a:spcAft>
                <a:spcPts val="1200"/>
              </a:spcAft>
              <a:defRPr sz="2000">
                <a:solidFill>
                  <a:srgbClr val="25364A"/>
                </a:solidFill>
              </a:defRPr>
            </a:pPr>
            <a:r>
              <a:t>The fixed-company line reduces changing-membership effects.</a:t>
            </a:r>
          </a:p>
          <a:p>
            <a:pPr>
              <a:spcAft>
                <a:spcPts val="1200"/>
              </a:spcAft>
              <a:defRPr sz="2000">
                <a:solidFill>
                  <a:srgbClr val="25364A"/>
                </a:solidFill>
              </a:defRPr>
            </a:pPr>
            <a:r>
              <a:t>It does not remove survivorship or accounting-selection bias.</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Source: recovered SEC financial panel • Year-end balances • Industrial four-component medians not yet verified</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A higher ROE can reverse the ranking of asset returns</a:t>
            </a:r>
          </a:p>
        </p:txBody>
      </p:sp>
      <p:pic>
        <p:nvPicPr>
          <p:cNvPr id="3" name="Picture 2" descr="roe_reversal.png"/>
          <p:cNvPicPr>
            <a:picLocks noChangeAspect="1"/>
          </p:cNvPicPr>
          <p:nvPr/>
        </p:nvPicPr>
        <p:blipFill>
          <a:blip r:embed="rId2"/>
          <a:stretch>
            <a:fillRect/>
          </a:stretch>
        </p:blipFill>
        <p:spPr>
          <a:xfrm>
            <a:off x="365760" y="1234440"/>
            <a:ext cx="7498079" cy="3749039"/>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Amgen: equity multiplier 10.46×.</a:t>
            </a:r>
          </a:p>
          <a:p>
            <a:pPr>
              <a:spcAft>
                <a:spcPts val="1200"/>
              </a:spcAft>
              <a:defRPr sz="2000">
                <a:solidFill>
                  <a:srgbClr val="25364A"/>
                </a:solidFill>
              </a:defRPr>
            </a:pPr>
            <a:r>
              <a:t>IDEXX: equity multiplier 2.09×.</a:t>
            </a:r>
          </a:p>
          <a:p>
            <a:pPr>
              <a:spcAft>
                <a:spcPts val="1200"/>
              </a:spcAft>
              <a:defRPr sz="2000">
                <a:solidFill>
                  <a:srgbClr val="25364A"/>
                </a:solidFill>
              </a:defRPr>
            </a:pPr>
            <a:r>
              <a:t>Question: is the return driven by earnings, asset use, or the equity base?</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2025 year-end basis • Illustrative selected cases; not an investment ranking</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Pfizer: investigate the margin and turnover decline together</a:t>
            </a:r>
          </a:p>
        </p:txBody>
      </p:sp>
      <p:pic>
        <p:nvPicPr>
          <p:cNvPr id="3" name="Picture 2" descr="pfizer_bridge.png"/>
          <p:cNvPicPr>
            <a:picLocks noChangeAspect="1"/>
          </p:cNvPicPr>
          <p:nvPr/>
        </p:nvPicPr>
        <p:blipFill>
          <a:blip r:embed="rId2"/>
          <a:stretch>
            <a:fillRect/>
          </a:stretch>
        </p:blipFill>
        <p:spPr>
          <a:xfrm>
            <a:off x="365760" y="1234440"/>
            <a:ext cx="7498079" cy="3749039"/>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Filing: reduced COVID-product demand and significant inventory write-offs.</a:t>
            </a:r>
          </a:p>
          <a:p>
            <a:pPr>
              <a:spcAft>
                <a:spcPts val="1200"/>
              </a:spcAft>
              <a:defRPr sz="2000">
                <a:solidFill>
                  <a:srgbClr val="25364A"/>
                </a:solidFill>
              </a:defRPr>
            </a:pPr>
            <a:r>
              <a:t>Mechanism: demand/inventory pressure can affect earnings and assets.</a:t>
            </a:r>
          </a:p>
          <a:p>
            <a:pPr>
              <a:spcAft>
                <a:spcPts val="1200"/>
              </a:spcAft>
              <a:defRPr sz="2000">
                <a:solidFill>
                  <a:srgbClr val="25364A"/>
                </a:solidFill>
              </a:defRPr>
            </a:pPr>
            <a:r>
              <a:t>This bridge is accounting attribution, not a causal estimate.</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Source: Pfizer 2023 10-K + matched financial quantities • Exact contribution values supplied in CSV/JSON</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3M: persistent exposure is not the same as current disruption</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Item 1A: reliance on limited- or sole-source suppliers can threaten availability and customer obligations.</a:t>
            </a:r>
          </a:p>
          <a:p>
            <a:pPr>
              <a:spcAft>
                <a:spcPts val="1200"/>
              </a:spcAft>
              <a:defRPr sz="2300">
                <a:solidFill>
                  <a:srgbClr val="25364A"/>
                </a:solidFill>
              </a:defRPr>
            </a:pPr>
            <a:r>
              <a:t>Business discussion: global supply chains stabilized in 2024, but feedstock and labor inflation remained.</a:t>
            </a:r>
          </a:p>
          <a:p>
            <a:pPr>
              <a:spcAft>
                <a:spcPts val="1200"/>
              </a:spcAft>
              <a:defRPr sz="2300">
                <a:solidFill>
                  <a:srgbClr val="25364A"/>
                </a:solidFill>
              </a:defRPr>
            </a:pPr>
            <a:r>
              <a:t>Reported response: negotiated supply contracts and purchasing scale partially mitigated market-price risk.</a:t>
            </a:r>
          </a:p>
          <a:p>
            <a:pPr>
              <a:spcAft>
                <a:spcPts val="1200"/>
              </a:spcAft>
              <a:defRPr sz="2300">
                <a:solidFill>
                  <a:srgbClr val="25364A"/>
                </a:solidFill>
              </a:defRPr>
            </a:pPr>
            <a:r>
              <a:t>Decision: monitor concentration, delivery performance and cost pass-through; do not assume every disclosed risk materialized.</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Source: 3M 2024 10-K • Item 1 / Item 1A • This is a verified case, not sector prevalence</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The AI severity scores fail a basic usefulness check</a:t>
            </a:r>
          </a:p>
        </p:txBody>
      </p:sp>
      <p:pic>
        <p:nvPicPr>
          <p:cNvPr id="3" name="Picture 2" descr="risk_score_audit.png"/>
          <p:cNvPicPr>
            <a:picLocks noChangeAspect="1"/>
          </p:cNvPicPr>
          <p:nvPr/>
        </p:nvPicPr>
        <p:blipFill>
          <a:blip r:embed="rId2"/>
          <a:stretch>
            <a:fillRect/>
          </a:stretch>
        </p:blipFill>
        <p:spPr>
          <a:xfrm>
            <a:off x="365760" y="1234440"/>
            <a:ext cx="7498079" cy="3332479"/>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Every industrial record has score 5.</a:t>
            </a:r>
          </a:p>
          <a:p>
            <a:pPr>
              <a:spcAft>
                <a:spcPts val="1200"/>
              </a:spcAft>
              <a:defRPr sz="2000">
                <a:solidFill>
                  <a:srgbClr val="25364A"/>
                </a:solidFill>
              </a:defRPr>
            </a:pPr>
            <a:r>
              <a:t>No score variation means no severity ranking or score–ROE correlation.</a:t>
            </a:r>
          </a:p>
          <a:p>
            <a:pPr>
              <a:spcAft>
                <a:spcPts val="1200"/>
              </a:spcAft>
              <a:defRPr sz="2000">
                <a:solidFill>
                  <a:srgbClr val="25364A"/>
                </a:solidFill>
              </a:defRPr>
            </a:pPr>
            <a:r>
              <a:t>The model scores require a rubric and human validation.</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Read-only audit of partner output • 472 records ≠ 472 independent companies</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Tie supply-chain monitoring to a measurable financial pathway</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HEALTHCARE: demand forecast misses → excess inventory/write-offs → pressure on margin and asset use.</a:t>
            </a:r>
          </a:p>
          <a:p>
            <a:pPr>
              <a:spcAft>
                <a:spcPts val="1200"/>
              </a:spcAft>
              <a:defRPr sz="2300">
                <a:solidFill>
                  <a:srgbClr val="25364A"/>
                </a:solidFill>
              </a:defRPr>
            </a:pPr>
            <a:r>
              <a:t>Monitor: forecast error, inventory aging, write-offs and sales mix.</a:t>
            </a:r>
          </a:p>
          <a:p>
            <a:pPr>
              <a:spcAft>
                <a:spcPts val="1200"/>
              </a:spcAft>
              <a:defRPr sz="2300">
                <a:solidFill>
                  <a:srgbClr val="25364A"/>
                </a:solidFill>
              </a:defRPr>
            </a:pPr>
            <a:r>
              <a:t>INDUSTRIALS: input interruption or inflation → delayed production / higher costs → potential turnover or margin pressure.</a:t>
            </a:r>
          </a:p>
          <a:p>
            <a:pPr>
              <a:spcAft>
                <a:spcPts val="1200"/>
              </a:spcAft>
              <a:defRPr sz="2300">
                <a:solidFill>
                  <a:srgbClr val="25364A"/>
                </a:solidFill>
              </a:defRPr>
            </a:pPr>
            <a:r>
              <a:t>Monitor: critical single-source exposure, supplier delivery, work-in-process aging and cost pass-through.</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Proposed ERM dashboard • Operational KPIs require additional data; not claimed as observed results</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Evaluate management actions using outcomes, not promises</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PFIZER — Reported action: cost realignment program announced in 2023. The filing expected at least $4bn in net savings, primarily in 2023–2024.</a:t>
            </a:r>
          </a:p>
          <a:p>
            <a:pPr>
              <a:spcAft>
                <a:spcPts val="1200"/>
              </a:spcAft>
              <a:defRPr sz="2300">
                <a:solidFill>
                  <a:srgbClr val="25364A"/>
                </a:solidFill>
              </a:defRPr>
            </a:pPr>
            <a:r>
              <a:t>Follow-up: distinguish expected savings from realized savings, implementation costs and revenue changes.</a:t>
            </a:r>
          </a:p>
          <a:p>
            <a:pPr>
              <a:spcAft>
                <a:spcPts val="1200"/>
              </a:spcAft>
              <a:defRPr sz="2300">
                <a:solidFill>
                  <a:srgbClr val="25364A"/>
                </a:solidFill>
              </a:defRPr>
            </a:pPr>
            <a:r>
              <a:t>3M — Reported action: negotiated contracts and purchasing scale; the filing describes partial price-risk mitigation.</a:t>
            </a:r>
          </a:p>
          <a:p>
            <a:pPr>
              <a:spcAft>
                <a:spcPts val="1200"/>
              </a:spcAft>
              <a:defRPr sz="2300">
                <a:solidFill>
                  <a:srgbClr val="25364A"/>
                </a:solidFill>
              </a:defRPr>
            </a:pPr>
            <a:r>
              <a:t>Follow-up: check costs, service levels and concentration—not merely whether contracts exist.</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Separate reported actions, management expectations, and our proposed follow-up</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A few extreme profiles materially change the average</a:t>
            </a:r>
          </a:p>
        </p:txBody>
      </p:sp>
      <p:pic>
        <p:nvPicPr>
          <p:cNvPr id="3" name="Picture 2" descr="outlier_story.png"/>
          <p:cNvPicPr>
            <a:picLocks noChangeAspect="1"/>
          </p:cNvPicPr>
          <p:nvPr/>
        </p:nvPicPr>
        <p:blipFill>
          <a:blip r:embed="rId2"/>
          <a:stretch>
            <a:fillRect/>
          </a:stretch>
        </p:blipFill>
        <p:spPr>
          <a:xfrm>
            <a:off x="365760" y="1234440"/>
            <a:ext cx="7498079" cy="4165600"/>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Original rule: 1.5-IQR fences on company averages.</a:t>
            </a:r>
          </a:p>
          <a:p>
            <a:pPr>
              <a:spcAft>
                <a:spcPts val="1200"/>
              </a:spcAft>
              <a:defRPr sz="2000">
                <a:solidFill>
                  <a:srgbClr val="25364A"/>
                </a:solidFill>
              </a:defRPr>
            </a:pPr>
            <a:r>
              <a:t>The full-sample median is 14.93%.</a:t>
            </a:r>
          </a:p>
          <a:p>
            <a:pPr>
              <a:spcAft>
                <a:spcPts val="1200"/>
              </a:spcAft>
              <a:defRPr sz="2000">
                <a:solidFill>
                  <a:srgbClr val="25364A"/>
                </a:solidFill>
              </a:defRPr>
            </a:pPr>
            <a:r>
              <a:t>Keep the full result; report trimmed means as sensitivity checks.</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Different exclusions define different populations • Outlier ≠ error • No causal claims</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ERM recommendation: prioritize evidence-backed monitoring</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Finance: separate recurring earnings, transaction charges and equity-denominator effects in the ROE review.</a:t>
            </a:r>
          </a:p>
          <a:p>
            <a:pPr>
              <a:spcAft>
                <a:spcPts val="1200"/>
              </a:spcAft>
              <a:defRPr sz="2300">
                <a:solidFill>
                  <a:srgbClr val="25364A"/>
                </a:solidFill>
              </a:defRPr>
            </a:pPr>
            <a:r>
              <a:t>Operations: track demand/inventory exposure in healthcare and critical supplier/cost exposure in industrials.</a:t>
            </a:r>
          </a:p>
          <a:p>
            <a:pPr>
              <a:spcAft>
                <a:spcPts val="1200"/>
              </a:spcAft>
              <a:defRPr sz="2300">
                <a:solidFill>
                  <a:srgbClr val="25364A"/>
                </a:solidFill>
              </a:defRPr>
            </a:pPr>
            <a:r>
              <a:t>Analytics: validate risk categories and severity with a written rubric and independent human checks.</a:t>
            </a:r>
          </a:p>
          <a:p>
            <a:pPr>
              <a:spcAft>
                <a:spcPts val="1200"/>
              </a:spcAft>
              <a:defRPr sz="2300">
                <a:solidFill>
                  <a:srgbClr val="25364A"/>
                </a:solidFill>
              </a:defRPr>
            </a:pPr>
            <a:r>
              <a:t>Before sector-wide rankings: reconcile industrial raw financial inputs and apply comparable screening.</a:t>
            </a:r>
          </a:p>
          <a:p>
            <a:pPr>
              <a:spcAft>
                <a:spcPts val="1200"/>
              </a:spcAft>
              <a:defRPr sz="2300">
                <a:solidFill>
                  <a:srgbClr val="25364A"/>
                </a:solidFill>
              </a:defRPr>
            </a:pPr>
            <a:r>
              <a:t>Takeaway: use ROE to locate questions; use disclosures and operating evidence to guide action.</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Executive recommendation • Evidence-limited team draft; missing assignment components are disclosed</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